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embeddedFontLst>
    <p:embeddedFont>
      <p:font typeface="Play"/>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h+IGUeFNxxFfVpWjicgj/u41Z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Play-regular.fnt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Play-bold.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H"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(can be mentioned that the conservation part is still in construction)</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CH"/>
              <a:t>The app is being designed to explore different themes related to the conservation of historic structures. </a:t>
            </a:r>
            <a:endParaRPr/>
          </a:p>
          <a:p>
            <a:pPr indent="0" lvl="0" marL="0" rtl="0" algn="l">
              <a:spcBef>
                <a:spcPts val="0"/>
              </a:spcBef>
              <a:spcAft>
                <a:spcPts val="0"/>
              </a:spcAft>
              <a:buNone/>
            </a:pPr>
            <a:r>
              <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With interactive learning at its heart, the app is a mixture of quizzes and prompts encouraging the users to observe the structure around them</a:t>
            </a:r>
            <a:endParaRPr/>
          </a:p>
          <a:p>
            <a:pPr indent="0" lvl="0" marL="0" rtl="0" algn="l">
              <a:spcBef>
                <a:spcPts val="0"/>
              </a:spcBef>
              <a:spcAft>
                <a:spcPts val="0"/>
              </a:spcAft>
              <a:buNone/>
            </a:pPr>
            <a:r>
              <a:rPr lang="en-CH"/>
              <a:t>Some example quizzes and modules about the stones of the Cathedral are shown in the upcoming slides</a:t>
            </a:r>
            <a:endParaRPr/>
          </a:p>
          <a:p>
            <a:pPr indent="0" lvl="0" marL="0" rtl="0" algn="l">
              <a:spcBef>
                <a:spcPts val="0"/>
              </a:spcBef>
              <a:spcAft>
                <a:spcPts val="0"/>
              </a:spcAft>
              <a:buNone/>
            </a:pPr>
            <a:r>
              <a:t/>
            </a:r>
            <a:endParaRPr/>
          </a:p>
        </p:txBody>
      </p:sp>
      <p:sp>
        <p:nvSpPr>
          <p:cNvPr id="151" name="Google Shape;15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CH"/>
              <a:t>Specific information about the Molasse basin and the type of stone</a:t>
            </a:r>
            <a:endParaRPr/>
          </a:p>
          <a:p>
            <a:pPr indent="0" lvl="0" marL="0" marR="0" rtl="0" algn="l">
              <a:lnSpc>
                <a:spcPct val="100000"/>
              </a:lnSpc>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t/>
            </a:r>
            <a:endParaRPr/>
          </a:p>
        </p:txBody>
      </p:sp>
      <p:sp>
        <p:nvSpPr>
          <p:cNvPr id="289" name="Google Shape;2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CH"/>
              <a:t>The app is developed to be explored and additional info are displayed as pop ups only if requested.</a:t>
            </a:r>
            <a:endParaRPr/>
          </a:p>
          <a:p>
            <a:pPr indent="0" lvl="0" marL="0" marR="0" rtl="0" algn="l">
              <a:lnSpc>
                <a:spcPct val="100000"/>
              </a:lnSpc>
              <a:spcBef>
                <a:spcPts val="0"/>
              </a:spcBef>
              <a:spcAft>
                <a:spcPts val="0"/>
              </a:spcAft>
              <a:buClr>
                <a:schemeClr val="dk1"/>
              </a:buClr>
              <a:buSzPts val="1200"/>
              <a:buFont typeface="Arial"/>
              <a:buNone/>
            </a:pPr>
            <a:r>
              <a:rPr lang="en-CH"/>
              <a:t>Click on Four main group</a:t>
            </a:r>
            <a:endParaRPr/>
          </a:p>
          <a:p>
            <a:pPr indent="0" lvl="0" marL="0" rtl="0" algn="l">
              <a:spcBef>
                <a:spcPts val="0"/>
              </a:spcBef>
              <a:spcAft>
                <a:spcPts val="0"/>
              </a:spcAft>
              <a:buNone/>
            </a:pPr>
            <a:r>
              <a:t/>
            </a:r>
            <a:endParaRPr/>
          </a:p>
        </p:txBody>
      </p:sp>
      <p:sp>
        <p:nvSpPr>
          <p:cNvPr id="302" name="Google Shape;3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CH"/>
              <a:t>The map display the results of the petrographical campaign conducted by UIL about the molasse used on the cathedral and can be structured to provide more insights</a:t>
            </a:r>
            <a:endParaRPr/>
          </a:p>
          <a:p>
            <a:pPr indent="0" lvl="0" marL="0" rtl="0" algn="l">
              <a:spcBef>
                <a:spcPts val="0"/>
              </a:spcBef>
              <a:spcAft>
                <a:spcPts val="0"/>
              </a:spcAft>
              <a:buNone/>
            </a:pPr>
            <a:r>
              <a:t/>
            </a:r>
            <a:endParaRPr/>
          </a:p>
        </p:txBody>
      </p:sp>
      <p:sp>
        <p:nvSpPr>
          <p:cNvPr id="325" name="Google Shape;3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Extra text:</a:t>
            </a:r>
            <a:endParaRPr/>
          </a:p>
          <a:p>
            <a:pPr indent="0" lvl="0" marL="0" rtl="0" algn="l">
              <a:spcBef>
                <a:spcPts val="0"/>
              </a:spcBef>
              <a:spcAft>
                <a:spcPts val="0"/>
              </a:spcAft>
              <a:buNone/>
            </a:pPr>
            <a:r>
              <a:rPr lang="en-CH" sz="1200">
                <a:latin typeface="Times New Roman"/>
                <a:ea typeface="Times New Roman"/>
                <a:cs typeface="Times New Roman"/>
                <a:sym typeface="Times New Roman"/>
              </a:rPr>
              <a:t>During the 19</a:t>
            </a:r>
            <a:r>
              <a:rPr baseline="30000" lang="en-CH" sz="1200">
                <a:latin typeface="Times New Roman"/>
                <a:ea typeface="Times New Roman"/>
                <a:cs typeface="Times New Roman"/>
                <a:sym typeface="Times New Roman"/>
              </a:rPr>
              <a:t>th</a:t>
            </a:r>
            <a:r>
              <a:rPr lang="en-CH" sz="1200">
                <a:latin typeface="Times New Roman"/>
                <a:ea typeface="Times New Roman"/>
                <a:cs typeface="Times New Roman"/>
                <a:sym typeface="Times New Roman"/>
              </a:rPr>
              <a:t> century, the regional molasse sandstone of exposed architectural elements of the Cathedral was replaced with limestones and “harder” sandstones from the wider region of the canton Vaud (Niggli 1915, 377). In the 20th century, due to the scarcity of regional quarries, the general substitution of local molasse sandstone for maintenance and restoration became common practice. A variety of replacement sandstones from Fribourg, Bern, Zug, and Hannover (Oberkirchen, Germany) were utilized in its place (Huguenin 2013) . </a:t>
            </a:r>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CH" sz="1200">
                <a:latin typeface="Times New Roman"/>
                <a:ea typeface="Times New Roman"/>
                <a:cs typeface="Times New Roman"/>
                <a:sym typeface="Times New Roman"/>
              </a:rPr>
              <a:t>The Swiss Molasse sandstones quarried around Lausanne but also from other regions of the Swiss plateau have a sizeable capillary porosity, generally between 10 and 20 percent, with high capillary uptake rates, and contain high amounts of swelling clays when compared to other sandstones or building stones in general (Félix 1996). Depending on their nature, placing context and exposure, such varieties of Swiss Molasse sandstones, can extensively degrade, either by contour scaling or deep granular loss, within just a few decades. While this building material has been often unjustly declared “bad” in the past, it does represent a fragile system, which requires a refined understanding of its performance characteristics, thus, possible employment configurations and, consequentially and most importantly, its maintenance needs.</a:t>
            </a:r>
            <a:endParaRPr/>
          </a:p>
        </p:txBody>
      </p:sp>
      <p:sp>
        <p:nvSpPr>
          <p:cNvPr id="405" name="Google Shape;4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Similar information can be also find in the Interactive app.</a:t>
            </a:r>
            <a:endParaRPr/>
          </a:p>
        </p:txBody>
      </p:sp>
      <p:sp>
        <p:nvSpPr>
          <p:cNvPr id="492" name="Google Shape;49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solidFill>
                  <a:srgbClr val="0070C0"/>
                </a:solidFill>
              </a:rPr>
              <a:t>The objective of the section is to explain the degradation mechanism dynamically, trying to make it understandable while highlighting the complexity of the phenomena and the different factors involved. </a:t>
            </a:r>
            <a:endParaRPr/>
          </a:p>
          <a:p>
            <a:pPr indent="0" lvl="0" marL="0" rtl="0" algn="l">
              <a:spcBef>
                <a:spcPts val="0"/>
              </a:spcBef>
              <a:spcAft>
                <a:spcPts val="0"/>
              </a:spcAft>
              <a:buNone/>
            </a:pPr>
            <a:r>
              <a:rPr lang="en-CH">
                <a:solidFill>
                  <a:srgbClr val="0070C0"/>
                </a:solidFill>
              </a:rPr>
              <a:t>The intercorrelation of the concatenation of degradation pattern and weathering mechanism is an important and challenging divulgation topic that can enhance the curiosity of the public and automatically highlight the importance of the work of conservation and documentation.</a:t>
            </a:r>
            <a:endParaRPr/>
          </a:p>
          <a:p>
            <a:pPr indent="0" lvl="0" marL="0" rtl="0" algn="l">
              <a:spcBef>
                <a:spcPts val="0"/>
              </a:spcBef>
              <a:spcAft>
                <a:spcPts val="0"/>
              </a:spcAft>
              <a:buNone/>
            </a:pPr>
            <a:r>
              <a:t/>
            </a:r>
            <a:endParaRPr>
              <a:solidFill>
                <a:srgbClr val="0070C0"/>
              </a:solidFill>
            </a:endParaRPr>
          </a:p>
        </p:txBody>
      </p:sp>
      <p:sp>
        <p:nvSpPr>
          <p:cNvPr id="534" name="Google Shape;53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In this section for each mechanism the scientific information can be obtained, for example, through short texts, images and schemes. </a:t>
            </a:r>
            <a:endParaRPr/>
          </a:p>
          <a:p>
            <a:pPr indent="0" lvl="0" marL="0" rtl="0" algn="l">
              <a:spcBef>
                <a:spcPts val="0"/>
              </a:spcBef>
              <a:spcAft>
                <a:spcPts val="0"/>
              </a:spcAft>
              <a:buNone/>
            </a:pPr>
            <a:r>
              <a:t/>
            </a:r>
            <a:endParaRPr/>
          </a:p>
        </p:txBody>
      </p:sp>
      <p:sp>
        <p:nvSpPr>
          <p:cNvPr id="555" name="Google Shape;55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 atmospheric pollution and its effect on the sandstone….</a:t>
            </a:r>
            <a:endParaRPr/>
          </a:p>
        </p:txBody>
      </p:sp>
      <p:sp>
        <p:nvSpPr>
          <p:cNvPr id="588" name="Google Shape;58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 as well as other phenomena associated</a:t>
            </a:r>
            <a:endParaRPr/>
          </a:p>
        </p:txBody>
      </p:sp>
      <p:sp>
        <p:nvSpPr>
          <p:cNvPr id="608" name="Google Shape;60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in the case of the swelling clay mechanism…</a:t>
            </a:r>
            <a:endParaRPr/>
          </a:p>
        </p:txBody>
      </p:sp>
      <p:sp>
        <p:nvSpPr>
          <p:cNvPr id="622" name="Google Shape;62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We can see how the app will include some additional info that can be displaced according to the users’ willing</a:t>
            </a:r>
            <a:endParaRPr/>
          </a:p>
        </p:txBody>
      </p:sp>
      <p:sp>
        <p:nvSpPr>
          <p:cNvPr id="655" name="Google Shape;65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Or through the use of video… (I liked what you said in the trial video)</a:t>
            </a:r>
            <a:endParaRPr/>
          </a:p>
        </p:txBody>
      </p:sp>
      <p:sp>
        <p:nvSpPr>
          <p:cNvPr id="696" name="Google Shape;69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Extra text</a:t>
            </a:r>
            <a:endParaRPr/>
          </a:p>
          <a:p>
            <a:pPr indent="0" lvl="0" marL="0" marR="0" rtl="0" algn="l">
              <a:lnSpc>
                <a:spcPct val="100000"/>
              </a:lnSpc>
              <a:spcBef>
                <a:spcPts val="0"/>
              </a:spcBef>
              <a:spcAft>
                <a:spcPts val="0"/>
              </a:spcAft>
              <a:buClr>
                <a:schemeClr val="dk1"/>
              </a:buClr>
              <a:buSzPts val="1200"/>
              <a:buFont typeface="Times New Roman"/>
              <a:buNone/>
            </a:pPr>
            <a:r>
              <a:rPr lang="en-CH" sz="1200">
                <a:latin typeface="Times New Roman"/>
                <a:ea typeface="Times New Roman"/>
                <a:cs typeface="Times New Roman"/>
                <a:sym typeface="Times New Roman"/>
              </a:rPr>
              <a:t>. Ice lenses, however, only form in pre-damaged zones and do not play a significant role in damage initiation. In this respect, the consolidation of the weakened stone, along with some degree of hydrophobization, may, in principle, reduce the risk of frost damage. However, the extent of this would depend very much on local circumstances and cannot be assessed a priori.</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771" name="Google Shape;77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The passage to the degradation type is done by giving the visual information, the use of “speaking” images ferry toward the more specific knowledge of the conservators and architects involved in the preservation. </a:t>
            </a:r>
            <a:endParaRPr/>
          </a:p>
        </p:txBody>
      </p:sp>
      <p:sp>
        <p:nvSpPr>
          <p:cNvPr id="807" name="Google Shape;80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In the context of localization of the degradation, the introductory section underscores the significance of the stone's placement within the building and its correlation with the prevailing microclimate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CH"/>
              <a:t>The interactivity will include some small quizzes. </a:t>
            </a:r>
            <a:endParaRPr/>
          </a:p>
        </p:txBody>
      </p:sp>
      <p:sp>
        <p:nvSpPr>
          <p:cNvPr id="835" name="Google Shape;83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The acquisition of information before the external exploration of the site is a common strategy used in divulgation and education that prepare the ground for the more interactive and engaging part</a:t>
            </a:r>
            <a:endParaRPr/>
          </a:p>
        </p:txBody>
      </p:sp>
      <p:sp>
        <p:nvSpPr>
          <p:cNvPr id="911" name="Google Shape;91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 name="Google Shape;92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6" name="Google Shape;94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H"/>
              <a:t>Similar information can be also find in the Interactive app.</a:t>
            </a:r>
            <a:endParaRPr/>
          </a:p>
        </p:txBody>
      </p:sp>
      <p:sp>
        <p:nvSpPr>
          <p:cNvPr id="965" name="Google Shape;965;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1"/>
          <p:cNvSpPr/>
          <p:nvPr>
            <p:ph idx="2" type="pic"/>
          </p:nvPr>
        </p:nvSpPr>
        <p:spPr>
          <a:xfrm>
            <a:off x="5183188" y="987425"/>
            <a:ext cx="6172200" cy="4873625"/>
          </a:xfrm>
          <a:prstGeom prst="rect">
            <a:avLst/>
          </a:prstGeom>
          <a:noFill/>
          <a:ln>
            <a:noFill/>
          </a:ln>
        </p:spPr>
      </p:sp>
      <p:sp>
        <p:nvSpPr>
          <p:cNvPr id="68" name="Google Shape;68;p5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H"/>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0.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0.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0.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0.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0.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0.png"/><Relationship Id="rId4" Type="http://schemas.openxmlformats.org/officeDocument/2006/relationships/image" Target="../media/image25.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0.png"/><Relationship Id="rId4" Type="http://schemas.openxmlformats.org/officeDocument/2006/relationships/image" Target="../media/image16.jpg"/><Relationship Id="rId5" Type="http://schemas.openxmlformats.org/officeDocument/2006/relationships/image" Target="../media/image14.png"/><Relationship Id="rId6" Type="http://schemas.openxmlformats.org/officeDocument/2006/relationships/image" Target="../media/image13.jp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0.png"/><Relationship Id="rId4" Type="http://schemas.openxmlformats.org/officeDocument/2006/relationships/image" Target="../media/image16.jpg"/><Relationship Id="rId5" Type="http://schemas.openxmlformats.org/officeDocument/2006/relationships/image" Target="../media/image21.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0.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0.png"/><Relationship Id="rId4" Type="http://schemas.openxmlformats.org/officeDocument/2006/relationships/image" Target="../media/image21.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0.png"/><Relationship Id="rId4" Type="http://schemas.openxmlformats.org/officeDocument/2006/relationships/image" Target="../media/image21.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0.png"/><Relationship Id="rId4" Type="http://schemas.openxmlformats.org/officeDocument/2006/relationships/image" Target="../media/image21.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0.png"/><Relationship Id="rId4" Type="http://schemas.openxmlformats.org/officeDocument/2006/relationships/image" Target="../media/image21.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0.png"/><Relationship Id="rId4" Type="http://schemas.openxmlformats.org/officeDocument/2006/relationships/image" Target="../media/image16.jpg"/><Relationship Id="rId5" Type="http://schemas.openxmlformats.org/officeDocument/2006/relationships/image" Target="../media/image14.png"/><Relationship Id="rId6" Type="http://schemas.openxmlformats.org/officeDocument/2006/relationships/image" Target="../media/image13.jpg"/><Relationship Id="rId7"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0.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0.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0.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16.jpg"/><Relationship Id="rId6" Type="http://schemas.openxmlformats.org/officeDocument/2006/relationships/image" Target="../media/image14.png"/><Relationship Id="rId7"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14.png"/><Relationship Id="rId9" Type="http://schemas.openxmlformats.org/officeDocument/2006/relationships/image" Target="../media/image1.png"/><Relationship Id="rId5" Type="http://schemas.openxmlformats.org/officeDocument/2006/relationships/image" Target="../media/image13.jp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35.png"/><Relationship Id="rId5" Type="http://schemas.openxmlformats.org/officeDocument/2006/relationships/image" Target="../media/image4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36.png"/><Relationship Id="rId5" Type="http://schemas.openxmlformats.org/officeDocument/2006/relationships/image" Target="../media/image14.png"/><Relationship Id="rId6" Type="http://schemas.openxmlformats.org/officeDocument/2006/relationships/image" Target="../media/image13.jpg"/><Relationship Id="rId7" Type="http://schemas.openxmlformats.org/officeDocument/2006/relationships/image" Target="../media/image34.png"/><Relationship Id="rId8" Type="http://schemas.openxmlformats.org/officeDocument/2006/relationships/image" Target="../media/image35.png"/></Relationships>
</file>

<file path=ppt/slides/_rels/slide27.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52.png"/><Relationship Id="rId13" Type="http://schemas.openxmlformats.org/officeDocument/2006/relationships/image" Target="../media/image54.png"/><Relationship Id="rId12" Type="http://schemas.openxmlformats.org/officeDocument/2006/relationships/image" Target="../media/image56.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35.png"/><Relationship Id="rId9" Type="http://schemas.openxmlformats.org/officeDocument/2006/relationships/image" Target="../media/image51.png"/><Relationship Id="rId5" Type="http://schemas.openxmlformats.org/officeDocument/2006/relationships/image" Target="../media/image46.png"/><Relationship Id="rId6" Type="http://schemas.openxmlformats.org/officeDocument/2006/relationships/image" Target="../media/image44.png"/><Relationship Id="rId7" Type="http://schemas.openxmlformats.org/officeDocument/2006/relationships/image" Target="../media/image49.png"/><Relationship Id="rId8"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36.png"/><Relationship Id="rId5" Type="http://schemas.openxmlformats.org/officeDocument/2006/relationships/image" Target="../media/image14.png"/><Relationship Id="rId6" Type="http://schemas.openxmlformats.org/officeDocument/2006/relationships/image" Target="../media/image13.jpg"/><Relationship Id="rId7" Type="http://schemas.openxmlformats.org/officeDocument/2006/relationships/image" Target="../media/image34.png"/><Relationship Id="rId8"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8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8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6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32.png"/><Relationship Id="rId6" Type="http://schemas.openxmlformats.org/officeDocument/2006/relationships/image" Target="../media/image33.png"/></Relationships>
</file>

<file path=ppt/slides/_rels/slide34.xml.rels><?xml version="1.0" encoding="UTF-8" standalone="yes"?><Relationships xmlns="http://schemas.openxmlformats.org/package/2006/relationships"><Relationship Id="rId10" Type="http://schemas.openxmlformats.org/officeDocument/2006/relationships/image" Target="../media/image69.jp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79.jpg"/><Relationship Id="rId5" Type="http://schemas.openxmlformats.org/officeDocument/2006/relationships/image" Target="../media/image58.png"/><Relationship Id="rId6" Type="http://schemas.openxmlformats.org/officeDocument/2006/relationships/image" Target="../media/image61.png"/><Relationship Id="rId7" Type="http://schemas.openxmlformats.org/officeDocument/2006/relationships/image" Target="../media/image74.png"/><Relationship Id="rId8" Type="http://schemas.openxmlformats.org/officeDocument/2006/relationships/image" Target="../media/image7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58.png"/><Relationship Id="rId6" Type="http://schemas.openxmlformats.org/officeDocument/2006/relationships/image" Target="../media/image61.png"/><Relationship Id="rId7" Type="http://schemas.openxmlformats.org/officeDocument/2006/relationships/image" Target="../media/image78.png"/><Relationship Id="rId8" Type="http://schemas.openxmlformats.org/officeDocument/2006/relationships/image" Target="../media/image6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8.png"/><Relationship Id="rId4" Type="http://schemas.openxmlformats.org/officeDocument/2006/relationships/image" Target="../media/image1.png"/><Relationship Id="rId9" Type="http://schemas.openxmlformats.org/officeDocument/2006/relationships/image" Target="../media/image67.png"/><Relationship Id="rId5" Type="http://schemas.openxmlformats.org/officeDocument/2006/relationships/image" Target="../media/image60.png"/><Relationship Id="rId6" Type="http://schemas.openxmlformats.org/officeDocument/2006/relationships/image" Target="../media/image66.png"/><Relationship Id="rId7" Type="http://schemas.openxmlformats.org/officeDocument/2006/relationships/image" Target="../media/image78.png"/><Relationship Id="rId8" Type="http://schemas.openxmlformats.org/officeDocument/2006/relationships/image" Target="../media/image6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64.jpg"/><Relationship Id="rId6"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64.jpg"/><Relationship Id="rId6" Type="http://schemas.openxmlformats.org/officeDocument/2006/relationships/image" Target="../media/image7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64.jpg"/><Relationship Id="rId6" Type="http://schemas.openxmlformats.org/officeDocument/2006/relationships/image" Target="../media/image7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64.jpg"/><Relationship Id="rId6"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76.png"/><Relationship Id="rId4" Type="http://schemas.openxmlformats.org/officeDocument/2006/relationships/image" Target="../media/image17.png"/><Relationship Id="rId5" Type="http://schemas.openxmlformats.org/officeDocument/2006/relationships/image" Target="../media/image75.png"/><Relationship Id="rId6"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A large building with towers and a moon in the sky&#10;&#10;Description automatically generated" id="89" name="Google Shape;89;p1"/>
          <p:cNvPicPr preferRelativeResize="0"/>
          <p:nvPr/>
        </p:nvPicPr>
        <p:blipFill rotWithShape="1">
          <a:blip r:embed="rId3">
            <a:alphaModFix amt="50000"/>
          </a:blip>
          <a:srcRect b="9982" l="0" r="-54" t="10895"/>
          <a:stretch/>
        </p:blipFill>
        <p:spPr>
          <a:xfrm>
            <a:off x="-1" y="1"/>
            <a:ext cx="12194313" cy="6858000"/>
          </a:xfrm>
          <a:prstGeom prst="rect">
            <a:avLst/>
          </a:prstGeom>
          <a:noFill/>
          <a:ln>
            <a:noFill/>
          </a:ln>
        </p:spPr>
      </p:pic>
      <p:sp>
        <p:nvSpPr>
          <p:cNvPr id="90" name="Google Shape;90;p1"/>
          <p:cNvSpPr txBox="1"/>
          <p:nvPr/>
        </p:nvSpPr>
        <p:spPr>
          <a:xfrm>
            <a:off x="249717" y="443110"/>
            <a:ext cx="4844724" cy="954107"/>
          </a:xfrm>
          <a:prstGeom prst="rect">
            <a:avLst/>
          </a:prstGeom>
          <a:solidFill>
            <a:schemeClr val="lt1">
              <a:alpha val="48627"/>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CH" sz="3200" u="none" cap="none" strike="noStrike">
                <a:solidFill>
                  <a:schemeClr val="dk1"/>
                </a:solidFill>
                <a:latin typeface="Arial"/>
                <a:ea typeface="Arial"/>
                <a:cs typeface="Arial"/>
                <a:sym typeface="Arial"/>
              </a:rPr>
              <a:t>Cathédrale de Lausanne:</a:t>
            </a:r>
            <a:endParaRPr/>
          </a:p>
          <a:p>
            <a:pPr indent="0" lvl="0" marL="0" marR="0" rtl="0" algn="l">
              <a:spcBef>
                <a:spcPts val="0"/>
              </a:spcBef>
              <a:spcAft>
                <a:spcPts val="0"/>
              </a:spcAft>
              <a:buNone/>
            </a:pPr>
            <a:r>
              <a:rPr lang="en-CH" sz="2400">
                <a:solidFill>
                  <a:schemeClr val="dk1"/>
                </a:solidFill>
                <a:latin typeface="Arial"/>
                <a:ea typeface="Arial"/>
                <a:cs typeface="Arial"/>
                <a:sym typeface="Arial"/>
              </a:rPr>
              <a:t>Centre d’Informations digitales</a:t>
            </a:r>
            <a:endParaRPr/>
          </a:p>
        </p:txBody>
      </p:sp>
      <p:sp>
        <p:nvSpPr>
          <p:cNvPr id="91" name="Google Shape;91;p1"/>
          <p:cNvSpPr/>
          <p:nvPr/>
        </p:nvSpPr>
        <p:spPr>
          <a:xfrm>
            <a:off x="7442046" y="1999062"/>
            <a:ext cx="4500237" cy="922367"/>
          </a:xfrm>
          <a:prstGeom prst="roundRect">
            <a:avLst>
              <a:gd fmla="val 50000" name="adj"/>
            </a:avLst>
          </a:prstGeom>
          <a:solidFill>
            <a:schemeClr val="lt1">
              <a:alpha val="65098"/>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 name="Google Shape;92;p1"/>
          <p:cNvSpPr txBox="1"/>
          <p:nvPr/>
        </p:nvSpPr>
        <p:spPr>
          <a:xfrm>
            <a:off x="8545524" y="2269057"/>
            <a:ext cx="30364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Site Web de la Cathédrale</a:t>
            </a:r>
            <a:endParaRPr/>
          </a:p>
        </p:txBody>
      </p:sp>
      <p:sp>
        <p:nvSpPr>
          <p:cNvPr id="93" name="Google Shape;93;p1"/>
          <p:cNvSpPr/>
          <p:nvPr/>
        </p:nvSpPr>
        <p:spPr>
          <a:xfrm>
            <a:off x="10608404" y="273277"/>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Français ▼</a:t>
            </a:r>
            <a:endParaRPr/>
          </a:p>
        </p:txBody>
      </p:sp>
      <p:sp>
        <p:nvSpPr>
          <p:cNvPr id="94" name="Google Shape;94;p1"/>
          <p:cNvSpPr/>
          <p:nvPr/>
        </p:nvSpPr>
        <p:spPr>
          <a:xfrm>
            <a:off x="7442046" y="4271354"/>
            <a:ext cx="4500237" cy="922367"/>
          </a:xfrm>
          <a:prstGeom prst="roundRect">
            <a:avLst>
              <a:gd fmla="val 50000" name="adj"/>
            </a:avLst>
          </a:prstGeom>
          <a:solidFill>
            <a:schemeClr val="lt1">
              <a:alpha val="65098"/>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 name="Google Shape;95;p1"/>
          <p:cNvSpPr txBox="1"/>
          <p:nvPr/>
        </p:nvSpPr>
        <p:spPr>
          <a:xfrm>
            <a:off x="8545524" y="4561813"/>
            <a:ext cx="29461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La Cathédrale Immersive</a:t>
            </a:r>
            <a:endParaRPr/>
          </a:p>
        </p:txBody>
      </p:sp>
      <p:sp>
        <p:nvSpPr>
          <p:cNvPr id="96" name="Google Shape;96;p1"/>
          <p:cNvSpPr/>
          <p:nvPr/>
        </p:nvSpPr>
        <p:spPr>
          <a:xfrm>
            <a:off x="7433862" y="3124819"/>
            <a:ext cx="4500237" cy="922367"/>
          </a:xfrm>
          <a:prstGeom prst="roundRect">
            <a:avLst>
              <a:gd fmla="val 50000" name="adj"/>
            </a:avLst>
          </a:prstGeom>
          <a:solidFill>
            <a:schemeClr val="lt1">
              <a:alpha val="65098"/>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 name="Google Shape;97;p1"/>
          <p:cNvSpPr txBox="1"/>
          <p:nvPr/>
        </p:nvSpPr>
        <p:spPr>
          <a:xfrm>
            <a:off x="8537341" y="3394814"/>
            <a:ext cx="327897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Le 750 ème de la cathédrale</a:t>
            </a:r>
            <a:endParaRPr/>
          </a:p>
        </p:txBody>
      </p:sp>
      <p:pic>
        <p:nvPicPr>
          <p:cNvPr id="98" name="Google Shape;98;p1"/>
          <p:cNvPicPr preferRelativeResize="0"/>
          <p:nvPr/>
        </p:nvPicPr>
        <p:blipFill rotWithShape="1">
          <a:blip r:embed="rId4">
            <a:alphaModFix/>
          </a:blip>
          <a:srcRect b="0" l="0" r="0" t="0"/>
          <a:stretch/>
        </p:blipFill>
        <p:spPr>
          <a:xfrm>
            <a:off x="7727075" y="2150786"/>
            <a:ext cx="674834" cy="668699"/>
          </a:xfrm>
          <a:prstGeom prst="ellipse">
            <a:avLst/>
          </a:prstGeom>
          <a:noFill/>
          <a:ln>
            <a:noFill/>
          </a:ln>
        </p:spPr>
      </p:pic>
      <p:pic>
        <p:nvPicPr>
          <p:cNvPr descr="Augmented Reality Vector SVG Icon (8) - SVG Repo" id="99" name="Google Shape;99;p1"/>
          <p:cNvPicPr preferRelativeResize="0"/>
          <p:nvPr/>
        </p:nvPicPr>
        <p:blipFill rotWithShape="1">
          <a:blip r:embed="rId5">
            <a:alphaModFix/>
          </a:blip>
          <a:srcRect b="0" l="0" r="0" t="0"/>
          <a:stretch/>
        </p:blipFill>
        <p:spPr>
          <a:xfrm>
            <a:off x="7824644" y="4466730"/>
            <a:ext cx="531614" cy="531614"/>
          </a:xfrm>
          <a:prstGeom prst="rect">
            <a:avLst/>
          </a:prstGeom>
          <a:noFill/>
          <a:ln cap="flat" cmpd="sng" w="9525">
            <a:solidFill>
              <a:schemeClr val="accent1"/>
            </a:solidFill>
            <a:prstDash val="solid"/>
            <a:round/>
            <a:headEnd len="sm" w="sm" type="none"/>
            <a:tailEnd len="sm" w="sm" type="none"/>
          </a:ln>
        </p:spPr>
      </p:pic>
      <p:pic>
        <p:nvPicPr>
          <p:cNvPr descr="Card number 750 Stock Vector Images - Alamy" id="100" name="Google Shape;100;p1"/>
          <p:cNvPicPr preferRelativeResize="0"/>
          <p:nvPr/>
        </p:nvPicPr>
        <p:blipFill rotWithShape="1">
          <a:blip r:embed="rId6">
            <a:alphaModFix/>
          </a:blip>
          <a:srcRect b="17990" l="6045" r="5786" t="9688"/>
          <a:stretch/>
        </p:blipFill>
        <p:spPr>
          <a:xfrm>
            <a:off x="7788485" y="3320929"/>
            <a:ext cx="583657" cy="511557"/>
          </a:xfrm>
          <a:prstGeom prst="rect">
            <a:avLst/>
          </a:prstGeom>
          <a:noFill/>
          <a:ln cap="flat" cmpd="sng" w="9525">
            <a:solidFill>
              <a:schemeClr val="accent1"/>
            </a:solidFill>
            <a:prstDash val="solid"/>
            <a:round/>
            <a:headEnd len="sm" w="sm" type="none"/>
            <a:tailEnd len="sm" w="sm" type="none"/>
          </a:ln>
        </p:spPr>
      </p:pic>
      <p:sp>
        <p:nvSpPr>
          <p:cNvPr id="101" name="Google Shape;101;p1"/>
          <p:cNvSpPr txBox="1"/>
          <p:nvPr/>
        </p:nvSpPr>
        <p:spPr>
          <a:xfrm>
            <a:off x="133815" y="6392751"/>
            <a:ext cx="25433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 @ Elenarts</a:t>
            </a:r>
            <a:endParaRPr sz="1800" u="sng">
              <a:solidFill>
                <a:schemeClr val="lt1"/>
              </a:solidFill>
              <a:latin typeface="Arial"/>
              <a:ea typeface="Arial"/>
              <a:cs typeface="Arial"/>
              <a:sym typeface="Arial"/>
            </a:endParaRPr>
          </a:p>
        </p:txBody>
      </p:sp>
      <p:sp>
        <p:nvSpPr>
          <p:cNvPr id="102" name="Google Shape;102;p1"/>
          <p:cNvSpPr/>
          <p:nvPr/>
        </p:nvSpPr>
        <p:spPr>
          <a:xfrm rot="1077042">
            <a:off x="11069456" y="4882758"/>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pic>
        <p:nvPicPr>
          <p:cNvPr descr="A drawing of a building&#10;&#10;Description automatically generated" id="108" name="Google Shape;108;p2"/>
          <p:cNvPicPr preferRelativeResize="0"/>
          <p:nvPr/>
        </p:nvPicPr>
        <p:blipFill rotWithShape="1">
          <a:blip r:embed="rId3">
            <a:alphaModFix/>
          </a:blip>
          <a:srcRect b="0" l="22460" r="0" t="0"/>
          <a:stretch/>
        </p:blipFill>
        <p:spPr>
          <a:xfrm>
            <a:off x="1493044" y="1781585"/>
            <a:ext cx="3320306" cy="4549023"/>
          </a:xfrm>
          <a:prstGeom prst="rect">
            <a:avLst/>
          </a:prstGeom>
          <a:noFill/>
          <a:ln>
            <a:noFill/>
          </a:ln>
        </p:spPr>
      </p:pic>
      <p:sp>
        <p:nvSpPr>
          <p:cNvPr id="109" name="Google Shape;109;p2"/>
          <p:cNvSpPr txBox="1"/>
          <p:nvPr/>
        </p:nvSpPr>
        <p:spPr>
          <a:xfrm>
            <a:off x="249717" y="443110"/>
            <a:ext cx="5056256" cy="954107"/>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La Cathédrale Immersive: </a:t>
            </a:r>
            <a:endParaRPr/>
          </a:p>
          <a:p>
            <a:pPr indent="0" lvl="0" marL="0" marR="0" rtl="0" algn="l">
              <a:spcBef>
                <a:spcPts val="0"/>
              </a:spcBef>
              <a:spcAft>
                <a:spcPts val="0"/>
              </a:spcAft>
              <a:buNone/>
            </a:pPr>
            <a:r>
              <a:rPr lang="en-CH" sz="2400">
                <a:solidFill>
                  <a:schemeClr val="dk1"/>
                </a:solidFill>
                <a:latin typeface="Arial"/>
                <a:ea typeface="Arial"/>
                <a:cs typeface="Arial"/>
                <a:sym typeface="Arial"/>
              </a:rPr>
              <a:t>Menu principal</a:t>
            </a:r>
            <a:endParaRPr/>
          </a:p>
        </p:txBody>
      </p:sp>
      <p:sp>
        <p:nvSpPr>
          <p:cNvPr id="110" name="Google Shape;110;p2"/>
          <p:cNvSpPr/>
          <p:nvPr/>
        </p:nvSpPr>
        <p:spPr>
          <a:xfrm>
            <a:off x="6477002" y="1781585"/>
            <a:ext cx="4500237" cy="922367"/>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2"/>
          <p:cNvSpPr txBox="1"/>
          <p:nvPr/>
        </p:nvSpPr>
        <p:spPr>
          <a:xfrm>
            <a:off x="7682080" y="2051580"/>
            <a:ext cx="307783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Molasse et sa dégradation</a:t>
            </a:r>
            <a:endParaRPr/>
          </a:p>
        </p:txBody>
      </p:sp>
      <p:sp>
        <p:nvSpPr>
          <p:cNvPr id="112" name="Google Shape;112;p2"/>
          <p:cNvSpPr/>
          <p:nvPr/>
        </p:nvSpPr>
        <p:spPr>
          <a:xfrm>
            <a:off x="6477001" y="2851508"/>
            <a:ext cx="4500237" cy="922367"/>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 name="Google Shape;113;p2"/>
          <p:cNvSpPr txBox="1"/>
          <p:nvPr/>
        </p:nvSpPr>
        <p:spPr>
          <a:xfrm>
            <a:off x="7580479" y="3141967"/>
            <a:ext cx="311578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Stratégies de conservation</a:t>
            </a:r>
            <a:endParaRPr/>
          </a:p>
        </p:txBody>
      </p:sp>
      <p:sp>
        <p:nvSpPr>
          <p:cNvPr id="114" name="Google Shape;114;p2"/>
          <p:cNvSpPr/>
          <p:nvPr/>
        </p:nvSpPr>
        <p:spPr>
          <a:xfrm>
            <a:off x="6477000" y="3956613"/>
            <a:ext cx="4500237" cy="922367"/>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 name="Google Shape;115;p2"/>
          <p:cNvSpPr txBox="1"/>
          <p:nvPr/>
        </p:nvSpPr>
        <p:spPr>
          <a:xfrm>
            <a:off x="7580479" y="4226608"/>
            <a:ext cx="31934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Les voûtes de la cathédrale</a:t>
            </a:r>
            <a:endParaRPr/>
          </a:p>
        </p:txBody>
      </p:sp>
      <p:sp>
        <p:nvSpPr>
          <p:cNvPr id="116" name="Google Shape;116;p2"/>
          <p:cNvSpPr/>
          <p:nvPr/>
        </p:nvSpPr>
        <p:spPr>
          <a:xfrm>
            <a:off x="10570310" y="284174"/>
            <a:ext cx="1325695" cy="549800"/>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Français ▼</a:t>
            </a:r>
            <a:endParaRPr/>
          </a:p>
        </p:txBody>
      </p:sp>
      <p:sp>
        <p:nvSpPr>
          <p:cNvPr id="117" name="Google Shape;117;p2"/>
          <p:cNvSpPr txBox="1"/>
          <p:nvPr/>
        </p:nvSpPr>
        <p:spPr>
          <a:xfrm>
            <a:off x="158254" y="6484143"/>
            <a:ext cx="2060179"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800" u="sng">
                <a:solidFill>
                  <a:schemeClr val="lt1"/>
                </a:solidFill>
                <a:latin typeface="Arial"/>
                <a:ea typeface="Arial"/>
                <a:cs typeface="Arial"/>
                <a:sym typeface="Arial"/>
              </a:rPr>
              <a:t>Image Credits @AMSLER DOM architectes</a:t>
            </a:r>
            <a:endParaRPr sz="800" u="sng">
              <a:solidFill>
                <a:schemeClr val="lt1"/>
              </a:solidFill>
              <a:latin typeface="Arial"/>
              <a:ea typeface="Arial"/>
              <a:cs typeface="Arial"/>
              <a:sym typeface="Arial"/>
            </a:endParaRPr>
          </a:p>
        </p:txBody>
      </p:sp>
      <p:pic>
        <p:nvPicPr>
          <p:cNvPr descr="Weather icons" id="118" name="Google Shape;118;p2"/>
          <p:cNvPicPr preferRelativeResize="0"/>
          <p:nvPr/>
        </p:nvPicPr>
        <p:blipFill rotWithShape="1">
          <a:blip r:embed="rId4">
            <a:alphaModFix/>
          </a:blip>
          <a:srcRect b="0" l="0" r="0" t="0"/>
          <a:stretch/>
        </p:blipFill>
        <p:spPr>
          <a:xfrm>
            <a:off x="6805791" y="1937677"/>
            <a:ext cx="733007" cy="661570"/>
          </a:xfrm>
          <a:prstGeom prst="rect">
            <a:avLst/>
          </a:prstGeom>
          <a:noFill/>
          <a:ln>
            <a:noFill/>
          </a:ln>
        </p:spPr>
      </p:pic>
      <p:pic>
        <p:nvPicPr>
          <p:cNvPr descr="Historic Preservation Icons - Free SVG &amp; PNG Historic Preservation Images -  Noun Project" id="119" name="Google Shape;119;p2"/>
          <p:cNvPicPr preferRelativeResize="0"/>
          <p:nvPr/>
        </p:nvPicPr>
        <p:blipFill rotWithShape="1">
          <a:blip r:embed="rId5">
            <a:alphaModFix/>
          </a:blip>
          <a:srcRect b="0" l="0" r="0" t="0"/>
          <a:stretch/>
        </p:blipFill>
        <p:spPr>
          <a:xfrm>
            <a:off x="6817073" y="2956355"/>
            <a:ext cx="642331" cy="642331"/>
          </a:xfrm>
          <a:prstGeom prst="rect">
            <a:avLst/>
          </a:prstGeom>
          <a:noFill/>
          <a:ln>
            <a:noFill/>
          </a:ln>
        </p:spPr>
      </p:pic>
      <p:pic>
        <p:nvPicPr>
          <p:cNvPr descr="Gothic Church Architecture &amp; Floor Plan - Lesson | Study.com" id="120" name="Google Shape;120;p2"/>
          <p:cNvPicPr preferRelativeResize="0"/>
          <p:nvPr/>
        </p:nvPicPr>
        <p:blipFill rotWithShape="1">
          <a:blip r:embed="rId6">
            <a:alphaModFix/>
          </a:blip>
          <a:srcRect b="0" l="50000" r="0" t="43067"/>
          <a:stretch/>
        </p:blipFill>
        <p:spPr>
          <a:xfrm>
            <a:off x="6734666" y="4178845"/>
            <a:ext cx="661102" cy="545339"/>
          </a:xfrm>
          <a:prstGeom prst="rect">
            <a:avLst/>
          </a:prstGeom>
          <a:noFill/>
          <a:ln>
            <a:noFill/>
          </a:ln>
        </p:spPr>
      </p:pic>
      <p:sp>
        <p:nvSpPr>
          <p:cNvPr id="121" name="Google Shape;121;p2"/>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Retour</a:t>
            </a:r>
            <a:endParaRPr/>
          </a:p>
        </p:txBody>
      </p:sp>
      <p:sp>
        <p:nvSpPr>
          <p:cNvPr id="122" name="Google Shape;122;p2"/>
          <p:cNvSpPr/>
          <p:nvPr/>
        </p:nvSpPr>
        <p:spPr>
          <a:xfrm>
            <a:off x="6493717" y="5148975"/>
            <a:ext cx="4500237" cy="922367"/>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2"/>
          <p:cNvSpPr txBox="1"/>
          <p:nvPr/>
        </p:nvSpPr>
        <p:spPr>
          <a:xfrm>
            <a:off x="7597196" y="5418970"/>
            <a:ext cx="40588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A close-up of a stone wall&#10;&#10;Description automatically generated" id="129" name="Google Shape;129;p3"/>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130" name="Google Shape;130;p3"/>
          <p:cNvSpPr txBox="1"/>
          <p:nvPr/>
        </p:nvSpPr>
        <p:spPr>
          <a:xfrm>
            <a:off x="249717" y="443110"/>
            <a:ext cx="4850495"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Molasse and its weathering</a:t>
            </a:r>
            <a:endParaRPr b="1" sz="3200">
              <a:solidFill>
                <a:schemeClr val="dk1"/>
              </a:solidFill>
              <a:latin typeface="Arial"/>
              <a:ea typeface="Arial"/>
              <a:cs typeface="Arial"/>
              <a:sym typeface="Arial"/>
            </a:endParaRPr>
          </a:p>
        </p:txBody>
      </p:sp>
      <p:sp>
        <p:nvSpPr>
          <p:cNvPr id="131" name="Google Shape;131;p3"/>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132" name="Google Shape;132;p3"/>
          <p:cNvSpPr txBox="1"/>
          <p:nvPr/>
        </p:nvSpPr>
        <p:spPr>
          <a:xfrm>
            <a:off x="371594" y="2066400"/>
            <a:ext cx="5590830" cy="3416320"/>
          </a:xfrm>
          <a:prstGeom prst="rect">
            <a:avLst/>
          </a:prstGeom>
          <a:solidFill>
            <a:schemeClr val="lt1">
              <a:alpha val="80000"/>
            </a:schemeClr>
          </a:solidFill>
          <a:ln>
            <a:noFill/>
          </a:ln>
        </p:spPr>
        <p:txBody>
          <a:bodyPr anchorCtr="0" anchor="t" bIns="45700" lIns="180000" spcFirstLastPara="1" rIns="180000"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800">
                <a:solidFill>
                  <a:schemeClr val="dk1"/>
                </a:solidFill>
                <a:latin typeface="Arial"/>
                <a:ea typeface="Arial"/>
                <a:cs typeface="Arial"/>
                <a:sym typeface="Arial"/>
              </a:rPr>
              <a:t>The cathedral of Lausanne was built with a local molasse sandstone, that is particlarly sensitve to water.</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800">
                <a:solidFill>
                  <a:schemeClr val="dk1"/>
                </a:solidFill>
                <a:latin typeface="Arial"/>
                <a:ea typeface="Arial"/>
                <a:cs typeface="Arial"/>
                <a:sym typeface="Arial"/>
              </a:rPr>
              <a:t>You may obtain directly here information on that stone as well as on its weathering by clicking on the corresponding buttons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800">
                <a:solidFill>
                  <a:schemeClr val="dk1"/>
                </a:solidFill>
                <a:latin typeface="Arial"/>
                <a:ea typeface="Arial"/>
                <a:cs typeface="Arial"/>
                <a:sym typeface="Arial"/>
              </a:rPr>
              <a:t>You may also go directly to an interactive discovery App to use as you walk around the cathedral.</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Weather icons" id="133" name="Google Shape;133;p3"/>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grpSp>
        <p:nvGrpSpPr>
          <p:cNvPr id="134" name="Google Shape;134;p3"/>
          <p:cNvGrpSpPr/>
          <p:nvPr/>
        </p:nvGrpSpPr>
        <p:grpSpPr>
          <a:xfrm>
            <a:off x="6883360" y="2254913"/>
            <a:ext cx="4500237" cy="922367"/>
            <a:chOff x="6450180" y="687439"/>
            <a:chExt cx="4500237" cy="922367"/>
          </a:xfrm>
        </p:grpSpPr>
        <p:sp>
          <p:nvSpPr>
            <p:cNvPr id="135" name="Google Shape;135;p3"/>
            <p:cNvSpPr/>
            <p:nvPr/>
          </p:nvSpPr>
          <p:spPr>
            <a:xfrm>
              <a:off x="6450180" y="687439"/>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6" name="Google Shape;136;p3"/>
            <p:cNvSpPr txBox="1"/>
            <p:nvPr/>
          </p:nvSpPr>
          <p:spPr>
            <a:xfrm>
              <a:off x="7655258" y="957434"/>
              <a:ext cx="278999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Molasse sandstone</a:t>
              </a:r>
              <a:endParaRPr/>
            </a:p>
          </p:txBody>
        </p:sp>
      </p:grpSp>
      <p:grpSp>
        <p:nvGrpSpPr>
          <p:cNvPr id="137" name="Google Shape;137;p3"/>
          <p:cNvGrpSpPr/>
          <p:nvPr/>
        </p:nvGrpSpPr>
        <p:grpSpPr>
          <a:xfrm>
            <a:off x="6910182" y="3297543"/>
            <a:ext cx="4500237" cy="922367"/>
            <a:chOff x="6477002" y="1781585"/>
            <a:chExt cx="4500237" cy="922367"/>
          </a:xfrm>
        </p:grpSpPr>
        <p:sp>
          <p:nvSpPr>
            <p:cNvPr id="138" name="Google Shape;138;p3"/>
            <p:cNvSpPr/>
            <p:nvPr/>
          </p:nvSpPr>
          <p:spPr>
            <a:xfrm>
              <a:off x="6477002" y="1781585"/>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3"/>
            <p:cNvSpPr txBox="1"/>
            <p:nvPr/>
          </p:nvSpPr>
          <p:spPr>
            <a:xfrm>
              <a:off x="7682080" y="2051580"/>
              <a:ext cx="270394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Weathering of Molasse</a:t>
              </a:r>
              <a:endParaRPr/>
            </a:p>
          </p:txBody>
        </p:sp>
        <p:pic>
          <p:nvPicPr>
            <p:cNvPr descr="Freezing - Free weather icons" id="140" name="Google Shape;140;p3"/>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141" name="Google Shape;141;p3"/>
          <p:cNvGrpSpPr/>
          <p:nvPr/>
        </p:nvGrpSpPr>
        <p:grpSpPr>
          <a:xfrm>
            <a:off x="6926897" y="4392658"/>
            <a:ext cx="4500237" cy="922367"/>
            <a:chOff x="6493717" y="5148975"/>
            <a:chExt cx="4500237" cy="922367"/>
          </a:xfrm>
        </p:grpSpPr>
        <p:sp>
          <p:nvSpPr>
            <p:cNvPr id="142" name="Google Shape;142;p3"/>
            <p:cNvSpPr/>
            <p:nvPr/>
          </p:nvSpPr>
          <p:spPr>
            <a:xfrm>
              <a:off x="6493717" y="5148975"/>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3"/>
            <p:cNvSpPr txBox="1"/>
            <p:nvPr/>
          </p:nvSpPr>
          <p:spPr>
            <a:xfrm>
              <a:off x="7597196" y="5418970"/>
              <a:ext cx="246125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Interactive discovery</a:t>
              </a:r>
              <a:endParaRPr/>
            </a:p>
          </p:txBody>
        </p:sp>
      </p:grpSp>
      <p:pic>
        <p:nvPicPr>
          <p:cNvPr descr="Online Virtual Tour Icon - Free Download Science &amp; Technology Icons |  IconScout" id="144" name="Google Shape;144;p3"/>
          <p:cNvPicPr preferRelativeResize="0"/>
          <p:nvPr/>
        </p:nvPicPr>
        <p:blipFill rotWithShape="1">
          <a:blip r:embed="rId6">
            <a:alphaModFix/>
          </a:blip>
          <a:srcRect b="0" l="0" r="0" t="0"/>
          <a:stretch/>
        </p:blipFill>
        <p:spPr>
          <a:xfrm>
            <a:off x="7239883" y="4530575"/>
            <a:ext cx="664265" cy="664265"/>
          </a:xfrm>
          <a:prstGeom prst="rect">
            <a:avLst/>
          </a:prstGeom>
          <a:noFill/>
          <a:ln>
            <a:noFill/>
          </a:ln>
        </p:spPr>
      </p:pic>
      <p:sp>
        <p:nvSpPr>
          <p:cNvPr id="145" name="Google Shape;145;p3"/>
          <p:cNvSpPr/>
          <p:nvPr/>
        </p:nvSpPr>
        <p:spPr>
          <a:xfrm>
            <a:off x="10608404" y="273277"/>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146" name="Google Shape;146;p3"/>
          <p:cNvSpPr/>
          <p:nvPr/>
        </p:nvSpPr>
        <p:spPr>
          <a:xfrm rot="1077042">
            <a:off x="11224540" y="2597214"/>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47" name="Google Shape;147;p3"/>
          <p:cNvPicPr preferRelativeResize="0"/>
          <p:nvPr/>
        </p:nvPicPr>
        <p:blipFill rotWithShape="1">
          <a:blip r:embed="rId7">
            <a:alphaModFix/>
          </a:blip>
          <a:srcRect b="0" l="0" r="0" t="0"/>
          <a:stretch/>
        </p:blipFill>
        <p:spPr>
          <a:xfrm>
            <a:off x="7106993" y="2386883"/>
            <a:ext cx="695004" cy="658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A close-up of a stone wall&#10;&#10;Description automatically generated" id="153" name="Google Shape;153;p4"/>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pic>
        <p:nvPicPr>
          <p:cNvPr descr="A colorful building on a black background&#10;&#10;Description automatically generated" id="154" name="Google Shape;154;p4"/>
          <p:cNvPicPr preferRelativeResize="0"/>
          <p:nvPr/>
        </p:nvPicPr>
        <p:blipFill rotWithShape="1">
          <a:blip r:embed="rId4">
            <a:alphaModFix/>
          </a:blip>
          <a:srcRect b="0" l="0" r="0" t="0"/>
          <a:stretch/>
        </p:blipFill>
        <p:spPr>
          <a:xfrm>
            <a:off x="76200" y="59552"/>
            <a:ext cx="12192000" cy="6874649"/>
          </a:xfrm>
          <a:prstGeom prst="rect">
            <a:avLst/>
          </a:prstGeom>
          <a:noFill/>
          <a:ln>
            <a:noFill/>
          </a:ln>
        </p:spPr>
      </p:pic>
      <p:sp>
        <p:nvSpPr>
          <p:cNvPr id="155" name="Google Shape;155;p4"/>
          <p:cNvSpPr txBox="1"/>
          <p:nvPr/>
        </p:nvSpPr>
        <p:spPr>
          <a:xfrm>
            <a:off x="393699" y="443110"/>
            <a:ext cx="4572855" cy="584775"/>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Stones of the Cathedral</a:t>
            </a:r>
            <a:endParaRPr/>
          </a:p>
        </p:txBody>
      </p:sp>
      <p:sp>
        <p:nvSpPr>
          <p:cNvPr id="156" name="Google Shape;156;p4"/>
          <p:cNvSpPr/>
          <p:nvPr/>
        </p:nvSpPr>
        <p:spPr>
          <a:xfrm>
            <a:off x="10913325" y="6264335"/>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157" name="Google Shape;157;p4"/>
          <p:cNvSpPr txBox="1"/>
          <p:nvPr/>
        </p:nvSpPr>
        <p:spPr>
          <a:xfrm>
            <a:off x="393700" y="1470995"/>
            <a:ext cx="5975570" cy="4593424"/>
          </a:xfrm>
          <a:prstGeom prst="rect">
            <a:avLst/>
          </a:prstGeom>
          <a:solidFill>
            <a:schemeClr val="lt1">
              <a:alpha val="80000"/>
            </a:schemeClr>
          </a:solidFill>
          <a:ln>
            <a:noFill/>
          </a:ln>
        </p:spPr>
        <p:txBody>
          <a:bodyPr anchorCtr="0" anchor="t" bIns="45700" lIns="216000" spcFirstLastPara="1" rIns="216000" wrap="square" tIns="108000">
            <a:spAutoFit/>
          </a:bodyPr>
          <a:lstStyle/>
          <a:p>
            <a:pPr indent="457200" lvl="0" marL="0" marR="0" rtl="0" algn="just">
              <a:spcBef>
                <a:spcPts val="0"/>
              </a:spcBef>
              <a:spcAft>
                <a:spcPts val="0"/>
              </a:spcAft>
              <a:buNone/>
            </a:pPr>
            <a:r>
              <a:rPr lang="en-CH" sz="1800">
                <a:solidFill>
                  <a:schemeClr val="dk1"/>
                </a:solidFill>
                <a:latin typeface="Arial"/>
                <a:ea typeface="Arial"/>
                <a:cs typeface="Arial"/>
                <a:sym typeface="Arial"/>
              </a:rPr>
              <a:t>The Lausanne Cathedral is built from a variety of stones originating from different quarries all around Switzerland and some parts of Germany. </a:t>
            </a:r>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During the 19th century, the regional molasse sandstone of exposed architectural elements of the Cathedral was replaced with limestones and “harder” sandstones from the wider region of the canton Vaud. </a:t>
            </a:r>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In the 20th century, due to the scarcity of regional quarries, the general substitution of local molasse sandstone for maintenance and restoration became common practice. A variety of replacement sandstones from Fribourg, Bern, Zug, and Hannover (Oberkirchen, Germany) were utilized in its place </a:t>
            </a:r>
            <a:endParaRPr/>
          </a:p>
          <a:p>
            <a:pPr indent="457200" lvl="0" marL="0" marR="0" rtl="0" algn="just">
              <a:lnSpc>
                <a:spcPct val="150000"/>
              </a:lnSpc>
              <a:spcBef>
                <a:spcPts val="1200"/>
              </a:spcBef>
              <a:spcAft>
                <a:spcPts val="0"/>
              </a:spcAft>
              <a:buNone/>
            </a:pPr>
            <a:r>
              <a:rPr lang="en-CH" sz="1800">
                <a:solidFill>
                  <a:schemeClr val="dk1"/>
                </a:solidFill>
                <a:latin typeface="Arial"/>
                <a:ea typeface="Arial"/>
                <a:cs typeface="Arial"/>
                <a:sym typeface="Arial"/>
              </a:rPr>
              <a:t>&lt; GO TO INTERACTIVE LEARNING &gt;</a:t>
            </a:r>
            <a:endParaRPr sz="1800">
              <a:solidFill>
                <a:schemeClr val="dk1"/>
              </a:solidFill>
              <a:latin typeface="Arial"/>
              <a:ea typeface="Arial"/>
              <a:cs typeface="Arial"/>
              <a:sym typeface="Arial"/>
            </a:endParaRPr>
          </a:p>
        </p:txBody>
      </p:sp>
      <p:sp>
        <p:nvSpPr>
          <p:cNvPr id="158" name="Google Shape;158;p4"/>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descr="A close-up of a stone wall&#10;&#10;Description automatically generated" id="164" name="Google Shape;164;p5"/>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165" name="Google Shape;165;p5"/>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166" name="Google Shape;166;p5"/>
          <p:cNvSpPr txBox="1"/>
          <p:nvPr/>
        </p:nvSpPr>
        <p:spPr>
          <a:xfrm>
            <a:off x="199599" y="6391905"/>
            <a:ext cx="28253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 @Archeotech</a:t>
            </a:r>
            <a:endParaRPr/>
          </a:p>
        </p:txBody>
      </p:sp>
      <p:sp>
        <p:nvSpPr>
          <p:cNvPr id="167" name="Google Shape;167;p5"/>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168" name="Google Shape;168;p5"/>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169" name="Google Shape;169;p5"/>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0" name="Google Shape;170;p5"/>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171" name="Google Shape;171;p5"/>
          <p:cNvGrpSpPr/>
          <p:nvPr/>
        </p:nvGrpSpPr>
        <p:grpSpPr>
          <a:xfrm>
            <a:off x="309286" y="1033756"/>
            <a:ext cx="11527514" cy="4985980"/>
            <a:chOff x="249717" y="981719"/>
            <a:chExt cx="11527514" cy="4985980"/>
          </a:xfrm>
        </p:grpSpPr>
        <p:sp>
          <p:nvSpPr>
            <p:cNvPr id="172" name="Google Shape;172;p5"/>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173" name="Google Shape;173;p5"/>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4" name="Google Shape;174;p5"/>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Can you identify the oldest stone in the facade? </a:t>
              </a:r>
              <a:endParaRPr sz="2000">
                <a:solidFill>
                  <a:schemeClr val="dk1"/>
                </a:solidFill>
                <a:latin typeface="Arial"/>
                <a:ea typeface="Arial"/>
                <a:cs typeface="Arial"/>
                <a:sym typeface="Arial"/>
              </a:endParaRPr>
            </a:p>
          </p:txBody>
        </p:sp>
      </p:grpSp>
      <p:pic>
        <p:nvPicPr>
          <p:cNvPr descr="A close-up of a stone building&#10;&#10;Description automatically generated" id="175" name="Google Shape;175;p5"/>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176" name="Google Shape;176;p5"/>
          <p:cNvSpPr/>
          <p:nvPr/>
        </p:nvSpPr>
        <p:spPr>
          <a:xfrm rot="1077042">
            <a:off x="4340704" y="2933396"/>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 name="Google Shape;177;p5"/>
          <p:cNvSpPr/>
          <p:nvPr/>
        </p:nvSpPr>
        <p:spPr>
          <a:xfrm>
            <a:off x="3778512" y="3030367"/>
            <a:ext cx="536549" cy="136026"/>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A close-up of a stone wall&#10;&#10;Description automatically generated" id="183" name="Google Shape;183;p6"/>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184" name="Google Shape;184;p6"/>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185" name="Google Shape;185;p6"/>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186" name="Google Shape;186;p6"/>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187" name="Google Shape;187;p6"/>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6"/>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189" name="Google Shape;189;p6"/>
          <p:cNvGrpSpPr/>
          <p:nvPr/>
        </p:nvGrpSpPr>
        <p:grpSpPr>
          <a:xfrm>
            <a:off x="309286" y="1033756"/>
            <a:ext cx="11527514" cy="4985980"/>
            <a:chOff x="249717" y="981719"/>
            <a:chExt cx="11527514" cy="4985980"/>
          </a:xfrm>
        </p:grpSpPr>
        <p:sp>
          <p:nvSpPr>
            <p:cNvPr id="190" name="Google Shape;190;p6"/>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191" name="Google Shape;191;p6"/>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6"/>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Can you identify the oldest stone in the facade? </a:t>
              </a:r>
              <a:endParaRPr sz="2000">
                <a:solidFill>
                  <a:schemeClr val="dk1"/>
                </a:solidFill>
                <a:latin typeface="Arial"/>
                <a:ea typeface="Arial"/>
                <a:cs typeface="Arial"/>
                <a:sym typeface="Arial"/>
              </a:endParaRPr>
            </a:p>
          </p:txBody>
        </p:sp>
      </p:grpSp>
      <p:pic>
        <p:nvPicPr>
          <p:cNvPr descr="A close-up of a stone building&#10;&#10;Description automatically generated" id="193" name="Google Shape;193;p6"/>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194" name="Google Shape;194;p6"/>
          <p:cNvSpPr/>
          <p:nvPr/>
        </p:nvSpPr>
        <p:spPr>
          <a:xfrm rot="1077042">
            <a:off x="4340704" y="2933396"/>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6"/>
          <p:cNvSpPr/>
          <p:nvPr/>
        </p:nvSpPr>
        <p:spPr>
          <a:xfrm>
            <a:off x="3778512" y="3022810"/>
            <a:ext cx="536549" cy="136026"/>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6"/>
          <p:cNvSpPr txBox="1"/>
          <p:nvPr/>
        </p:nvSpPr>
        <p:spPr>
          <a:xfrm>
            <a:off x="6661560" y="3395406"/>
            <a:ext cx="459386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Correct!</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oldest stone type of the cathedral is Molasse Grise de Lausanne which was placed in the 12</a:t>
            </a:r>
            <a:r>
              <a:rPr baseline="30000" lang="en-CH" sz="2000">
                <a:solidFill>
                  <a:schemeClr val="dk1"/>
                </a:solidFill>
                <a:latin typeface="Arial"/>
                <a:ea typeface="Arial"/>
                <a:cs typeface="Arial"/>
                <a:sym typeface="Arial"/>
              </a:rPr>
              <a:t>th</a:t>
            </a:r>
            <a:r>
              <a:rPr lang="en-CH" sz="2000">
                <a:solidFill>
                  <a:schemeClr val="dk1"/>
                </a:solidFill>
                <a:latin typeface="Arial"/>
                <a:ea typeface="Arial"/>
                <a:cs typeface="Arial"/>
                <a:sym typeface="Arial"/>
              </a:rPr>
              <a:t> Century CE.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Let’s learn more about it…</a:t>
            </a:r>
            <a:endParaRPr sz="2000">
              <a:solidFill>
                <a:schemeClr val="dk1"/>
              </a:solidFill>
              <a:latin typeface="Arial"/>
              <a:ea typeface="Arial"/>
              <a:cs typeface="Arial"/>
              <a:sym typeface="Arial"/>
            </a:endParaRPr>
          </a:p>
        </p:txBody>
      </p:sp>
      <p:sp>
        <p:nvSpPr>
          <p:cNvPr id="197" name="Google Shape;197;p6"/>
          <p:cNvSpPr txBox="1"/>
          <p:nvPr/>
        </p:nvSpPr>
        <p:spPr>
          <a:xfrm>
            <a:off x="199599" y="6391905"/>
            <a:ext cx="28253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 @Archeotech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A close-up of a stone wall&#10;&#10;Description automatically generated" id="203" name="Google Shape;203;p7"/>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204" name="Google Shape;204;p7"/>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205" name="Google Shape;205;p7"/>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206" name="Google Shape;206;p7"/>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207" name="Google Shape;207;p7"/>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7"/>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209" name="Google Shape;209;p7"/>
          <p:cNvGrpSpPr/>
          <p:nvPr/>
        </p:nvGrpSpPr>
        <p:grpSpPr>
          <a:xfrm>
            <a:off x="309286" y="1033756"/>
            <a:ext cx="11527514" cy="5738181"/>
            <a:chOff x="249717" y="981719"/>
            <a:chExt cx="11527514" cy="5738181"/>
          </a:xfrm>
        </p:grpSpPr>
        <p:sp>
          <p:nvSpPr>
            <p:cNvPr id="210" name="Google Shape;210;p7"/>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211" name="Google Shape;211;p7"/>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7"/>
            <p:cNvSpPr txBox="1"/>
            <p:nvPr/>
          </p:nvSpPr>
          <p:spPr>
            <a:xfrm>
              <a:off x="6610121" y="1179922"/>
              <a:ext cx="4847216" cy="55399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400">
                  <a:solidFill>
                    <a:schemeClr val="dk1"/>
                  </a:solidFill>
                  <a:latin typeface="Arial"/>
                  <a:ea typeface="Arial"/>
                  <a:cs typeface="Arial"/>
                  <a:sym typeface="Arial"/>
                </a:rPr>
                <a:t>Molasse Grise de Lausanne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It is a molassic sandstone from Lausanne and was placed in the Cathedral in the 12</a:t>
              </a:r>
              <a:r>
                <a:rPr baseline="30000" lang="en-CH" sz="2000">
                  <a:solidFill>
                    <a:schemeClr val="dk1"/>
                  </a:solidFill>
                  <a:latin typeface="Arial"/>
                  <a:ea typeface="Arial"/>
                  <a:cs typeface="Arial"/>
                  <a:sym typeface="Arial"/>
                </a:rPr>
                <a:t>th</a:t>
              </a:r>
              <a:r>
                <a:rPr lang="en-CH" sz="2000">
                  <a:solidFill>
                    <a:schemeClr val="dk1"/>
                  </a:solidFill>
                  <a:latin typeface="Arial"/>
                  <a:ea typeface="Arial"/>
                  <a:cs typeface="Arial"/>
                  <a:sym typeface="Arial"/>
                </a:rPr>
                <a:t> Century CE (Gothic period).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It is a type of sedimentary stone which is predominant on the south tower of the Transept. This sandstone most likely came from the nearby quarries.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This stone is particularly sensitive to water due to the presence of swelling clays.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MORE INFORMATION &gt;</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pic>
        <p:nvPicPr>
          <p:cNvPr descr="A close-up of a stone building&#10;&#10;Description automatically generated" id="213" name="Google Shape;213;p7"/>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214" name="Google Shape;214;p7"/>
          <p:cNvSpPr/>
          <p:nvPr/>
        </p:nvSpPr>
        <p:spPr>
          <a:xfrm>
            <a:off x="3778512" y="3019735"/>
            <a:ext cx="536549" cy="136026"/>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7"/>
          <p:cNvSpPr/>
          <p:nvPr/>
        </p:nvSpPr>
        <p:spPr>
          <a:xfrm>
            <a:off x="1859028" y="5320145"/>
            <a:ext cx="392965" cy="181369"/>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7"/>
          <p:cNvSpPr/>
          <p:nvPr/>
        </p:nvSpPr>
        <p:spPr>
          <a:xfrm>
            <a:off x="1806129" y="4995193"/>
            <a:ext cx="309838"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7"/>
          <p:cNvSpPr/>
          <p:nvPr/>
        </p:nvSpPr>
        <p:spPr>
          <a:xfrm>
            <a:off x="1933815" y="4822198"/>
            <a:ext cx="309838"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7"/>
          <p:cNvSpPr/>
          <p:nvPr/>
        </p:nvSpPr>
        <p:spPr>
          <a:xfrm>
            <a:off x="1859028" y="4669798"/>
            <a:ext cx="281652"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7"/>
          <p:cNvSpPr/>
          <p:nvPr/>
        </p:nvSpPr>
        <p:spPr>
          <a:xfrm>
            <a:off x="2934066" y="5101843"/>
            <a:ext cx="595848" cy="21830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7"/>
          <p:cNvSpPr/>
          <p:nvPr/>
        </p:nvSpPr>
        <p:spPr>
          <a:xfrm>
            <a:off x="2802260" y="5320145"/>
            <a:ext cx="595848" cy="18535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7"/>
          <p:cNvSpPr/>
          <p:nvPr/>
        </p:nvSpPr>
        <p:spPr>
          <a:xfrm>
            <a:off x="2814616" y="4819135"/>
            <a:ext cx="805913" cy="270351"/>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7"/>
          <p:cNvSpPr/>
          <p:nvPr/>
        </p:nvSpPr>
        <p:spPr>
          <a:xfrm>
            <a:off x="2736357" y="4707926"/>
            <a:ext cx="950075" cy="11121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7"/>
          <p:cNvSpPr/>
          <p:nvPr/>
        </p:nvSpPr>
        <p:spPr>
          <a:xfrm>
            <a:off x="4315061" y="5166358"/>
            <a:ext cx="351674" cy="13731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7"/>
          <p:cNvSpPr/>
          <p:nvPr/>
        </p:nvSpPr>
        <p:spPr>
          <a:xfrm>
            <a:off x="4186097" y="4819135"/>
            <a:ext cx="406498" cy="15240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7"/>
          <p:cNvSpPr/>
          <p:nvPr/>
        </p:nvSpPr>
        <p:spPr>
          <a:xfrm>
            <a:off x="4301427" y="4707925"/>
            <a:ext cx="536548" cy="11121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7"/>
          <p:cNvSpPr txBox="1"/>
          <p:nvPr/>
        </p:nvSpPr>
        <p:spPr>
          <a:xfrm>
            <a:off x="199599" y="6391905"/>
            <a:ext cx="28253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 @Archeotech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A close-up of a stone wall&#10;&#10;Description automatically generated" id="232" name="Google Shape;232;p8"/>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233" name="Google Shape;233;p8"/>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234" name="Google Shape;234;p8"/>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235" name="Google Shape;235;p8"/>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236" name="Google Shape;236;p8"/>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7" name="Google Shape;237;p8"/>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238" name="Google Shape;238;p8"/>
          <p:cNvGrpSpPr/>
          <p:nvPr/>
        </p:nvGrpSpPr>
        <p:grpSpPr>
          <a:xfrm>
            <a:off x="309286" y="1033756"/>
            <a:ext cx="11527514" cy="5184183"/>
            <a:chOff x="249717" y="981719"/>
            <a:chExt cx="11527514" cy="5184183"/>
          </a:xfrm>
        </p:grpSpPr>
        <p:sp>
          <p:nvSpPr>
            <p:cNvPr id="239" name="Google Shape;239;p8"/>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240" name="Google Shape;240;p8"/>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8"/>
            <p:cNvSpPr txBox="1"/>
            <p:nvPr/>
          </p:nvSpPr>
          <p:spPr>
            <a:xfrm>
              <a:off x="6610121" y="1179922"/>
              <a:ext cx="4847216" cy="49859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400">
                  <a:solidFill>
                    <a:schemeClr val="dk1"/>
                  </a:solidFill>
                  <a:latin typeface="Arial"/>
                  <a:ea typeface="Arial"/>
                  <a:cs typeface="Arial"/>
                  <a:sym typeface="Arial"/>
                </a:rPr>
                <a:t>Molasse Grise de Lausanne</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&lt; CLICK TO LEARN ABOUT MOLASSE SANDSTONE&gt;</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pic>
        <p:nvPicPr>
          <p:cNvPr descr="A close-up of a stone building&#10;&#10;Description automatically generated" id="242" name="Google Shape;242;p8"/>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243" name="Google Shape;243;p8"/>
          <p:cNvSpPr/>
          <p:nvPr/>
        </p:nvSpPr>
        <p:spPr>
          <a:xfrm>
            <a:off x="3778512" y="3019735"/>
            <a:ext cx="536549" cy="136026"/>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8"/>
          <p:cNvSpPr/>
          <p:nvPr/>
        </p:nvSpPr>
        <p:spPr>
          <a:xfrm>
            <a:off x="1859028" y="5320145"/>
            <a:ext cx="392965" cy="181369"/>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 name="Google Shape;245;p8"/>
          <p:cNvSpPr/>
          <p:nvPr/>
        </p:nvSpPr>
        <p:spPr>
          <a:xfrm>
            <a:off x="1806129" y="4995193"/>
            <a:ext cx="309838"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8"/>
          <p:cNvSpPr/>
          <p:nvPr/>
        </p:nvSpPr>
        <p:spPr>
          <a:xfrm>
            <a:off x="1933815" y="4822198"/>
            <a:ext cx="309838"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8"/>
          <p:cNvSpPr/>
          <p:nvPr/>
        </p:nvSpPr>
        <p:spPr>
          <a:xfrm>
            <a:off x="1859028" y="4669798"/>
            <a:ext cx="281652" cy="149337"/>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8"/>
          <p:cNvSpPr/>
          <p:nvPr/>
        </p:nvSpPr>
        <p:spPr>
          <a:xfrm>
            <a:off x="2934066" y="5101843"/>
            <a:ext cx="595848" cy="21830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8"/>
          <p:cNvSpPr/>
          <p:nvPr/>
        </p:nvSpPr>
        <p:spPr>
          <a:xfrm>
            <a:off x="2802260" y="5320145"/>
            <a:ext cx="595848" cy="18535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 name="Google Shape;250;p8"/>
          <p:cNvSpPr/>
          <p:nvPr/>
        </p:nvSpPr>
        <p:spPr>
          <a:xfrm>
            <a:off x="2814616" y="4819135"/>
            <a:ext cx="805913" cy="270351"/>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1" name="Google Shape;251;p8"/>
          <p:cNvSpPr/>
          <p:nvPr/>
        </p:nvSpPr>
        <p:spPr>
          <a:xfrm>
            <a:off x="2736357" y="4707926"/>
            <a:ext cx="950075" cy="11121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8"/>
          <p:cNvSpPr/>
          <p:nvPr/>
        </p:nvSpPr>
        <p:spPr>
          <a:xfrm>
            <a:off x="4315061" y="5166358"/>
            <a:ext cx="351674" cy="137312"/>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 name="Google Shape;253;p8"/>
          <p:cNvSpPr/>
          <p:nvPr/>
        </p:nvSpPr>
        <p:spPr>
          <a:xfrm>
            <a:off x="4186097" y="4819135"/>
            <a:ext cx="406498" cy="15240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8"/>
          <p:cNvSpPr/>
          <p:nvPr/>
        </p:nvSpPr>
        <p:spPr>
          <a:xfrm>
            <a:off x="4301427" y="4707925"/>
            <a:ext cx="536548" cy="111210"/>
          </a:xfrm>
          <a:prstGeom prst="rect">
            <a:avLst/>
          </a:prstGeom>
          <a:solidFill>
            <a:srgbClr val="C00000">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55" name="Google Shape;255;p8"/>
          <p:cNvPicPr preferRelativeResize="0"/>
          <p:nvPr/>
        </p:nvPicPr>
        <p:blipFill rotWithShape="1">
          <a:blip r:embed="rId5">
            <a:alphaModFix/>
          </a:blip>
          <a:srcRect b="0" l="0" r="0" t="0"/>
          <a:stretch/>
        </p:blipFill>
        <p:spPr>
          <a:xfrm>
            <a:off x="7149466" y="2137129"/>
            <a:ext cx="3073400" cy="2642183"/>
          </a:xfrm>
          <a:prstGeom prst="rect">
            <a:avLst/>
          </a:prstGeom>
          <a:noFill/>
          <a:ln>
            <a:noFill/>
          </a:ln>
        </p:spPr>
      </p:pic>
      <p:sp>
        <p:nvSpPr>
          <p:cNvPr id="256" name="Google Shape;256;p8"/>
          <p:cNvSpPr/>
          <p:nvPr/>
        </p:nvSpPr>
        <p:spPr>
          <a:xfrm rot="1900040">
            <a:off x="9778844" y="4363003"/>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8"/>
          <p:cNvSpPr txBox="1"/>
          <p:nvPr/>
        </p:nvSpPr>
        <p:spPr>
          <a:xfrm>
            <a:off x="199599" y="6391905"/>
            <a:ext cx="28253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 @Archeotech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A close-up of a stone wall&#10;&#10;Description automatically generated" id="263" name="Google Shape;263;p9"/>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264" name="Google Shape;264;p9"/>
          <p:cNvSpPr txBox="1"/>
          <p:nvPr/>
        </p:nvSpPr>
        <p:spPr>
          <a:xfrm>
            <a:off x="393699" y="443110"/>
            <a:ext cx="44240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265" name="Google Shape;265;p9"/>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266" name="Google Shape;266;p9"/>
          <p:cNvSpPr txBox="1"/>
          <p:nvPr/>
        </p:nvSpPr>
        <p:spPr>
          <a:xfrm>
            <a:off x="393699" y="1467208"/>
            <a:ext cx="5854340" cy="4771870"/>
          </a:xfrm>
          <a:prstGeom prst="rect">
            <a:avLst/>
          </a:prstGeom>
          <a:solidFill>
            <a:schemeClr val="lt1">
              <a:alpha val="80000"/>
            </a:schemeClr>
          </a:solidFill>
          <a:ln>
            <a:noFill/>
          </a:ln>
        </p:spPr>
        <p:txBody>
          <a:bodyPr anchorCtr="0" anchor="t" bIns="45700" lIns="216000" spcFirstLastPara="1" rIns="216000" wrap="square" tIns="108000">
            <a:spAutoFit/>
          </a:bodyPr>
          <a:lstStyle/>
          <a:p>
            <a:pPr indent="457200" lvl="0" marL="0" marR="0" rtl="0" algn="just">
              <a:spcBef>
                <a:spcPts val="0"/>
              </a:spcBef>
              <a:spcAft>
                <a:spcPts val="0"/>
              </a:spcAft>
              <a:buNone/>
            </a:pPr>
            <a:r>
              <a:rPr lang="en-CH" sz="1800">
                <a:solidFill>
                  <a:schemeClr val="dk1"/>
                </a:solidFill>
                <a:latin typeface="Arial"/>
                <a:ea typeface="Arial"/>
                <a:cs typeface="Arial"/>
                <a:sym typeface="Arial"/>
              </a:rPr>
              <a:t>The Swiss Molasse rock formation stretches north of the Alps from the Lake Léman region in the west of Switzerland to the Constance Lake in the east. It comprises a variety of calcite-bound sandstones, which can contain swelling clays. As part of this formation, the “Molasse grise de Lausanne” was extracted right outside the medieval city center and employed to erect the Lausanne Cathedral. </a:t>
            </a:r>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Over the centuries, sandstones of the same typology were brought in from different local quarries distributed around the medieval centre and employed for modification and maintenance works at the Cathedral. </a:t>
            </a:r>
            <a:endParaRPr/>
          </a:p>
          <a:p>
            <a:pPr indent="457200" lvl="0" marL="0" marR="0" rtl="0" algn="just">
              <a:spcBef>
                <a:spcPts val="120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&lt; CONTINUE &gt;</a:t>
            </a:r>
            <a:endParaRPr/>
          </a:p>
        </p:txBody>
      </p:sp>
      <p:grpSp>
        <p:nvGrpSpPr>
          <p:cNvPr id="267" name="Google Shape;267;p9"/>
          <p:cNvGrpSpPr/>
          <p:nvPr/>
        </p:nvGrpSpPr>
        <p:grpSpPr>
          <a:xfrm>
            <a:off x="7102796" y="1886150"/>
            <a:ext cx="4500237" cy="922367"/>
            <a:chOff x="6450180" y="687439"/>
            <a:chExt cx="4500237" cy="922367"/>
          </a:xfrm>
        </p:grpSpPr>
        <p:sp>
          <p:nvSpPr>
            <p:cNvPr id="268" name="Google Shape;268;p9"/>
            <p:cNvSpPr/>
            <p:nvPr/>
          </p:nvSpPr>
          <p:spPr>
            <a:xfrm>
              <a:off x="6450180" y="687439"/>
              <a:ext cx="4500237" cy="922367"/>
            </a:xfrm>
            <a:prstGeom prst="roundRect">
              <a:avLst>
                <a:gd fmla="val 50000" name="adj"/>
              </a:avLst>
            </a:prstGeom>
            <a:solidFill>
              <a:schemeClr val="lt1">
                <a:alpha val="6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 name="Google Shape;269;p9"/>
            <p:cNvSpPr txBox="1"/>
            <p:nvPr/>
          </p:nvSpPr>
          <p:spPr>
            <a:xfrm>
              <a:off x="7655258" y="957434"/>
              <a:ext cx="27696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Geologicial information</a:t>
              </a:r>
              <a:endParaRPr/>
            </a:p>
          </p:txBody>
        </p:sp>
        <p:pic>
          <p:nvPicPr>
            <p:cNvPr descr="Dolomite (Mineral) - an overview | ScienceDirect Topics" id="270" name="Google Shape;270;p9"/>
            <p:cNvPicPr preferRelativeResize="0"/>
            <p:nvPr/>
          </p:nvPicPr>
          <p:blipFill rotWithShape="1">
            <a:blip r:embed="rId4">
              <a:alphaModFix/>
            </a:blip>
            <a:srcRect b="50000" l="52012" r="0" t="6685"/>
            <a:stretch/>
          </p:blipFill>
          <p:spPr>
            <a:xfrm>
              <a:off x="6734666" y="838353"/>
              <a:ext cx="691631" cy="660092"/>
            </a:xfrm>
            <a:prstGeom prst="ellipse">
              <a:avLst/>
            </a:prstGeom>
            <a:noFill/>
            <a:ln>
              <a:noFill/>
            </a:ln>
          </p:spPr>
        </p:pic>
      </p:grpSp>
      <p:grpSp>
        <p:nvGrpSpPr>
          <p:cNvPr id="271" name="Google Shape;271;p9"/>
          <p:cNvGrpSpPr/>
          <p:nvPr/>
        </p:nvGrpSpPr>
        <p:grpSpPr>
          <a:xfrm>
            <a:off x="7129618" y="2928780"/>
            <a:ext cx="4500237" cy="922367"/>
            <a:chOff x="6477002" y="1781585"/>
            <a:chExt cx="4500237" cy="922367"/>
          </a:xfrm>
        </p:grpSpPr>
        <p:sp>
          <p:nvSpPr>
            <p:cNvPr id="272" name="Google Shape;272;p9"/>
            <p:cNvSpPr/>
            <p:nvPr/>
          </p:nvSpPr>
          <p:spPr>
            <a:xfrm>
              <a:off x="6477002" y="1781585"/>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3" name="Google Shape;273;p9"/>
            <p:cNvSpPr txBox="1"/>
            <p:nvPr/>
          </p:nvSpPr>
          <p:spPr>
            <a:xfrm>
              <a:off x="7682080" y="2051580"/>
              <a:ext cx="25783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Properties of Molasse</a:t>
              </a:r>
              <a:endParaRPr/>
            </a:p>
          </p:txBody>
        </p:sp>
        <p:pic>
          <p:nvPicPr>
            <p:cNvPr descr="Freezing - Free weather icons" id="274" name="Google Shape;274;p9"/>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275" name="Google Shape;275;p9"/>
          <p:cNvGrpSpPr/>
          <p:nvPr/>
        </p:nvGrpSpPr>
        <p:grpSpPr>
          <a:xfrm>
            <a:off x="7129617" y="3998703"/>
            <a:ext cx="4500237" cy="922367"/>
            <a:chOff x="6477001" y="2851508"/>
            <a:chExt cx="4500237" cy="922367"/>
          </a:xfrm>
        </p:grpSpPr>
        <p:sp>
          <p:nvSpPr>
            <p:cNvPr id="276" name="Google Shape;276;p9"/>
            <p:cNvSpPr/>
            <p:nvPr/>
          </p:nvSpPr>
          <p:spPr>
            <a:xfrm>
              <a:off x="6477001" y="2851508"/>
              <a:ext cx="4500237" cy="922367"/>
            </a:xfrm>
            <a:prstGeom prst="roundRect">
              <a:avLst>
                <a:gd fmla="val 50000" name="adj"/>
              </a:avLst>
            </a:prstGeom>
            <a:solidFill>
              <a:schemeClr val="lt1">
                <a:alpha val="6666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 name="Google Shape;277;p9"/>
            <p:cNvSpPr txBox="1"/>
            <p:nvPr/>
          </p:nvSpPr>
          <p:spPr>
            <a:xfrm>
              <a:off x="7580479" y="3141967"/>
              <a:ext cx="251152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Types of Stones used</a:t>
              </a:r>
              <a:endParaRPr/>
            </a:p>
          </p:txBody>
        </p:sp>
        <p:pic>
          <p:nvPicPr>
            <p:cNvPr descr="Swelling of montmorillonite clay in water. | Download Scientific Diagram" id="278" name="Google Shape;278;p9"/>
            <p:cNvPicPr preferRelativeResize="0"/>
            <p:nvPr/>
          </p:nvPicPr>
          <p:blipFill rotWithShape="1">
            <a:blip r:embed="rId6">
              <a:alphaModFix/>
            </a:blip>
            <a:srcRect b="17368" l="59753" r="12469" t="22832"/>
            <a:stretch/>
          </p:blipFill>
          <p:spPr>
            <a:xfrm>
              <a:off x="6814006" y="3063546"/>
              <a:ext cx="548003" cy="503931"/>
            </a:xfrm>
            <a:prstGeom prst="rect">
              <a:avLst/>
            </a:prstGeom>
            <a:noFill/>
            <a:ln>
              <a:noFill/>
            </a:ln>
          </p:spPr>
        </p:pic>
      </p:grpSp>
      <p:grpSp>
        <p:nvGrpSpPr>
          <p:cNvPr id="279" name="Google Shape;279;p9"/>
          <p:cNvGrpSpPr/>
          <p:nvPr/>
        </p:nvGrpSpPr>
        <p:grpSpPr>
          <a:xfrm>
            <a:off x="7129616" y="5052292"/>
            <a:ext cx="4500237" cy="922367"/>
            <a:chOff x="6477000" y="3956613"/>
            <a:chExt cx="4500237" cy="922367"/>
          </a:xfrm>
        </p:grpSpPr>
        <p:sp>
          <p:nvSpPr>
            <p:cNvPr id="280" name="Google Shape;280;p9"/>
            <p:cNvSpPr/>
            <p:nvPr/>
          </p:nvSpPr>
          <p:spPr>
            <a:xfrm>
              <a:off x="6477000" y="3956613"/>
              <a:ext cx="4500237" cy="922367"/>
            </a:xfrm>
            <a:prstGeom prst="roundRect">
              <a:avLst>
                <a:gd fmla="val 50000" name="adj"/>
              </a:avLst>
            </a:prstGeom>
            <a:solidFill>
              <a:schemeClr val="lt1">
                <a:alpha val="69019"/>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 name="Google Shape;281;p9"/>
            <p:cNvSpPr txBox="1"/>
            <p:nvPr/>
          </p:nvSpPr>
          <p:spPr>
            <a:xfrm>
              <a:off x="7580479" y="4226608"/>
              <a:ext cx="185672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Interactive tour</a:t>
              </a:r>
              <a:endParaRPr/>
            </a:p>
          </p:txBody>
        </p:sp>
      </p:grpSp>
      <p:pic>
        <p:nvPicPr>
          <p:cNvPr descr="Online Virtual Tour Icon - Free Download Science &amp; Technology Icons |  IconScout" id="282" name="Google Shape;282;p9"/>
          <p:cNvPicPr preferRelativeResize="0"/>
          <p:nvPr/>
        </p:nvPicPr>
        <p:blipFill rotWithShape="1">
          <a:blip r:embed="rId7">
            <a:alphaModFix/>
          </a:blip>
          <a:srcRect b="0" l="0" r="0" t="0"/>
          <a:stretch/>
        </p:blipFill>
        <p:spPr>
          <a:xfrm>
            <a:off x="7416505" y="5196466"/>
            <a:ext cx="664265" cy="664265"/>
          </a:xfrm>
          <a:prstGeom prst="rect">
            <a:avLst/>
          </a:prstGeom>
          <a:noFill/>
          <a:ln>
            <a:noFill/>
          </a:ln>
        </p:spPr>
      </p:pic>
      <p:sp>
        <p:nvSpPr>
          <p:cNvPr id="283" name="Google Shape;283;p9"/>
          <p:cNvSpPr/>
          <p:nvPr/>
        </p:nvSpPr>
        <p:spPr>
          <a:xfrm rot="1077042">
            <a:off x="11665328" y="2203445"/>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9"/>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descr="Swelling of montmorillonite clay in water. | Download Scientific Diagram" id="285" name="Google Shape;285;p9"/>
          <p:cNvPicPr preferRelativeResize="0"/>
          <p:nvPr/>
        </p:nvPicPr>
        <p:blipFill rotWithShape="1">
          <a:blip r:embed="rId6">
            <a:alphaModFix/>
          </a:blip>
          <a:srcRect b="17368" l="59753" r="12469" t="22832"/>
          <a:stretch/>
        </p:blipFill>
        <p:spPr>
          <a:xfrm>
            <a:off x="453603" y="562905"/>
            <a:ext cx="394092" cy="3623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A close-up of a stone wall&#10;&#10;Description automatically generated" id="291" name="Google Shape;291;p10"/>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292" name="Google Shape;292;p10"/>
          <p:cNvSpPr txBox="1"/>
          <p:nvPr/>
        </p:nvSpPr>
        <p:spPr>
          <a:xfrm>
            <a:off x="393699" y="198203"/>
            <a:ext cx="4372800" cy="1077218"/>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Geological information </a:t>
            </a:r>
            <a:endParaRPr b="1" sz="3200">
              <a:solidFill>
                <a:schemeClr val="dk1"/>
              </a:solidFill>
              <a:latin typeface="Arial"/>
              <a:ea typeface="Arial"/>
              <a:cs typeface="Arial"/>
              <a:sym typeface="Arial"/>
            </a:endParaRPr>
          </a:p>
        </p:txBody>
      </p:sp>
      <p:sp>
        <p:nvSpPr>
          <p:cNvPr id="293" name="Google Shape;293;p10"/>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294" name="Google Shape;294;p10"/>
          <p:cNvSpPr txBox="1"/>
          <p:nvPr/>
        </p:nvSpPr>
        <p:spPr>
          <a:xfrm>
            <a:off x="393699" y="1467208"/>
            <a:ext cx="5854340" cy="4771870"/>
          </a:xfrm>
          <a:prstGeom prst="rect">
            <a:avLst/>
          </a:prstGeom>
          <a:solidFill>
            <a:schemeClr val="lt1">
              <a:alpha val="80000"/>
            </a:schemeClr>
          </a:solidFill>
          <a:ln>
            <a:noFill/>
          </a:ln>
        </p:spPr>
        <p:txBody>
          <a:bodyPr anchorCtr="0" anchor="t" bIns="45700" lIns="216000" spcFirstLastPara="1" rIns="216000" wrap="square" tIns="108000">
            <a:spAutoFit/>
          </a:bodyPr>
          <a:lstStyle/>
          <a:p>
            <a:pPr indent="0" lvl="0" marL="0" marR="0" rtl="0" algn="just">
              <a:spcBef>
                <a:spcPts val="0"/>
              </a:spcBef>
              <a:spcAft>
                <a:spcPts val="0"/>
              </a:spcAft>
              <a:buNone/>
            </a:pPr>
            <a:r>
              <a:rPr lang="en-CH" sz="1800">
                <a:solidFill>
                  <a:schemeClr val="dk1"/>
                </a:solidFill>
                <a:latin typeface="Arial"/>
                <a:ea typeface="Arial"/>
                <a:cs typeface="Arial"/>
                <a:sym typeface="Arial"/>
              </a:rPr>
              <a:t>The geology of Switzerland covers the Central Alps, a segment of the Alpine chain located between the Western Alps of France and Italy and the Eastern Alps of Italy, Austria and Germany. In this segment the Alpine chain is particularly narrow, yet it contains all the major tectonic units and exhibits landmark landscapes and landforms for which the Alps are known.</a:t>
            </a:r>
            <a:endParaRPr/>
          </a:p>
          <a:p>
            <a:pPr indent="0" lvl="0" marL="0" marR="0" rtl="0" algn="just">
              <a:spcBef>
                <a:spcPts val="1200"/>
              </a:spcBef>
              <a:spcAft>
                <a:spcPts val="0"/>
              </a:spcAft>
              <a:buNone/>
            </a:pPr>
            <a:r>
              <a:rPr lang="en-CH" sz="1800">
                <a:solidFill>
                  <a:schemeClr val="dk1"/>
                </a:solidFill>
                <a:latin typeface="Arial"/>
                <a:ea typeface="Arial"/>
                <a:cs typeface="Arial"/>
                <a:sym typeface="Arial"/>
              </a:rPr>
              <a:t>To the north, the Swiss Plateau extends from Lake Geneva to Bern, Zürich, and Lake Constance tapering off from around 600 to 400 m a.s.l. This plateau corresponds to what is called the </a:t>
            </a:r>
            <a:r>
              <a:rPr b="1" lang="en-CH" sz="1800">
                <a:solidFill>
                  <a:schemeClr val="dk1"/>
                </a:solidFill>
                <a:latin typeface="Arial"/>
                <a:ea typeface="Arial"/>
                <a:cs typeface="Arial"/>
                <a:sym typeface="Arial"/>
              </a:rPr>
              <a:t>Molasse Basin.</a:t>
            </a:r>
            <a:endParaRPr/>
          </a:p>
          <a:p>
            <a:pPr indent="0" lvl="0" marL="0" marR="0" rtl="0" algn="just">
              <a:spcBef>
                <a:spcPts val="1200"/>
              </a:spcBef>
              <a:spcAft>
                <a:spcPts val="0"/>
              </a:spcAft>
              <a:buNone/>
            </a:pPr>
            <a:r>
              <a:rPr lang="en-CH" sz="1800">
                <a:solidFill>
                  <a:schemeClr val="dk1"/>
                </a:solidFill>
                <a:latin typeface="Arial"/>
                <a:ea typeface="Arial"/>
                <a:cs typeface="Arial"/>
                <a:sym typeface="Arial"/>
              </a:rPr>
              <a:t>Click on the map to learn more about the different Molasse, the quarries and their characteristics </a:t>
            </a:r>
            <a:endParaRPr sz="1800">
              <a:solidFill>
                <a:schemeClr val="dk1"/>
              </a:solidFill>
              <a:latin typeface="Arial"/>
              <a:ea typeface="Arial"/>
              <a:cs typeface="Arial"/>
              <a:sym typeface="Arial"/>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&lt; CONTINUE &gt;</a:t>
            </a:r>
            <a:endParaRPr/>
          </a:p>
        </p:txBody>
      </p:sp>
      <p:sp>
        <p:nvSpPr>
          <p:cNvPr id="295" name="Google Shape;295;p10"/>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descr="Dolomite (Mineral) - an overview | ScienceDirect Topics" id="296" name="Google Shape;296;p10"/>
          <p:cNvPicPr preferRelativeResize="0"/>
          <p:nvPr/>
        </p:nvPicPr>
        <p:blipFill rotWithShape="1">
          <a:blip r:embed="rId4">
            <a:alphaModFix/>
          </a:blip>
          <a:srcRect b="50000" l="52012" r="0" t="6685"/>
          <a:stretch/>
        </p:blipFill>
        <p:spPr>
          <a:xfrm>
            <a:off x="673099" y="687521"/>
            <a:ext cx="576069" cy="549800"/>
          </a:xfrm>
          <a:prstGeom prst="ellipse">
            <a:avLst/>
          </a:prstGeom>
          <a:solidFill>
            <a:schemeClr val="lt1">
              <a:alpha val="67843"/>
            </a:schemeClr>
          </a:solidFill>
          <a:ln>
            <a:noFill/>
          </a:ln>
        </p:spPr>
      </p:pic>
      <p:pic>
        <p:nvPicPr>
          <p:cNvPr descr="A map of switzerland with rivers and mountains&#10;&#10;Description automatically generated" id="297" name="Google Shape;297;p10"/>
          <p:cNvPicPr preferRelativeResize="0"/>
          <p:nvPr/>
        </p:nvPicPr>
        <p:blipFill rotWithShape="1">
          <a:blip r:embed="rId5">
            <a:alphaModFix amt="85000"/>
          </a:blip>
          <a:srcRect b="0" l="0" r="0" t="0"/>
          <a:stretch/>
        </p:blipFill>
        <p:spPr>
          <a:xfrm>
            <a:off x="6501783" y="2092960"/>
            <a:ext cx="5296517" cy="3357992"/>
          </a:xfrm>
          <a:prstGeom prst="rect">
            <a:avLst/>
          </a:prstGeom>
          <a:noFill/>
          <a:ln>
            <a:noFill/>
          </a:ln>
        </p:spPr>
      </p:pic>
      <p:pic>
        <p:nvPicPr>
          <p:cNvPr descr="A blue object with black background&#10;&#10;Description automatically generated" id="298" name="Google Shape;298;p10"/>
          <p:cNvPicPr preferRelativeResize="0"/>
          <p:nvPr/>
        </p:nvPicPr>
        <p:blipFill rotWithShape="1">
          <a:blip r:embed="rId6">
            <a:alphaModFix/>
          </a:blip>
          <a:srcRect b="0" l="0" r="0" t="0"/>
          <a:stretch/>
        </p:blipFill>
        <p:spPr>
          <a:xfrm>
            <a:off x="6480161" y="2092960"/>
            <a:ext cx="5440745" cy="34494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A close-up of a stone wall&#10;&#10;Description automatically generated" id="304" name="Google Shape;304;p11"/>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305" name="Google Shape;305;p11"/>
          <p:cNvSpPr txBox="1"/>
          <p:nvPr/>
        </p:nvSpPr>
        <p:spPr>
          <a:xfrm>
            <a:off x="393699" y="198203"/>
            <a:ext cx="38902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306" name="Google Shape;306;p11"/>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307" name="Google Shape;307;p11"/>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308" name="Google Shape;308;p11"/>
          <p:cNvSpPr/>
          <p:nvPr/>
        </p:nvSpPr>
        <p:spPr>
          <a:xfrm>
            <a:off x="259796" y="958525"/>
            <a:ext cx="11386697" cy="5242667"/>
          </a:xfrm>
          <a:prstGeom prst="rect">
            <a:avLst/>
          </a:prstGeom>
          <a:solidFill>
            <a:srgbClr val="E3E3E3"/>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09" name="Google Shape;309;p11"/>
          <p:cNvGrpSpPr/>
          <p:nvPr/>
        </p:nvGrpSpPr>
        <p:grpSpPr>
          <a:xfrm>
            <a:off x="117922" y="1004691"/>
            <a:ext cx="7155181" cy="4476358"/>
            <a:chOff x="6234951" y="1937496"/>
            <a:chExt cx="5685956" cy="3604896"/>
          </a:xfrm>
        </p:grpSpPr>
        <p:pic>
          <p:nvPicPr>
            <p:cNvPr descr="A map of switzerland with rivers and mountains&#10;&#10;Description automatically generated" id="310" name="Google Shape;310;p11"/>
            <p:cNvPicPr preferRelativeResize="0"/>
            <p:nvPr/>
          </p:nvPicPr>
          <p:blipFill rotWithShape="1">
            <a:blip r:embed="rId4">
              <a:alphaModFix amt="85000"/>
            </a:blip>
            <a:srcRect b="0" l="0" r="0" t="0"/>
            <a:stretch/>
          </p:blipFill>
          <p:spPr>
            <a:xfrm>
              <a:off x="6357557" y="2001520"/>
              <a:ext cx="5440744" cy="3449432"/>
            </a:xfrm>
            <a:prstGeom prst="rect">
              <a:avLst/>
            </a:prstGeom>
            <a:noFill/>
            <a:ln>
              <a:noFill/>
            </a:ln>
          </p:spPr>
        </p:pic>
        <p:pic>
          <p:nvPicPr>
            <p:cNvPr descr="A blue object with black background&#10;&#10;Description automatically generated" id="311" name="Google Shape;311;p11"/>
            <p:cNvPicPr preferRelativeResize="0"/>
            <p:nvPr/>
          </p:nvPicPr>
          <p:blipFill rotWithShape="1">
            <a:blip r:embed="rId5">
              <a:alphaModFix/>
            </a:blip>
            <a:srcRect b="0" l="0" r="0" t="0"/>
            <a:stretch/>
          </p:blipFill>
          <p:spPr>
            <a:xfrm>
              <a:off x="6234951" y="1937496"/>
              <a:ext cx="5685956" cy="3604896"/>
            </a:xfrm>
            <a:prstGeom prst="rect">
              <a:avLst/>
            </a:prstGeom>
            <a:noFill/>
            <a:ln>
              <a:noFill/>
            </a:ln>
          </p:spPr>
        </p:pic>
      </p:grpSp>
      <p:sp>
        <p:nvSpPr>
          <p:cNvPr id="312" name="Google Shape;312;p11"/>
          <p:cNvSpPr/>
          <p:nvPr/>
        </p:nvSpPr>
        <p:spPr>
          <a:xfrm>
            <a:off x="-1884680" y="3119272"/>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 name="Google Shape;313;p11"/>
          <p:cNvSpPr/>
          <p:nvPr/>
        </p:nvSpPr>
        <p:spPr>
          <a:xfrm>
            <a:off x="-1691640" y="3945619"/>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4" name="Google Shape;314;p11"/>
          <p:cNvSpPr txBox="1"/>
          <p:nvPr/>
        </p:nvSpPr>
        <p:spPr>
          <a:xfrm>
            <a:off x="7260690" y="1119966"/>
            <a:ext cx="415915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a:solidFill>
                  <a:schemeClr val="dk1"/>
                </a:solidFill>
                <a:latin typeface="Arial"/>
                <a:ea typeface="Arial"/>
                <a:cs typeface="Arial"/>
                <a:sym typeface="Arial"/>
              </a:rPr>
              <a:t>The Molasse facies result from the alteration and erosion of the Alps during the Alpine orogeny and are made up of sands of particle size variable (from fine to coarse), and of mineralogy also variable (quartz, feldspars, with more than  or less micas) cemented with calcite.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800">
                <a:solidFill>
                  <a:schemeClr val="dk1"/>
                </a:solidFill>
                <a:latin typeface="Arial"/>
                <a:ea typeface="Arial"/>
                <a:cs typeface="Arial"/>
                <a:sym typeface="Arial"/>
              </a:rPr>
              <a:t>The geological processes involved in the formation of the Molasse Basin date back to the Oligocene and Miocene eras.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CH" sz="1800" u="sng">
                <a:solidFill>
                  <a:schemeClr val="dk1"/>
                </a:solidFill>
                <a:latin typeface="Arial"/>
                <a:ea typeface="Arial"/>
                <a:cs typeface="Arial"/>
                <a:sym typeface="Arial"/>
              </a:rPr>
              <a:t>Four main groups</a:t>
            </a:r>
            <a:r>
              <a:rPr lang="en-CH" sz="1800" u="sng">
                <a:solidFill>
                  <a:schemeClr val="dk1"/>
                </a:solidFill>
                <a:latin typeface="Arial"/>
                <a:ea typeface="Arial"/>
                <a:cs typeface="Arial"/>
                <a:sym typeface="Arial"/>
              </a:rPr>
              <a:t> </a:t>
            </a:r>
            <a:r>
              <a:rPr lang="en-CH" sz="1800">
                <a:solidFill>
                  <a:schemeClr val="dk1"/>
                </a:solidFill>
                <a:latin typeface="Arial"/>
                <a:ea typeface="Arial"/>
                <a:cs typeface="Arial"/>
                <a:sym typeface="Arial"/>
              </a:rPr>
              <a:t>can be identified according to the sedimentation conditions involved (marine or freshwater condition).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5" name="Google Shape;315;p11"/>
          <p:cNvSpPr/>
          <p:nvPr/>
        </p:nvSpPr>
        <p:spPr>
          <a:xfrm>
            <a:off x="11289689" y="1004691"/>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6" name="Google Shape;316;p11"/>
          <p:cNvSpPr/>
          <p:nvPr/>
        </p:nvSpPr>
        <p:spPr>
          <a:xfrm>
            <a:off x="1216726" y="5622717"/>
            <a:ext cx="2388321" cy="461183"/>
          </a:xfrm>
          <a:prstGeom prst="roundRect">
            <a:avLst>
              <a:gd fmla="val 50000" name="adj"/>
            </a:avLst>
          </a:prstGeom>
          <a:solidFill>
            <a:schemeClr val="lt1">
              <a:alpha val="44705"/>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Show the quarries</a:t>
            </a:r>
            <a:endParaRPr sz="1800">
              <a:solidFill>
                <a:schemeClr val="dk1"/>
              </a:solidFill>
              <a:latin typeface="Arial"/>
              <a:ea typeface="Arial"/>
              <a:cs typeface="Arial"/>
              <a:sym typeface="Arial"/>
            </a:endParaRPr>
          </a:p>
        </p:txBody>
      </p:sp>
      <p:grpSp>
        <p:nvGrpSpPr>
          <p:cNvPr id="317" name="Google Shape;317;p11"/>
          <p:cNvGrpSpPr/>
          <p:nvPr/>
        </p:nvGrpSpPr>
        <p:grpSpPr>
          <a:xfrm>
            <a:off x="463756" y="1020609"/>
            <a:ext cx="6696484" cy="5102719"/>
            <a:chOff x="393721" y="1066805"/>
            <a:chExt cx="6696484" cy="5102719"/>
          </a:xfrm>
        </p:grpSpPr>
        <p:pic>
          <p:nvPicPr>
            <p:cNvPr id="318" name="Google Shape;318;p11"/>
            <p:cNvPicPr preferRelativeResize="0"/>
            <p:nvPr/>
          </p:nvPicPr>
          <p:blipFill rotWithShape="1">
            <a:blip r:embed="rId6">
              <a:alphaModFix/>
            </a:blip>
            <a:srcRect b="0" l="0" r="0" t="0"/>
            <a:stretch/>
          </p:blipFill>
          <p:spPr>
            <a:xfrm>
              <a:off x="393721" y="1066805"/>
              <a:ext cx="6642486" cy="5102719"/>
            </a:xfrm>
            <a:prstGeom prst="rect">
              <a:avLst/>
            </a:prstGeom>
            <a:noFill/>
            <a:ln>
              <a:noFill/>
            </a:ln>
          </p:spPr>
        </p:pic>
        <p:sp>
          <p:nvSpPr>
            <p:cNvPr id="319" name="Google Shape;319;p11"/>
            <p:cNvSpPr/>
            <p:nvPr/>
          </p:nvSpPr>
          <p:spPr>
            <a:xfrm>
              <a:off x="6793062" y="1169425"/>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20" name="Google Shape;320;p11"/>
          <p:cNvSpPr/>
          <p:nvPr/>
        </p:nvSpPr>
        <p:spPr>
          <a:xfrm rot="1077042">
            <a:off x="3594517" y="5712718"/>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1" name="Google Shape;321;p11"/>
          <p:cNvSpPr/>
          <p:nvPr/>
        </p:nvSpPr>
        <p:spPr>
          <a:xfrm rot="1077042">
            <a:off x="9247948" y="5028861"/>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17"/>
                                        </p:tgtEl>
                                      </p:cBhvr>
                                    </p:animEffect>
                                    <p:set>
                                      <p:cBhvr>
                                        <p:cTn dur="1" fill="hold">
                                          <p:stCondLst>
                                            <p:cond delay="1000"/>
                                          </p:stCondLst>
                                        </p:cTn>
                                        <p:tgtEl>
                                          <p:spTgt spid="3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A close-up of a stone wall&#10;&#10;Description automatically generated" id="327" name="Google Shape;327;p12"/>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328" name="Google Shape;328;p12"/>
          <p:cNvSpPr txBox="1"/>
          <p:nvPr/>
        </p:nvSpPr>
        <p:spPr>
          <a:xfrm>
            <a:off x="393699" y="198203"/>
            <a:ext cx="38902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329" name="Google Shape;329;p12"/>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330" name="Google Shape;330;p12"/>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331" name="Google Shape;331;p12"/>
          <p:cNvSpPr/>
          <p:nvPr/>
        </p:nvSpPr>
        <p:spPr>
          <a:xfrm>
            <a:off x="259796" y="958525"/>
            <a:ext cx="11386697" cy="5242667"/>
          </a:xfrm>
          <a:prstGeom prst="rect">
            <a:avLst/>
          </a:prstGeom>
          <a:solidFill>
            <a:srgbClr val="E3E3E3"/>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32" name="Google Shape;332;p12"/>
          <p:cNvGrpSpPr/>
          <p:nvPr/>
        </p:nvGrpSpPr>
        <p:grpSpPr>
          <a:xfrm>
            <a:off x="117922" y="1004691"/>
            <a:ext cx="7155181" cy="4476358"/>
            <a:chOff x="6234951" y="1937496"/>
            <a:chExt cx="5685956" cy="3604896"/>
          </a:xfrm>
        </p:grpSpPr>
        <p:pic>
          <p:nvPicPr>
            <p:cNvPr descr="A map of switzerland with rivers and mountains&#10;&#10;Description automatically generated" id="333" name="Google Shape;333;p12"/>
            <p:cNvPicPr preferRelativeResize="0"/>
            <p:nvPr/>
          </p:nvPicPr>
          <p:blipFill rotWithShape="1">
            <a:blip r:embed="rId4">
              <a:alphaModFix amt="85000"/>
            </a:blip>
            <a:srcRect b="0" l="0" r="0" t="0"/>
            <a:stretch/>
          </p:blipFill>
          <p:spPr>
            <a:xfrm>
              <a:off x="6357557" y="2001520"/>
              <a:ext cx="5440744" cy="3449432"/>
            </a:xfrm>
            <a:prstGeom prst="rect">
              <a:avLst/>
            </a:prstGeom>
            <a:noFill/>
            <a:ln>
              <a:noFill/>
            </a:ln>
          </p:spPr>
        </p:pic>
        <p:pic>
          <p:nvPicPr>
            <p:cNvPr descr="A blue object with black background&#10;&#10;Description automatically generated" id="334" name="Google Shape;334;p12"/>
            <p:cNvPicPr preferRelativeResize="0"/>
            <p:nvPr/>
          </p:nvPicPr>
          <p:blipFill rotWithShape="1">
            <a:blip r:embed="rId5">
              <a:alphaModFix/>
            </a:blip>
            <a:srcRect b="0" l="0" r="0" t="0"/>
            <a:stretch/>
          </p:blipFill>
          <p:spPr>
            <a:xfrm>
              <a:off x="6234951" y="1937496"/>
              <a:ext cx="5685956" cy="3604896"/>
            </a:xfrm>
            <a:prstGeom prst="rect">
              <a:avLst/>
            </a:prstGeom>
            <a:noFill/>
            <a:ln>
              <a:noFill/>
            </a:ln>
          </p:spPr>
        </p:pic>
      </p:grpSp>
      <p:sp>
        <p:nvSpPr>
          <p:cNvPr id="335" name="Google Shape;335;p12"/>
          <p:cNvSpPr/>
          <p:nvPr/>
        </p:nvSpPr>
        <p:spPr>
          <a:xfrm>
            <a:off x="1305560" y="3678072"/>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6" name="Google Shape;336;p12"/>
          <p:cNvSpPr/>
          <p:nvPr/>
        </p:nvSpPr>
        <p:spPr>
          <a:xfrm>
            <a:off x="3976370" y="2092689"/>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12"/>
          <p:cNvSpPr txBox="1"/>
          <p:nvPr/>
        </p:nvSpPr>
        <p:spPr>
          <a:xfrm>
            <a:off x="7093698" y="1021427"/>
            <a:ext cx="4565207" cy="51090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1800">
                <a:solidFill>
                  <a:schemeClr val="dk1"/>
                </a:solidFill>
                <a:latin typeface="Arial"/>
                <a:ea typeface="Arial"/>
                <a:cs typeface="Arial"/>
                <a:sym typeface="Arial"/>
              </a:rPr>
              <a:t>Molasse Grise de Lausanne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of the Aquitanian age is deposited in the southern part of the Swiss plateau in the </a:t>
            </a:r>
            <a:r>
              <a:rPr lang="en-CH" sz="1600">
                <a:solidFill>
                  <a:srgbClr val="FF0000"/>
                </a:solidFill>
                <a:latin typeface="Arial"/>
                <a:ea typeface="Arial"/>
                <a:cs typeface="Arial"/>
                <a:sym typeface="Arial"/>
              </a:rPr>
              <a:t>USM </a:t>
            </a:r>
            <a:r>
              <a:rPr lang="en-CH" sz="1600">
                <a:solidFill>
                  <a:schemeClr val="dk1"/>
                </a:solidFill>
                <a:latin typeface="Arial"/>
                <a:ea typeface="Arial"/>
                <a:cs typeface="Arial"/>
                <a:sym typeface="Arial"/>
              </a:rPr>
              <a:t>geological unit </a:t>
            </a:r>
            <a:r>
              <a:rPr lang="en-CH" sz="1600">
                <a:solidFill>
                  <a:srgbClr val="FF0000"/>
                </a:solidFill>
                <a:latin typeface="Arial"/>
                <a:ea typeface="Arial"/>
                <a:cs typeface="Arial"/>
                <a:sym typeface="Arial"/>
              </a:rPr>
              <a:t>(Lower Freshwater Molasse)</a:t>
            </a:r>
            <a:r>
              <a:rPr lang="en-CH" sz="1600">
                <a:solidFill>
                  <a:schemeClr val="dk1"/>
                </a:solidFill>
                <a:latin typeface="Arial"/>
                <a:ea typeface="Arial"/>
                <a:cs typeface="Arial"/>
                <a:sym typeface="Arial"/>
              </a:rPr>
              <a:t>.</a:t>
            </a:r>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The depositional environment is continental, in a low-relief floodplain environment, associated with forests, swamps and mean-shaped rivers.</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rock type varies in color from grey to blue, with some yellow variegation. It has a medium to coarse grain size and consists of quartz, potassium feldspars, plagioclases, calcite, and occasionally dolomite, pyrite, and goethite.</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is the main facies used on Lausanne Cathedral, including the south tower of the transept. You will know more about its use in the cathedral in the next section.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 name="Google Shape;338;p12"/>
          <p:cNvSpPr/>
          <p:nvPr/>
        </p:nvSpPr>
        <p:spPr>
          <a:xfrm>
            <a:off x="11289689" y="1004691"/>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12"/>
          <p:cNvSpPr/>
          <p:nvPr/>
        </p:nvSpPr>
        <p:spPr>
          <a:xfrm rot="-5400000">
            <a:off x="2081613" y="887388"/>
            <a:ext cx="4528269" cy="5495901"/>
          </a:xfrm>
          <a:prstGeom prst="triangle">
            <a:avLst>
              <a:gd fmla="val 47617" name="adj"/>
            </a:avLst>
          </a:prstGeom>
          <a:gradFill>
            <a:gsLst>
              <a:gs pos="0">
                <a:srgbClr val="000000">
                  <a:alpha val="0"/>
                </a:srgbClr>
              </a:gs>
              <a:gs pos="74000">
                <a:srgbClr val="F5BEA2"/>
              </a:gs>
              <a:gs pos="83000">
                <a:srgbClr val="F5BEA2"/>
              </a:gs>
              <a:gs pos="100000">
                <a:srgbClr val="F8D3C0"/>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12"/>
          <p:cNvSpPr/>
          <p:nvPr/>
        </p:nvSpPr>
        <p:spPr>
          <a:xfrm>
            <a:off x="1995593" y="3180656"/>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12"/>
          <p:cNvSpPr/>
          <p:nvPr/>
        </p:nvSpPr>
        <p:spPr>
          <a:xfrm>
            <a:off x="1216726" y="5622717"/>
            <a:ext cx="2388321" cy="461183"/>
          </a:xfrm>
          <a:prstGeom prst="roundRect">
            <a:avLst>
              <a:gd fmla="val 50000" name="adj"/>
            </a:avLst>
          </a:prstGeom>
          <a:solidFill>
            <a:schemeClr val="lt1">
              <a:alpha val="44705"/>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Show the quarries</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9"/>
                                        </p:tgtEl>
                                      </p:cBhvr>
                                    </p:animEffect>
                                    <p:set>
                                      <p:cBhvr>
                                        <p:cTn dur="1" fill="hold">
                                          <p:stCondLst>
                                            <p:cond delay="500"/>
                                          </p:stCondLst>
                                        </p:cTn>
                                        <p:tgtEl>
                                          <p:spTgt spid="33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37"/>
                                        </p:tgtEl>
                                      </p:cBhvr>
                                    </p:animEffect>
                                    <p:set>
                                      <p:cBhvr>
                                        <p:cTn dur="1" fill="hold">
                                          <p:stCondLst>
                                            <p:cond delay="500"/>
                                          </p:stCondLst>
                                        </p:cTn>
                                        <p:tgtEl>
                                          <p:spTgt spid="33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A close-up of a stone wall&#10;&#10;Description automatically generated" id="347" name="Google Shape;347;p13"/>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348" name="Google Shape;348;p13"/>
          <p:cNvSpPr txBox="1"/>
          <p:nvPr/>
        </p:nvSpPr>
        <p:spPr>
          <a:xfrm>
            <a:off x="393699" y="198203"/>
            <a:ext cx="38902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349" name="Google Shape;349;p13"/>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350" name="Google Shape;350;p13"/>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351" name="Google Shape;351;p13"/>
          <p:cNvSpPr/>
          <p:nvPr/>
        </p:nvSpPr>
        <p:spPr>
          <a:xfrm>
            <a:off x="259796" y="958525"/>
            <a:ext cx="11386697" cy="5242667"/>
          </a:xfrm>
          <a:prstGeom prst="rect">
            <a:avLst/>
          </a:prstGeom>
          <a:solidFill>
            <a:srgbClr val="E3E3E3"/>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52" name="Google Shape;352;p13"/>
          <p:cNvGrpSpPr/>
          <p:nvPr/>
        </p:nvGrpSpPr>
        <p:grpSpPr>
          <a:xfrm>
            <a:off x="117922" y="1004691"/>
            <a:ext cx="7155181" cy="4476358"/>
            <a:chOff x="6234951" y="1937496"/>
            <a:chExt cx="5685956" cy="3604896"/>
          </a:xfrm>
        </p:grpSpPr>
        <p:pic>
          <p:nvPicPr>
            <p:cNvPr descr="A map of switzerland with rivers and mountains&#10;&#10;Description automatically generated" id="353" name="Google Shape;353;p13"/>
            <p:cNvPicPr preferRelativeResize="0"/>
            <p:nvPr/>
          </p:nvPicPr>
          <p:blipFill rotWithShape="1">
            <a:blip r:embed="rId4">
              <a:alphaModFix amt="85000"/>
            </a:blip>
            <a:srcRect b="0" l="0" r="0" t="0"/>
            <a:stretch/>
          </p:blipFill>
          <p:spPr>
            <a:xfrm>
              <a:off x="6357557" y="2001520"/>
              <a:ext cx="5440744" cy="3449432"/>
            </a:xfrm>
            <a:prstGeom prst="rect">
              <a:avLst/>
            </a:prstGeom>
            <a:noFill/>
            <a:ln>
              <a:noFill/>
            </a:ln>
          </p:spPr>
        </p:pic>
        <p:pic>
          <p:nvPicPr>
            <p:cNvPr descr="A blue object with black background&#10;&#10;Description automatically generated" id="354" name="Google Shape;354;p13"/>
            <p:cNvPicPr preferRelativeResize="0"/>
            <p:nvPr/>
          </p:nvPicPr>
          <p:blipFill rotWithShape="1">
            <a:blip r:embed="rId5">
              <a:alphaModFix/>
            </a:blip>
            <a:srcRect b="0" l="0" r="0" t="0"/>
            <a:stretch/>
          </p:blipFill>
          <p:spPr>
            <a:xfrm>
              <a:off x="6234951" y="1937496"/>
              <a:ext cx="5685956" cy="3604896"/>
            </a:xfrm>
            <a:prstGeom prst="rect">
              <a:avLst/>
            </a:prstGeom>
            <a:noFill/>
            <a:ln>
              <a:noFill/>
            </a:ln>
          </p:spPr>
        </p:pic>
      </p:grpSp>
      <p:sp>
        <p:nvSpPr>
          <p:cNvPr id="355" name="Google Shape;355;p13"/>
          <p:cNvSpPr/>
          <p:nvPr/>
        </p:nvSpPr>
        <p:spPr>
          <a:xfrm>
            <a:off x="1305560" y="3678072"/>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6" name="Google Shape;356;p13"/>
          <p:cNvSpPr/>
          <p:nvPr/>
        </p:nvSpPr>
        <p:spPr>
          <a:xfrm>
            <a:off x="3976370" y="2092689"/>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7" name="Google Shape;357;p13"/>
          <p:cNvSpPr txBox="1"/>
          <p:nvPr/>
        </p:nvSpPr>
        <p:spPr>
          <a:xfrm>
            <a:off x="7093699" y="1981962"/>
            <a:ext cx="4565207" cy="33855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1800">
                <a:solidFill>
                  <a:schemeClr val="dk1"/>
                </a:solidFill>
                <a:latin typeface="Arial"/>
                <a:ea typeface="Arial"/>
                <a:cs typeface="Arial"/>
                <a:sym typeface="Arial"/>
              </a:rPr>
              <a:t>Molasse of Ursy</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to which the name of Ursy molasse is attributed according to the archives, is a facies with flat stratifications alternating levels with fine grain size and coarse levels. This grey-green facies has a purplish-pink patina.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is found only in the basal part of the south-east buttress of the east façade.</a:t>
            </a:r>
            <a:endParaRPr/>
          </a:p>
          <a:p>
            <a:pPr indent="0" lvl="0" marL="0" marR="0" rtl="0" algn="l">
              <a:spcBef>
                <a:spcPts val="0"/>
              </a:spcBef>
              <a:spcAft>
                <a:spcPts val="0"/>
              </a:spcAft>
              <a:buNone/>
            </a:pPr>
            <a:r>
              <a:rPr lang="en-CH" sz="1600">
                <a:solidFill>
                  <a:schemeClr val="dk1"/>
                </a:solidFill>
                <a:latin typeface="Arial"/>
                <a:ea typeface="Arial"/>
                <a:cs typeface="Arial"/>
                <a:sym typeface="Arial"/>
              </a:rPr>
              <a:t>You will know more about its use in the cathedral in the next section.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8" name="Google Shape;358;p13"/>
          <p:cNvSpPr/>
          <p:nvPr/>
        </p:nvSpPr>
        <p:spPr>
          <a:xfrm>
            <a:off x="11289689" y="1004691"/>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13"/>
          <p:cNvSpPr/>
          <p:nvPr/>
        </p:nvSpPr>
        <p:spPr>
          <a:xfrm rot="-5400000">
            <a:off x="3130673" y="1147452"/>
            <a:ext cx="3128517" cy="4797535"/>
          </a:xfrm>
          <a:prstGeom prst="triangle">
            <a:avLst>
              <a:gd fmla="val 59562" name="adj"/>
            </a:avLst>
          </a:prstGeom>
          <a:gradFill>
            <a:gsLst>
              <a:gs pos="0">
                <a:srgbClr val="000000">
                  <a:alpha val="0"/>
                </a:srgbClr>
              </a:gs>
              <a:gs pos="74000">
                <a:srgbClr val="F5BEA2"/>
              </a:gs>
              <a:gs pos="83000">
                <a:srgbClr val="F5BEA2"/>
              </a:gs>
              <a:gs pos="100000">
                <a:srgbClr val="F8D3C0"/>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13"/>
          <p:cNvSpPr/>
          <p:nvPr/>
        </p:nvSpPr>
        <p:spPr>
          <a:xfrm>
            <a:off x="1995593" y="3180656"/>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13"/>
          <p:cNvSpPr/>
          <p:nvPr/>
        </p:nvSpPr>
        <p:spPr>
          <a:xfrm>
            <a:off x="1216726" y="5622717"/>
            <a:ext cx="2388321" cy="461183"/>
          </a:xfrm>
          <a:prstGeom prst="roundRect">
            <a:avLst>
              <a:gd fmla="val 50000" name="adj"/>
            </a:avLst>
          </a:prstGeom>
          <a:solidFill>
            <a:schemeClr val="lt1">
              <a:alpha val="44705"/>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Show the quarries</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59"/>
                                        </p:tgtEl>
                                      </p:cBhvr>
                                    </p:animEffect>
                                    <p:set>
                                      <p:cBhvr>
                                        <p:cTn dur="1" fill="hold">
                                          <p:stCondLst>
                                            <p:cond delay="500"/>
                                          </p:stCondLst>
                                        </p:cTn>
                                        <p:tgtEl>
                                          <p:spTgt spid="35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57"/>
                                        </p:tgtEl>
                                      </p:cBhvr>
                                    </p:animEffect>
                                    <p:set>
                                      <p:cBhvr>
                                        <p:cTn dur="1" fill="hold">
                                          <p:stCondLst>
                                            <p:cond delay="500"/>
                                          </p:stCondLst>
                                        </p:cTn>
                                        <p:tgtEl>
                                          <p:spTgt spid="3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descr="A close-up of a stone wall&#10;&#10;Description automatically generated" id="367" name="Google Shape;367;p14"/>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368" name="Google Shape;368;p14"/>
          <p:cNvSpPr txBox="1"/>
          <p:nvPr/>
        </p:nvSpPr>
        <p:spPr>
          <a:xfrm>
            <a:off x="393699" y="198203"/>
            <a:ext cx="38902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369" name="Google Shape;369;p14"/>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370" name="Google Shape;370;p14"/>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371" name="Google Shape;371;p14"/>
          <p:cNvSpPr/>
          <p:nvPr/>
        </p:nvSpPr>
        <p:spPr>
          <a:xfrm>
            <a:off x="259796" y="958525"/>
            <a:ext cx="11386697" cy="5242667"/>
          </a:xfrm>
          <a:prstGeom prst="rect">
            <a:avLst/>
          </a:prstGeom>
          <a:solidFill>
            <a:srgbClr val="E3E3E3"/>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72" name="Google Shape;372;p14"/>
          <p:cNvGrpSpPr/>
          <p:nvPr/>
        </p:nvGrpSpPr>
        <p:grpSpPr>
          <a:xfrm>
            <a:off x="117922" y="1004691"/>
            <a:ext cx="7155181" cy="4476358"/>
            <a:chOff x="6234951" y="1937496"/>
            <a:chExt cx="5685956" cy="3604896"/>
          </a:xfrm>
        </p:grpSpPr>
        <p:pic>
          <p:nvPicPr>
            <p:cNvPr descr="A map of switzerland with rivers and mountains&#10;&#10;Description automatically generated" id="373" name="Google Shape;373;p14"/>
            <p:cNvPicPr preferRelativeResize="0"/>
            <p:nvPr/>
          </p:nvPicPr>
          <p:blipFill rotWithShape="1">
            <a:blip r:embed="rId4">
              <a:alphaModFix amt="85000"/>
            </a:blip>
            <a:srcRect b="0" l="0" r="0" t="0"/>
            <a:stretch/>
          </p:blipFill>
          <p:spPr>
            <a:xfrm>
              <a:off x="6357557" y="2001520"/>
              <a:ext cx="5440744" cy="3449432"/>
            </a:xfrm>
            <a:prstGeom prst="rect">
              <a:avLst/>
            </a:prstGeom>
            <a:noFill/>
            <a:ln>
              <a:noFill/>
            </a:ln>
          </p:spPr>
        </p:pic>
        <p:pic>
          <p:nvPicPr>
            <p:cNvPr descr="A blue object with black background&#10;&#10;Description automatically generated" id="374" name="Google Shape;374;p14"/>
            <p:cNvPicPr preferRelativeResize="0"/>
            <p:nvPr/>
          </p:nvPicPr>
          <p:blipFill rotWithShape="1">
            <a:blip r:embed="rId5">
              <a:alphaModFix/>
            </a:blip>
            <a:srcRect b="0" l="0" r="0" t="0"/>
            <a:stretch/>
          </p:blipFill>
          <p:spPr>
            <a:xfrm>
              <a:off x="6234951" y="1937496"/>
              <a:ext cx="5685956" cy="3604896"/>
            </a:xfrm>
            <a:prstGeom prst="rect">
              <a:avLst/>
            </a:prstGeom>
            <a:noFill/>
            <a:ln>
              <a:noFill/>
            </a:ln>
          </p:spPr>
        </p:pic>
      </p:grpSp>
      <p:sp>
        <p:nvSpPr>
          <p:cNvPr id="375" name="Google Shape;375;p14"/>
          <p:cNvSpPr/>
          <p:nvPr/>
        </p:nvSpPr>
        <p:spPr>
          <a:xfrm>
            <a:off x="1305560" y="3678072"/>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14"/>
          <p:cNvSpPr/>
          <p:nvPr/>
        </p:nvSpPr>
        <p:spPr>
          <a:xfrm>
            <a:off x="3976370" y="2092689"/>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7" name="Google Shape;377;p14"/>
          <p:cNvSpPr txBox="1"/>
          <p:nvPr/>
        </p:nvSpPr>
        <p:spPr>
          <a:xfrm>
            <a:off x="7093699" y="1981962"/>
            <a:ext cx="4565207" cy="33855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1800">
                <a:solidFill>
                  <a:schemeClr val="dk1"/>
                </a:solidFill>
                <a:latin typeface="Arial"/>
                <a:ea typeface="Arial"/>
                <a:cs typeface="Arial"/>
                <a:sym typeface="Arial"/>
              </a:rPr>
              <a:t>Molasse of Ursy</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to which the name of Ursy molasse is attributed according to the archives, is a facies with flat stratifications alternating levels with fine grain size and coarse levels. This grey-green facies has a purplish-pink patina.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is found only in the basal part of the south-east buttress of the east façade.</a:t>
            </a:r>
            <a:endParaRPr/>
          </a:p>
          <a:p>
            <a:pPr indent="0" lvl="0" marL="0" marR="0" rtl="0" algn="l">
              <a:spcBef>
                <a:spcPts val="0"/>
              </a:spcBef>
              <a:spcAft>
                <a:spcPts val="0"/>
              </a:spcAft>
              <a:buNone/>
            </a:pPr>
            <a:r>
              <a:rPr lang="en-CH" sz="1600">
                <a:solidFill>
                  <a:schemeClr val="dk1"/>
                </a:solidFill>
                <a:latin typeface="Arial"/>
                <a:ea typeface="Arial"/>
                <a:cs typeface="Arial"/>
                <a:sym typeface="Arial"/>
              </a:rPr>
              <a:t>You will know more about its use in the cathedral in the next section.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8" name="Google Shape;378;p14"/>
          <p:cNvSpPr/>
          <p:nvPr/>
        </p:nvSpPr>
        <p:spPr>
          <a:xfrm>
            <a:off x="11289689" y="1004691"/>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14"/>
          <p:cNvSpPr/>
          <p:nvPr/>
        </p:nvSpPr>
        <p:spPr>
          <a:xfrm rot="-5400000">
            <a:off x="3130673" y="1147452"/>
            <a:ext cx="3128517" cy="4797535"/>
          </a:xfrm>
          <a:prstGeom prst="triangle">
            <a:avLst>
              <a:gd fmla="val 59562" name="adj"/>
            </a:avLst>
          </a:prstGeom>
          <a:gradFill>
            <a:gsLst>
              <a:gs pos="0">
                <a:srgbClr val="000000">
                  <a:alpha val="0"/>
                </a:srgbClr>
              </a:gs>
              <a:gs pos="74000">
                <a:srgbClr val="F5BEA2"/>
              </a:gs>
              <a:gs pos="83000">
                <a:srgbClr val="F5BEA2"/>
              </a:gs>
              <a:gs pos="100000">
                <a:srgbClr val="F8D3C0"/>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14"/>
          <p:cNvSpPr/>
          <p:nvPr/>
        </p:nvSpPr>
        <p:spPr>
          <a:xfrm>
            <a:off x="1995593" y="3180656"/>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14"/>
          <p:cNvSpPr/>
          <p:nvPr/>
        </p:nvSpPr>
        <p:spPr>
          <a:xfrm>
            <a:off x="1216726" y="5622717"/>
            <a:ext cx="2388321" cy="461183"/>
          </a:xfrm>
          <a:prstGeom prst="roundRect">
            <a:avLst>
              <a:gd fmla="val 50000" name="adj"/>
            </a:avLst>
          </a:prstGeom>
          <a:solidFill>
            <a:schemeClr val="lt1">
              <a:alpha val="44705"/>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Show the quarries</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79"/>
                                        </p:tgtEl>
                                      </p:cBhvr>
                                    </p:animEffect>
                                    <p:set>
                                      <p:cBhvr>
                                        <p:cTn dur="1" fill="hold">
                                          <p:stCondLst>
                                            <p:cond delay="500"/>
                                          </p:stCondLst>
                                        </p:cTn>
                                        <p:tgtEl>
                                          <p:spTgt spid="3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77"/>
                                        </p:tgtEl>
                                      </p:cBhvr>
                                    </p:animEffect>
                                    <p:set>
                                      <p:cBhvr>
                                        <p:cTn dur="1" fill="hold">
                                          <p:stCondLst>
                                            <p:cond delay="500"/>
                                          </p:stCondLst>
                                        </p:cTn>
                                        <p:tgtEl>
                                          <p:spTgt spid="37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A close-up of a stone wall&#10;&#10;Description automatically generated" id="387" name="Google Shape;387;p15"/>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388" name="Google Shape;388;p15"/>
          <p:cNvSpPr txBox="1"/>
          <p:nvPr/>
        </p:nvSpPr>
        <p:spPr>
          <a:xfrm>
            <a:off x="393699" y="198203"/>
            <a:ext cx="38902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389" name="Google Shape;389;p15"/>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390" name="Google Shape;390;p15"/>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391" name="Google Shape;391;p15"/>
          <p:cNvSpPr/>
          <p:nvPr/>
        </p:nvSpPr>
        <p:spPr>
          <a:xfrm>
            <a:off x="259796" y="958525"/>
            <a:ext cx="11386697" cy="5242667"/>
          </a:xfrm>
          <a:prstGeom prst="rect">
            <a:avLst/>
          </a:prstGeom>
          <a:solidFill>
            <a:srgbClr val="E3E3E3"/>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92" name="Google Shape;392;p15"/>
          <p:cNvGrpSpPr/>
          <p:nvPr/>
        </p:nvGrpSpPr>
        <p:grpSpPr>
          <a:xfrm>
            <a:off x="117922" y="1004691"/>
            <a:ext cx="7155181" cy="4476358"/>
            <a:chOff x="6234951" y="1937496"/>
            <a:chExt cx="5685956" cy="3604896"/>
          </a:xfrm>
        </p:grpSpPr>
        <p:pic>
          <p:nvPicPr>
            <p:cNvPr descr="A map of switzerland with rivers and mountains&#10;&#10;Description automatically generated" id="393" name="Google Shape;393;p15"/>
            <p:cNvPicPr preferRelativeResize="0"/>
            <p:nvPr/>
          </p:nvPicPr>
          <p:blipFill rotWithShape="1">
            <a:blip r:embed="rId4">
              <a:alphaModFix amt="85000"/>
            </a:blip>
            <a:srcRect b="0" l="0" r="0" t="0"/>
            <a:stretch/>
          </p:blipFill>
          <p:spPr>
            <a:xfrm>
              <a:off x="6357557" y="2001520"/>
              <a:ext cx="5440744" cy="3449432"/>
            </a:xfrm>
            <a:prstGeom prst="rect">
              <a:avLst/>
            </a:prstGeom>
            <a:noFill/>
            <a:ln>
              <a:noFill/>
            </a:ln>
          </p:spPr>
        </p:pic>
        <p:pic>
          <p:nvPicPr>
            <p:cNvPr descr="A blue object with black background&#10;&#10;Description automatically generated" id="394" name="Google Shape;394;p15"/>
            <p:cNvPicPr preferRelativeResize="0"/>
            <p:nvPr/>
          </p:nvPicPr>
          <p:blipFill rotWithShape="1">
            <a:blip r:embed="rId5">
              <a:alphaModFix/>
            </a:blip>
            <a:srcRect b="0" l="0" r="0" t="0"/>
            <a:stretch/>
          </p:blipFill>
          <p:spPr>
            <a:xfrm>
              <a:off x="6234951" y="1937496"/>
              <a:ext cx="5685956" cy="3604896"/>
            </a:xfrm>
            <a:prstGeom prst="rect">
              <a:avLst/>
            </a:prstGeom>
            <a:noFill/>
            <a:ln>
              <a:noFill/>
            </a:ln>
          </p:spPr>
        </p:pic>
      </p:grpSp>
      <p:sp>
        <p:nvSpPr>
          <p:cNvPr id="395" name="Google Shape;395;p15"/>
          <p:cNvSpPr/>
          <p:nvPr/>
        </p:nvSpPr>
        <p:spPr>
          <a:xfrm>
            <a:off x="1305560" y="3678072"/>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6" name="Google Shape;396;p15"/>
          <p:cNvSpPr/>
          <p:nvPr/>
        </p:nvSpPr>
        <p:spPr>
          <a:xfrm>
            <a:off x="3976370" y="2092689"/>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7" name="Google Shape;397;p15"/>
          <p:cNvSpPr txBox="1"/>
          <p:nvPr/>
        </p:nvSpPr>
        <p:spPr>
          <a:xfrm>
            <a:off x="7093699" y="1981962"/>
            <a:ext cx="4565207" cy="33855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1800">
                <a:solidFill>
                  <a:schemeClr val="dk1"/>
                </a:solidFill>
                <a:latin typeface="Arial"/>
                <a:ea typeface="Arial"/>
                <a:cs typeface="Arial"/>
                <a:sym typeface="Arial"/>
              </a:rPr>
              <a:t>Molasse of Ursy</a:t>
            </a:r>
            <a:endParaRPr b="1"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to which the name of Ursy molasse is attributed according to the archives, is a facies with flat stratifications alternating levels with fine grain size and coarse levels. This grey-green facies has a purplish-pink patina. </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CH" sz="1600">
                <a:solidFill>
                  <a:schemeClr val="dk1"/>
                </a:solidFill>
                <a:latin typeface="Arial"/>
                <a:ea typeface="Arial"/>
                <a:cs typeface="Arial"/>
                <a:sym typeface="Arial"/>
              </a:rPr>
              <a:t>This facies is found only in the basal part of the south-east buttress of the east façade.</a:t>
            </a:r>
            <a:endParaRPr/>
          </a:p>
          <a:p>
            <a:pPr indent="0" lvl="0" marL="0" marR="0" rtl="0" algn="l">
              <a:spcBef>
                <a:spcPts val="0"/>
              </a:spcBef>
              <a:spcAft>
                <a:spcPts val="0"/>
              </a:spcAft>
              <a:buNone/>
            </a:pPr>
            <a:r>
              <a:rPr lang="en-CH" sz="1600">
                <a:solidFill>
                  <a:schemeClr val="dk1"/>
                </a:solidFill>
                <a:latin typeface="Arial"/>
                <a:ea typeface="Arial"/>
                <a:cs typeface="Arial"/>
                <a:sym typeface="Arial"/>
              </a:rPr>
              <a:t>You will know more about its use in the cathedral in the next section.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8" name="Google Shape;398;p15"/>
          <p:cNvSpPr/>
          <p:nvPr/>
        </p:nvSpPr>
        <p:spPr>
          <a:xfrm>
            <a:off x="11289689" y="1004691"/>
            <a:ext cx="297143" cy="272499"/>
          </a:xfrm>
          <a:prstGeom prst="flowChartSummingJunction">
            <a:avLst/>
          </a:prstGeom>
          <a:solidFill>
            <a:srgbClr val="E3E3E3"/>
          </a:solid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9" name="Google Shape;399;p15"/>
          <p:cNvSpPr/>
          <p:nvPr/>
        </p:nvSpPr>
        <p:spPr>
          <a:xfrm rot="-5400000">
            <a:off x="3130673" y="1147452"/>
            <a:ext cx="3128517" cy="4797535"/>
          </a:xfrm>
          <a:prstGeom prst="triangle">
            <a:avLst>
              <a:gd fmla="val 59562" name="adj"/>
            </a:avLst>
          </a:prstGeom>
          <a:gradFill>
            <a:gsLst>
              <a:gs pos="0">
                <a:srgbClr val="000000">
                  <a:alpha val="0"/>
                </a:srgbClr>
              </a:gs>
              <a:gs pos="74000">
                <a:srgbClr val="F5BEA2"/>
              </a:gs>
              <a:gs pos="83000">
                <a:srgbClr val="F5BEA2"/>
              </a:gs>
              <a:gs pos="100000">
                <a:srgbClr val="F8D3C0"/>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0" name="Google Shape;400;p15"/>
          <p:cNvSpPr/>
          <p:nvPr/>
        </p:nvSpPr>
        <p:spPr>
          <a:xfrm>
            <a:off x="1995593" y="3180656"/>
            <a:ext cx="193040" cy="162560"/>
          </a:xfrm>
          <a:prstGeom prst="ellipse">
            <a:avLst/>
          </a:prstGeom>
          <a:solidFill>
            <a:schemeClr val="accent2"/>
          </a:solid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1" name="Google Shape;401;p15"/>
          <p:cNvSpPr/>
          <p:nvPr/>
        </p:nvSpPr>
        <p:spPr>
          <a:xfrm>
            <a:off x="1216726" y="5622717"/>
            <a:ext cx="2388321" cy="461183"/>
          </a:xfrm>
          <a:prstGeom prst="roundRect">
            <a:avLst>
              <a:gd fmla="val 50000" name="adj"/>
            </a:avLst>
          </a:prstGeom>
          <a:solidFill>
            <a:schemeClr val="lt1">
              <a:alpha val="44705"/>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Show the quarries</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9"/>
                                        </p:tgtEl>
                                      </p:cBhvr>
                                    </p:animEffect>
                                    <p:set>
                                      <p:cBhvr>
                                        <p:cTn dur="1" fill="hold">
                                          <p:stCondLst>
                                            <p:cond delay="500"/>
                                          </p:stCondLst>
                                        </p:cTn>
                                        <p:tgtEl>
                                          <p:spTgt spid="3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97"/>
                                        </p:tgtEl>
                                      </p:cBhvr>
                                    </p:animEffect>
                                    <p:set>
                                      <p:cBhvr>
                                        <p:cTn dur="1" fill="hold">
                                          <p:stCondLst>
                                            <p:cond delay="500"/>
                                          </p:stCondLst>
                                        </p:cTn>
                                        <p:tgtEl>
                                          <p:spTgt spid="3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descr="A close-up of a stone wall&#10;&#10;Description automatically generated" id="407" name="Google Shape;407;p16"/>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408" name="Google Shape;408;p16"/>
          <p:cNvSpPr txBox="1"/>
          <p:nvPr/>
        </p:nvSpPr>
        <p:spPr>
          <a:xfrm>
            <a:off x="393699" y="443110"/>
            <a:ext cx="4424032" cy="584775"/>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       Molasse Sandstone</a:t>
            </a:r>
            <a:endParaRPr/>
          </a:p>
        </p:txBody>
      </p:sp>
      <p:sp>
        <p:nvSpPr>
          <p:cNvPr id="409" name="Google Shape;409;p16"/>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410" name="Google Shape;410;p16"/>
          <p:cNvSpPr txBox="1"/>
          <p:nvPr/>
        </p:nvSpPr>
        <p:spPr>
          <a:xfrm>
            <a:off x="393699" y="1467208"/>
            <a:ext cx="5854340" cy="4771870"/>
          </a:xfrm>
          <a:prstGeom prst="rect">
            <a:avLst/>
          </a:prstGeom>
          <a:solidFill>
            <a:schemeClr val="lt1">
              <a:alpha val="80000"/>
            </a:schemeClr>
          </a:solidFill>
          <a:ln>
            <a:noFill/>
          </a:ln>
        </p:spPr>
        <p:txBody>
          <a:bodyPr anchorCtr="0" anchor="t" bIns="45700" lIns="216000" spcFirstLastPara="1" rIns="216000" wrap="square" tIns="108000">
            <a:spAutoFit/>
          </a:bodyPr>
          <a:lstStyle/>
          <a:p>
            <a:pPr indent="457200" lvl="0" marL="0" marR="0" rtl="0" algn="just">
              <a:spcBef>
                <a:spcPts val="0"/>
              </a:spcBef>
              <a:spcAft>
                <a:spcPts val="0"/>
              </a:spcAft>
              <a:buNone/>
            </a:pPr>
            <a:r>
              <a:rPr lang="en-CH" sz="1800">
                <a:solidFill>
                  <a:schemeClr val="dk1"/>
                </a:solidFill>
                <a:latin typeface="Arial"/>
                <a:ea typeface="Arial"/>
                <a:cs typeface="Arial"/>
                <a:sym typeface="Arial"/>
              </a:rPr>
              <a:t>The Swiss Molasse rock formation stretches north of the Alps from the Lake Léman region in the west of Switzerland to the Constance Lake in the east. It comprises a variety of calcite-bound sandstones, which can contain swelling clays. As part of this formation, the “Molasse grise de Lausanne” was extracted right outside the medieval city center and employed to erect the Lausanne Cathedral. </a:t>
            </a:r>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Over the centuries, sandstones of the same typology were brought in from different local quarries distributed around the medieval center and employed for modification and maintenance works at the Cathedral. </a:t>
            </a:r>
            <a:endParaRPr/>
          </a:p>
          <a:p>
            <a:pPr indent="457200" lvl="0" marL="0" marR="0" rtl="0" algn="just">
              <a:spcBef>
                <a:spcPts val="120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&lt; CONTINUE &gt;</a:t>
            </a:r>
            <a:endParaRPr/>
          </a:p>
        </p:txBody>
      </p:sp>
      <p:grpSp>
        <p:nvGrpSpPr>
          <p:cNvPr id="411" name="Google Shape;411;p16"/>
          <p:cNvGrpSpPr/>
          <p:nvPr/>
        </p:nvGrpSpPr>
        <p:grpSpPr>
          <a:xfrm>
            <a:off x="7102796" y="1886150"/>
            <a:ext cx="4500237" cy="922367"/>
            <a:chOff x="6450180" y="687439"/>
            <a:chExt cx="4500237" cy="922367"/>
          </a:xfrm>
        </p:grpSpPr>
        <p:sp>
          <p:nvSpPr>
            <p:cNvPr id="412" name="Google Shape;412;p16"/>
            <p:cNvSpPr/>
            <p:nvPr/>
          </p:nvSpPr>
          <p:spPr>
            <a:xfrm>
              <a:off x="6450180" y="687439"/>
              <a:ext cx="4500237" cy="922367"/>
            </a:xfrm>
            <a:prstGeom prst="roundRect">
              <a:avLst>
                <a:gd fmla="val 50000" name="adj"/>
              </a:avLst>
            </a:prstGeom>
            <a:solidFill>
              <a:schemeClr val="lt1">
                <a:alpha val="6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3" name="Google Shape;413;p16"/>
            <p:cNvSpPr txBox="1"/>
            <p:nvPr/>
          </p:nvSpPr>
          <p:spPr>
            <a:xfrm>
              <a:off x="7655258" y="957434"/>
              <a:ext cx="276960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Geologicial information</a:t>
              </a:r>
              <a:endParaRPr/>
            </a:p>
          </p:txBody>
        </p:sp>
        <p:pic>
          <p:nvPicPr>
            <p:cNvPr descr="Dolomite (Mineral) - an overview | ScienceDirect Topics" id="414" name="Google Shape;414;p16"/>
            <p:cNvPicPr preferRelativeResize="0"/>
            <p:nvPr/>
          </p:nvPicPr>
          <p:blipFill rotWithShape="1">
            <a:blip r:embed="rId4">
              <a:alphaModFix/>
            </a:blip>
            <a:srcRect b="50000" l="52012" r="0" t="6685"/>
            <a:stretch/>
          </p:blipFill>
          <p:spPr>
            <a:xfrm>
              <a:off x="6734666" y="838353"/>
              <a:ext cx="691631" cy="660092"/>
            </a:xfrm>
            <a:prstGeom prst="ellipse">
              <a:avLst/>
            </a:prstGeom>
            <a:noFill/>
            <a:ln>
              <a:noFill/>
            </a:ln>
          </p:spPr>
        </p:pic>
      </p:grpSp>
      <p:grpSp>
        <p:nvGrpSpPr>
          <p:cNvPr id="415" name="Google Shape;415;p16"/>
          <p:cNvGrpSpPr/>
          <p:nvPr/>
        </p:nvGrpSpPr>
        <p:grpSpPr>
          <a:xfrm>
            <a:off x="7129618" y="2928780"/>
            <a:ext cx="4500237" cy="922367"/>
            <a:chOff x="6477002" y="1781585"/>
            <a:chExt cx="4500237" cy="922367"/>
          </a:xfrm>
        </p:grpSpPr>
        <p:sp>
          <p:nvSpPr>
            <p:cNvPr id="416" name="Google Shape;416;p16"/>
            <p:cNvSpPr/>
            <p:nvPr/>
          </p:nvSpPr>
          <p:spPr>
            <a:xfrm>
              <a:off x="6477002" y="1781585"/>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7" name="Google Shape;417;p16"/>
            <p:cNvSpPr txBox="1"/>
            <p:nvPr/>
          </p:nvSpPr>
          <p:spPr>
            <a:xfrm>
              <a:off x="7682080" y="2051580"/>
              <a:ext cx="257833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Properties of Molasse</a:t>
              </a:r>
              <a:endParaRPr/>
            </a:p>
          </p:txBody>
        </p:sp>
        <p:pic>
          <p:nvPicPr>
            <p:cNvPr descr="Freezing - Free weather icons" id="418" name="Google Shape;418;p16"/>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419" name="Google Shape;419;p16"/>
          <p:cNvGrpSpPr/>
          <p:nvPr/>
        </p:nvGrpSpPr>
        <p:grpSpPr>
          <a:xfrm>
            <a:off x="7129617" y="3998703"/>
            <a:ext cx="4500237" cy="922367"/>
            <a:chOff x="6477001" y="2851508"/>
            <a:chExt cx="4500237" cy="922367"/>
          </a:xfrm>
        </p:grpSpPr>
        <p:sp>
          <p:nvSpPr>
            <p:cNvPr id="420" name="Google Shape;420;p16"/>
            <p:cNvSpPr/>
            <p:nvPr/>
          </p:nvSpPr>
          <p:spPr>
            <a:xfrm>
              <a:off x="6477001" y="2851508"/>
              <a:ext cx="4500237" cy="922367"/>
            </a:xfrm>
            <a:prstGeom prst="roundRect">
              <a:avLst>
                <a:gd fmla="val 50000" name="adj"/>
              </a:avLst>
            </a:prstGeom>
            <a:solidFill>
              <a:schemeClr val="lt1">
                <a:alpha val="6666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1" name="Google Shape;421;p16"/>
            <p:cNvSpPr txBox="1"/>
            <p:nvPr/>
          </p:nvSpPr>
          <p:spPr>
            <a:xfrm>
              <a:off x="7580479" y="3141967"/>
              <a:ext cx="251152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Types of Stones used</a:t>
              </a:r>
              <a:endParaRPr/>
            </a:p>
          </p:txBody>
        </p:sp>
        <p:pic>
          <p:nvPicPr>
            <p:cNvPr descr="Swelling of montmorillonite clay in water. | Download Scientific Diagram" id="422" name="Google Shape;422;p16"/>
            <p:cNvPicPr preferRelativeResize="0"/>
            <p:nvPr/>
          </p:nvPicPr>
          <p:blipFill rotWithShape="1">
            <a:blip r:embed="rId6">
              <a:alphaModFix/>
            </a:blip>
            <a:srcRect b="17368" l="59753" r="12469" t="22832"/>
            <a:stretch/>
          </p:blipFill>
          <p:spPr>
            <a:xfrm>
              <a:off x="6814006" y="3063546"/>
              <a:ext cx="548003" cy="503931"/>
            </a:xfrm>
            <a:prstGeom prst="rect">
              <a:avLst/>
            </a:prstGeom>
            <a:noFill/>
            <a:ln>
              <a:noFill/>
            </a:ln>
          </p:spPr>
        </p:pic>
      </p:grpSp>
      <p:grpSp>
        <p:nvGrpSpPr>
          <p:cNvPr id="423" name="Google Shape;423;p16"/>
          <p:cNvGrpSpPr/>
          <p:nvPr/>
        </p:nvGrpSpPr>
        <p:grpSpPr>
          <a:xfrm>
            <a:off x="7129616" y="5052292"/>
            <a:ext cx="4500237" cy="922367"/>
            <a:chOff x="6477000" y="3956613"/>
            <a:chExt cx="4500237" cy="922367"/>
          </a:xfrm>
        </p:grpSpPr>
        <p:sp>
          <p:nvSpPr>
            <p:cNvPr id="424" name="Google Shape;424;p16"/>
            <p:cNvSpPr/>
            <p:nvPr/>
          </p:nvSpPr>
          <p:spPr>
            <a:xfrm>
              <a:off x="6477000" y="3956613"/>
              <a:ext cx="4500237" cy="922367"/>
            </a:xfrm>
            <a:prstGeom prst="roundRect">
              <a:avLst>
                <a:gd fmla="val 50000" name="adj"/>
              </a:avLst>
            </a:prstGeom>
            <a:solidFill>
              <a:schemeClr val="lt1">
                <a:alpha val="69019"/>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5" name="Google Shape;425;p16"/>
            <p:cNvSpPr txBox="1"/>
            <p:nvPr/>
          </p:nvSpPr>
          <p:spPr>
            <a:xfrm>
              <a:off x="7580479" y="4226608"/>
              <a:ext cx="185672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Interactive tour</a:t>
              </a:r>
              <a:endParaRPr/>
            </a:p>
          </p:txBody>
        </p:sp>
      </p:grpSp>
      <p:pic>
        <p:nvPicPr>
          <p:cNvPr descr="Online Virtual Tour Icon - Free Download Science &amp; Technology Icons |  IconScout" id="426" name="Google Shape;426;p16"/>
          <p:cNvPicPr preferRelativeResize="0"/>
          <p:nvPr/>
        </p:nvPicPr>
        <p:blipFill rotWithShape="1">
          <a:blip r:embed="rId7">
            <a:alphaModFix/>
          </a:blip>
          <a:srcRect b="0" l="0" r="0" t="0"/>
          <a:stretch/>
        </p:blipFill>
        <p:spPr>
          <a:xfrm>
            <a:off x="7416505" y="5196466"/>
            <a:ext cx="664265" cy="664265"/>
          </a:xfrm>
          <a:prstGeom prst="rect">
            <a:avLst/>
          </a:prstGeom>
          <a:noFill/>
          <a:ln>
            <a:noFill/>
          </a:ln>
        </p:spPr>
      </p:pic>
      <p:sp>
        <p:nvSpPr>
          <p:cNvPr id="427" name="Google Shape;427;p16"/>
          <p:cNvSpPr/>
          <p:nvPr/>
        </p:nvSpPr>
        <p:spPr>
          <a:xfrm rot="1077042">
            <a:off x="11224540" y="4331632"/>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8" name="Google Shape;428;p16"/>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descr="Swelling of montmorillonite clay in water. | Download Scientific Diagram" id="429" name="Google Shape;429;p16"/>
          <p:cNvPicPr preferRelativeResize="0"/>
          <p:nvPr/>
        </p:nvPicPr>
        <p:blipFill rotWithShape="1">
          <a:blip r:embed="rId6">
            <a:alphaModFix/>
          </a:blip>
          <a:srcRect b="17368" l="59753" r="12469" t="22832"/>
          <a:stretch/>
        </p:blipFill>
        <p:spPr>
          <a:xfrm>
            <a:off x="453603" y="562905"/>
            <a:ext cx="394092" cy="3623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descr="A close-up of a stone wall&#10;&#10;Description automatically generated" id="435" name="Google Shape;435;p17"/>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436" name="Google Shape;436;p17"/>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437" name="Google Shape;437;p17"/>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438" name="Google Shape;438;p17"/>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439" name="Google Shape;439;p17"/>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440" name="Google Shape;440;p17"/>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1" name="Google Shape;441;p17"/>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442" name="Google Shape;442;p17"/>
          <p:cNvGrpSpPr/>
          <p:nvPr/>
        </p:nvGrpSpPr>
        <p:grpSpPr>
          <a:xfrm>
            <a:off x="309286" y="1033756"/>
            <a:ext cx="11527514" cy="4985980"/>
            <a:chOff x="249717" y="981719"/>
            <a:chExt cx="11527514" cy="4985980"/>
          </a:xfrm>
        </p:grpSpPr>
        <p:sp>
          <p:nvSpPr>
            <p:cNvPr id="443" name="Google Shape;443;p17"/>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444" name="Google Shape;444;p17"/>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5" name="Google Shape;445;p17"/>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Can you identify a limestone on the facade? </a:t>
              </a:r>
              <a:endParaRPr sz="2000">
                <a:solidFill>
                  <a:schemeClr val="dk1"/>
                </a:solidFill>
                <a:latin typeface="Arial"/>
                <a:ea typeface="Arial"/>
                <a:cs typeface="Arial"/>
                <a:sym typeface="Arial"/>
              </a:endParaRPr>
            </a:p>
          </p:txBody>
        </p:sp>
      </p:grpSp>
      <p:pic>
        <p:nvPicPr>
          <p:cNvPr descr="A close-up of a stone building&#10;&#10;Description automatically generated" id="446" name="Google Shape;446;p17"/>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447" name="Google Shape;447;p17"/>
          <p:cNvSpPr/>
          <p:nvPr/>
        </p:nvSpPr>
        <p:spPr>
          <a:xfrm>
            <a:off x="2265711" y="5320145"/>
            <a:ext cx="522831" cy="185352"/>
          </a:xfrm>
          <a:prstGeom prst="rect">
            <a:avLst/>
          </a:prstGeom>
          <a:solidFill>
            <a:srgbClr val="3333CC">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8" name="Google Shape;448;p17"/>
          <p:cNvSpPr/>
          <p:nvPr/>
        </p:nvSpPr>
        <p:spPr>
          <a:xfrm rot="1077042">
            <a:off x="2867956" y="5259901"/>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descr="A close-up of a stone wall&#10;&#10;Description automatically generated" id="454" name="Google Shape;454;p18"/>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455" name="Google Shape;455;p18"/>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456" name="Google Shape;456;p18"/>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457" name="Google Shape;457;p18"/>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458" name="Google Shape;458;p18"/>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459" name="Google Shape;459;p18"/>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0" name="Google Shape;460;p18"/>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461" name="Google Shape;461;p18"/>
          <p:cNvGrpSpPr/>
          <p:nvPr/>
        </p:nvGrpSpPr>
        <p:grpSpPr>
          <a:xfrm>
            <a:off x="309286" y="1033756"/>
            <a:ext cx="11527514" cy="4985980"/>
            <a:chOff x="249717" y="981719"/>
            <a:chExt cx="11527514" cy="4985980"/>
          </a:xfrm>
        </p:grpSpPr>
        <p:sp>
          <p:nvSpPr>
            <p:cNvPr id="462" name="Google Shape;462;p18"/>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463" name="Google Shape;463;p18"/>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18"/>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Can you identify a limestone on the facade? </a:t>
              </a:r>
              <a:endParaRPr sz="2000">
                <a:solidFill>
                  <a:schemeClr val="dk1"/>
                </a:solidFill>
                <a:latin typeface="Arial"/>
                <a:ea typeface="Arial"/>
                <a:cs typeface="Arial"/>
                <a:sym typeface="Arial"/>
              </a:endParaRPr>
            </a:p>
          </p:txBody>
        </p:sp>
      </p:grpSp>
      <p:pic>
        <p:nvPicPr>
          <p:cNvPr descr="A close-up of a stone building&#10;&#10;Description automatically generated" id="465" name="Google Shape;465;p18"/>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466" name="Google Shape;466;p18"/>
          <p:cNvSpPr/>
          <p:nvPr/>
        </p:nvSpPr>
        <p:spPr>
          <a:xfrm>
            <a:off x="2265711" y="5320145"/>
            <a:ext cx="522831" cy="185352"/>
          </a:xfrm>
          <a:prstGeom prst="rect">
            <a:avLst/>
          </a:prstGeom>
          <a:solidFill>
            <a:srgbClr val="3333CC">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7" name="Google Shape;467;p18"/>
          <p:cNvSpPr/>
          <p:nvPr/>
        </p:nvSpPr>
        <p:spPr>
          <a:xfrm rot="1077042">
            <a:off x="2867956" y="5259901"/>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8" name="Google Shape;468;p18"/>
          <p:cNvSpPr txBox="1"/>
          <p:nvPr/>
        </p:nvSpPr>
        <p:spPr>
          <a:xfrm>
            <a:off x="6661560" y="3395406"/>
            <a:ext cx="459386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Correct!</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This stone type is the Rudist limestone which was placed on the Cathedral in the 13</a:t>
            </a:r>
            <a:r>
              <a:rPr baseline="30000" lang="en-CH" sz="2000">
                <a:solidFill>
                  <a:schemeClr val="dk1"/>
                </a:solidFill>
                <a:latin typeface="Arial"/>
                <a:ea typeface="Arial"/>
                <a:cs typeface="Arial"/>
                <a:sym typeface="Arial"/>
              </a:rPr>
              <a:t>th</a:t>
            </a:r>
            <a:r>
              <a:rPr lang="en-CH" sz="2000">
                <a:solidFill>
                  <a:schemeClr val="dk1"/>
                </a:solidFill>
                <a:latin typeface="Arial"/>
                <a:ea typeface="Arial"/>
                <a:cs typeface="Arial"/>
                <a:sym typeface="Arial"/>
              </a:rPr>
              <a:t> Century CE.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Let’s learn more about it…</a:t>
            </a:r>
            <a:endParaRPr sz="20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descr="A close-up of a stone wall&#10;&#10;Description automatically generated" id="474" name="Google Shape;474;p19"/>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475" name="Google Shape;475;p19"/>
          <p:cNvSpPr txBox="1"/>
          <p:nvPr/>
        </p:nvSpPr>
        <p:spPr>
          <a:xfrm>
            <a:off x="249717" y="443110"/>
            <a:ext cx="485049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p:txBody>
      </p:sp>
      <p:sp>
        <p:nvSpPr>
          <p:cNvPr id="476" name="Google Shape;476;p19"/>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477" name="Google Shape;477;p19"/>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478" name="Google Shape;478;p19"/>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479" name="Google Shape;479;p19"/>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0" name="Google Shape;480;p19"/>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481" name="Google Shape;481;p19"/>
          <p:cNvGrpSpPr/>
          <p:nvPr/>
        </p:nvGrpSpPr>
        <p:grpSpPr>
          <a:xfrm>
            <a:off x="309286" y="1033756"/>
            <a:ext cx="11527514" cy="5892069"/>
            <a:chOff x="249717" y="981719"/>
            <a:chExt cx="11527514" cy="5892069"/>
          </a:xfrm>
        </p:grpSpPr>
        <p:sp>
          <p:nvSpPr>
            <p:cNvPr id="482" name="Google Shape;482;p19"/>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483" name="Google Shape;483;p19"/>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4" name="Google Shape;484;p19"/>
            <p:cNvSpPr txBox="1"/>
            <p:nvPr/>
          </p:nvSpPr>
          <p:spPr>
            <a:xfrm>
              <a:off x="6610121" y="1179922"/>
              <a:ext cx="4593866" cy="5693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400">
                  <a:solidFill>
                    <a:schemeClr val="dk1"/>
                  </a:solidFill>
                  <a:latin typeface="Arial"/>
                  <a:ea typeface="Arial"/>
                  <a:cs typeface="Arial"/>
                  <a:sym typeface="Arial"/>
                </a:rPr>
                <a:t>Calcaire à rudistes</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This limestone was placed in the cathedral in the 13</a:t>
              </a:r>
              <a:r>
                <a:rPr baseline="30000" lang="en-CH" sz="2000">
                  <a:solidFill>
                    <a:schemeClr val="dk1"/>
                  </a:solidFill>
                  <a:latin typeface="Arial"/>
                  <a:ea typeface="Arial"/>
                  <a:cs typeface="Arial"/>
                  <a:sym typeface="Arial"/>
                </a:rPr>
                <a:t>th</a:t>
              </a:r>
              <a:r>
                <a:rPr lang="en-CH" sz="2000">
                  <a:solidFill>
                    <a:schemeClr val="dk1"/>
                  </a:solidFill>
                  <a:latin typeface="Arial"/>
                  <a:ea typeface="Arial"/>
                  <a:cs typeface="Arial"/>
                  <a:sym typeface="Arial"/>
                </a:rPr>
                <a:t> Century CE (Gothic period). Rudist limestone, found in the Jura ranges, is more resistant to weathering as compared to Molasse and therefore used at the base of the structure.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Fun fact: The origin of these stones is most likely the reuse of monuments from the Roman era.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BACK &gt;</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pic>
        <p:nvPicPr>
          <p:cNvPr descr="A close-up of a stone building&#10;&#10;Description automatically generated" id="485" name="Google Shape;485;p19"/>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
        <p:nvSpPr>
          <p:cNvPr id="486" name="Google Shape;486;p19"/>
          <p:cNvSpPr/>
          <p:nvPr/>
        </p:nvSpPr>
        <p:spPr>
          <a:xfrm>
            <a:off x="2265711" y="5320145"/>
            <a:ext cx="522831" cy="185352"/>
          </a:xfrm>
          <a:prstGeom prst="rect">
            <a:avLst/>
          </a:prstGeom>
          <a:solidFill>
            <a:srgbClr val="3333CC">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7" name="Google Shape;487;p19"/>
          <p:cNvSpPr/>
          <p:nvPr/>
        </p:nvSpPr>
        <p:spPr>
          <a:xfrm>
            <a:off x="3746888" y="5320145"/>
            <a:ext cx="628629" cy="185352"/>
          </a:xfrm>
          <a:prstGeom prst="rect">
            <a:avLst/>
          </a:prstGeom>
          <a:solidFill>
            <a:srgbClr val="3333CC">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8" name="Google Shape;488;p19"/>
          <p:cNvSpPr/>
          <p:nvPr/>
        </p:nvSpPr>
        <p:spPr>
          <a:xfrm>
            <a:off x="1555982" y="5509069"/>
            <a:ext cx="3290142" cy="274125"/>
          </a:xfrm>
          <a:prstGeom prst="rect">
            <a:avLst/>
          </a:prstGeom>
          <a:solidFill>
            <a:srgbClr val="3333CC">
              <a:alpha val="26666"/>
            </a:srgbClr>
          </a:solidFill>
          <a:ln cap="flat" cmpd="sng" w="19050">
            <a:solidFill>
              <a:schemeClr val="lt1">
                <a:alpha val="68627"/>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descr="A close-up of a stone wall&#10;&#10;Description automatically generated" id="494" name="Google Shape;494;p20"/>
          <p:cNvPicPr preferRelativeResize="0"/>
          <p:nvPr/>
        </p:nvPicPr>
        <p:blipFill rotWithShape="1">
          <a:blip r:embed="rId3">
            <a:alphaModFix amt="45000"/>
          </a:blip>
          <a:srcRect b="25000" l="0" r="0" t="0"/>
          <a:stretch/>
        </p:blipFill>
        <p:spPr>
          <a:xfrm>
            <a:off x="0" y="0"/>
            <a:ext cx="12192000" cy="6858000"/>
          </a:xfrm>
          <a:prstGeom prst="rect">
            <a:avLst/>
          </a:prstGeom>
          <a:noFill/>
          <a:ln>
            <a:noFill/>
          </a:ln>
        </p:spPr>
      </p:pic>
      <p:sp>
        <p:nvSpPr>
          <p:cNvPr id="495" name="Google Shape;495;p20"/>
          <p:cNvSpPr txBox="1"/>
          <p:nvPr/>
        </p:nvSpPr>
        <p:spPr>
          <a:xfrm>
            <a:off x="249717" y="443110"/>
            <a:ext cx="4850495"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a:t>
            </a:r>
            <a:endParaRPr sz="3200">
              <a:solidFill>
                <a:schemeClr val="dk1"/>
              </a:solidFill>
              <a:latin typeface="Arial"/>
              <a:ea typeface="Arial"/>
              <a:cs typeface="Arial"/>
              <a:sym typeface="Arial"/>
            </a:endParaRPr>
          </a:p>
        </p:txBody>
      </p:sp>
      <p:sp>
        <p:nvSpPr>
          <p:cNvPr id="496" name="Google Shape;496;p20"/>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497" name="Google Shape;497;p20"/>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498" name="Google Shape;498;p20"/>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499" name="Google Shape;499;p20"/>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20"/>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grpSp>
        <p:nvGrpSpPr>
          <p:cNvPr id="501" name="Google Shape;501;p20"/>
          <p:cNvGrpSpPr/>
          <p:nvPr/>
        </p:nvGrpSpPr>
        <p:grpSpPr>
          <a:xfrm>
            <a:off x="309286" y="1033756"/>
            <a:ext cx="11527514" cy="4985980"/>
            <a:chOff x="249717" y="981719"/>
            <a:chExt cx="11527514" cy="4985980"/>
          </a:xfrm>
        </p:grpSpPr>
        <p:sp>
          <p:nvSpPr>
            <p:cNvPr id="502" name="Google Shape;502;p20"/>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503" name="Google Shape;503;p20"/>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04" name="Google Shape;504;p20"/>
          <p:cNvSpPr txBox="1"/>
          <p:nvPr/>
        </p:nvSpPr>
        <p:spPr>
          <a:xfrm>
            <a:off x="6610121" y="1179922"/>
            <a:ext cx="4593866" cy="1877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400">
                <a:solidFill>
                  <a:schemeClr val="dk1"/>
                </a:solidFill>
                <a:latin typeface="Arial"/>
                <a:ea typeface="Arial"/>
                <a:cs typeface="Arial"/>
                <a:sym typeface="Arial"/>
              </a:rPr>
              <a:t>Good work! You are now ready to explore the next section</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CH" sz="2400">
                <a:solidFill>
                  <a:schemeClr val="dk1"/>
                </a:solidFill>
                <a:latin typeface="Arial"/>
                <a:ea typeface="Arial"/>
                <a:cs typeface="Arial"/>
                <a:sym typeface="Arial"/>
              </a:rPr>
              <a:t>Go back to the main menu…</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A close-up of a stone building&#10;&#10;Description automatically generated" id="505" name="Google Shape;505;p20"/>
          <p:cNvPicPr preferRelativeResize="0"/>
          <p:nvPr/>
        </p:nvPicPr>
        <p:blipFill rotWithShape="1">
          <a:blip r:embed="rId4">
            <a:alphaModFix/>
          </a:blip>
          <a:srcRect b="7313" l="32675" r="32929" t="9018"/>
          <a:stretch/>
        </p:blipFill>
        <p:spPr>
          <a:xfrm>
            <a:off x="1555981" y="1270296"/>
            <a:ext cx="3290142" cy="4512899"/>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A large building with a tower and a body of water&#10;&#10;Description automatically generated" id="511" name="Google Shape;511;p21"/>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512" name="Google Shape;512;p21"/>
          <p:cNvSpPr txBox="1"/>
          <p:nvPr/>
        </p:nvSpPr>
        <p:spPr>
          <a:xfrm>
            <a:off x="520262" y="461912"/>
            <a:ext cx="4850495" cy="1077218"/>
          </a:xfrm>
          <a:prstGeom prst="rect">
            <a:avLst/>
          </a:prstGeom>
          <a:solidFill>
            <a:schemeClr val="lt1">
              <a:alpha val="69019"/>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Molasse and its weathering</a:t>
            </a:r>
            <a:endParaRPr b="1" sz="3200">
              <a:solidFill>
                <a:schemeClr val="dk1"/>
              </a:solidFill>
              <a:latin typeface="Arial"/>
              <a:ea typeface="Arial"/>
              <a:cs typeface="Arial"/>
              <a:sym typeface="Arial"/>
            </a:endParaRPr>
          </a:p>
        </p:txBody>
      </p:sp>
      <p:sp>
        <p:nvSpPr>
          <p:cNvPr id="513" name="Google Shape;513;p21"/>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514" name="Google Shape;514;p21"/>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515" name="Google Shape;515;p21"/>
          <p:cNvSpPr txBox="1"/>
          <p:nvPr/>
        </p:nvSpPr>
        <p:spPr>
          <a:xfrm>
            <a:off x="520262" y="2066400"/>
            <a:ext cx="5575738" cy="4370427"/>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cathedral of Lausanne was built with a local molasse sandstone, that is particlarly sensitve to water.</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You may obtain directly here information on that stone as well as on its weathering by clicking on the corresponding buttons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You may also go directly to an interactive discovery App to use as you walk around the cathedral.</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Weather icons" id="516" name="Google Shape;516;p21"/>
          <p:cNvPicPr preferRelativeResize="0"/>
          <p:nvPr/>
        </p:nvPicPr>
        <p:blipFill rotWithShape="1">
          <a:blip r:embed="rId4">
            <a:alphaModFix/>
          </a:blip>
          <a:srcRect b="0" l="0" r="0" t="0"/>
          <a:stretch/>
        </p:blipFill>
        <p:spPr>
          <a:xfrm>
            <a:off x="651795" y="968331"/>
            <a:ext cx="516190" cy="465883"/>
          </a:xfrm>
          <a:prstGeom prst="rect">
            <a:avLst/>
          </a:prstGeom>
          <a:noFill/>
          <a:ln>
            <a:noFill/>
          </a:ln>
        </p:spPr>
      </p:pic>
      <p:grpSp>
        <p:nvGrpSpPr>
          <p:cNvPr id="517" name="Google Shape;517;p21"/>
          <p:cNvGrpSpPr/>
          <p:nvPr/>
        </p:nvGrpSpPr>
        <p:grpSpPr>
          <a:xfrm>
            <a:off x="6979436" y="2330405"/>
            <a:ext cx="4500237" cy="922367"/>
            <a:chOff x="6450180" y="687439"/>
            <a:chExt cx="4500237" cy="922367"/>
          </a:xfrm>
        </p:grpSpPr>
        <p:sp>
          <p:nvSpPr>
            <p:cNvPr id="518" name="Google Shape;518;p21"/>
            <p:cNvSpPr/>
            <p:nvPr/>
          </p:nvSpPr>
          <p:spPr>
            <a:xfrm>
              <a:off x="6450180" y="687439"/>
              <a:ext cx="4500237" cy="922367"/>
            </a:xfrm>
            <a:prstGeom prst="roundRect">
              <a:avLst>
                <a:gd fmla="val 50000" name="adj"/>
              </a:avLst>
            </a:prstGeom>
            <a:solidFill>
              <a:schemeClr val="lt1">
                <a:alpha val="7019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19" name="Google Shape;519;p21"/>
            <p:cNvSpPr txBox="1"/>
            <p:nvPr/>
          </p:nvSpPr>
          <p:spPr>
            <a:xfrm>
              <a:off x="7655258" y="957434"/>
              <a:ext cx="278999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Molasse sandstone</a:t>
              </a:r>
              <a:endParaRPr/>
            </a:p>
          </p:txBody>
        </p:sp>
        <p:pic>
          <p:nvPicPr>
            <p:cNvPr descr="Dolomite (Mineral) - an overview | ScienceDirect Topics" id="520" name="Google Shape;520;p21"/>
            <p:cNvPicPr preferRelativeResize="0"/>
            <p:nvPr/>
          </p:nvPicPr>
          <p:blipFill rotWithShape="1">
            <a:blip r:embed="rId5">
              <a:alphaModFix/>
            </a:blip>
            <a:srcRect b="50000" l="52012" r="0" t="6685"/>
            <a:stretch/>
          </p:blipFill>
          <p:spPr>
            <a:xfrm>
              <a:off x="6734666" y="838353"/>
              <a:ext cx="691631" cy="660092"/>
            </a:xfrm>
            <a:prstGeom prst="ellipse">
              <a:avLst/>
            </a:prstGeom>
            <a:noFill/>
            <a:ln>
              <a:noFill/>
            </a:ln>
          </p:spPr>
        </p:pic>
      </p:grpSp>
      <p:grpSp>
        <p:nvGrpSpPr>
          <p:cNvPr id="521" name="Google Shape;521;p21"/>
          <p:cNvGrpSpPr/>
          <p:nvPr/>
        </p:nvGrpSpPr>
        <p:grpSpPr>
          <a:xfrm>
            <a:off x="7006258" y="3373035"/>
            <a:ext cx="4500237" cy="922367"/>
            <a:chOff x="6477002" y="1781585"/>
            <a:chExt cx="4500237" cy="922367"/>
          </a:xfrm>
        </p:grpSpPr>
        <p:sp>
          <p:nvSpPr>
            <p:cNvPr id="522" name="Google Shape;522;p21"/>
            <p:cNvSpPr/>
            <p:nvPr/>
          </p:nvSpPr>
          <p:spPr>
            <a:xfrm>
              <a:off x="6477002" y="1781585"/>
              <a:ext cx="4500237" cy="922367"/>
            </a:xfrm>
            <a:prstGeom prst="roundRect">
              <a:avLst>
                <a:gd fmla="val 50000" name="adj"/>
              </a:avLst>
            </a:prstGeom>
            <a:solidFill>
              <a:schemeClr val="lt1">
                <a:alpha val="7019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23" name="Google Shape;523;p21"/>
            <p:cNvSpPr txBox="1"/>
            <p:nvPr/>
          </p:nvSpPr>
          <p:spPr>
            <a:xfrm>
              <a:off x="7682080" y="2051580"/>
              <a:ext cx="270394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Weathering of Molasse</a:t>
              </a:r>
              <a:endParaRPr/>
            </a:p>
          </p:txBody>
        </p:sp>
        <p:pic>
          <p:nvPicPr>
            <p:cNvPr descr="Freezing - Free weather icons" id="524" name="Google Shape;524;p21"/>
            <p:cNvPicPr preferRelativeResize="0"/>
            <p:nvPr/>
          </p:nvPicPr>
          <p:blipFill rotWithShape="1">
            <a:blip r:embed="rId6">
              <a:alphaModFix/>
            </a:blip>
            <a:srcRect b="0" l="0" r="0" t="0"/>
            <a:stretch/>
          </p:blipFill>
          <p:spPr>
            <a:xfrm>
              <a:off x="6864405" y="1984784"/>
              <a:ext cx="547666" cy="547666"/>
            </a:xfrm>
            <a:prstGeom prst="rect">
              <a:avLst/>
            </a:prstGeom>
            <a:noFill/>
            <a:ln>
              <a:noFill/>
            </a:ln>
          </p:spPr>
        </p:pic>
      </p:grpSp>
      <p:grpSp>
        <p:nvGrpSpPr>
          <p:cNvPr id="525" name="Google Shape;525;p21"/>
          <p:cNvGrpSpPr/>
          <p:nvPr/>
        </p:nvGrpSpPr>
        <p:grpSpPr>
          <a:xfrm>
            <a:off x="7022973" y="4468150"/>
            <a:ext cx="4500237" cy="922367"/>
            <a:chOff x="6493717" y="5148975"/>
            <a:chExt cx="4500237" cy="922367"/>
          </a:xfrm>
        </p:grpSpPr>
        <p:sp>
          <p:nvSpPr>
            <p:cNvPr id="526" name="Google Shape;526;p21"/>
            <p:cNvSpPr/>
            <p:nvPr/>
          </p:nvSpPr>
          <p:spPr>
            <a:xfrm>
              <a:off x="6493717" y="5148975"/>
              <a:ext cx="4500237" cy="922367"/>
            </a:xfrm>
            <a:prstGeom prst="roundRect">
              <a:avLst>
                <a:gd fmla="val 50000" name="adj"/>
              </a:avLst>
            </a:prstGeom>
            <a:solidFill>
              <a:schemeClr val="lt1">
                <a:alpha val="7019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527" name="Google Shape;527;p21"/>
            <p:cNvSpPr txBox="1"/>
            <p:nvPr/>
          </p:nvSpPr>
          <p:spPr>
            <a:xfrm>
              <a:off x="7597196" y="5410103"/>
              <a:ext cx="246125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Interactive discovery</a:t>
              </a:r>
              <a:endParaRPr/>
            </a:p>
          </p:txBody>
        </p:sp>
      </p:grpSp>
      <p:pic>
        <p:nvPicPr>
          <p:cNvPr descr="Online Virtual Tour Icon - Free Download Science &amp; Technology Icons |  IconScout" id="528" name="Google Shape;528;p21"/>
          <p:cNvPicPr preferRelativeResize="0"/>
          <p:nvPr/>
        </p:nvPicPr>
        <p:blipFill rotWithShape="1">
          <a:blip r:embed="rId7">
            <a:alphaModFix/>
          </a:blip>
          <a:srcRect b="0" l="0" r="0" t="0"/>
          <a:stretch/>
        </p:blipFill>
        <p:spPr>
          <a:xfrm>
            <a:off x="7335361" y="4636409"/>
            <a:ext cx="664265" cy="664265"/>
          </a:xfrm>
          <a:prstGeom prst="rect">
            <a:avLst/>
          </a:prstGeom>
          <a:noFill/>
          <a:ln>
            <a:noFill/>
          </a:ln>
        </p:spPr>
      </p:pic>
      <p:sp>
        <p:nvSpPr>
          <p:cNvPr id="529" name="Google Shape;529;p21"/>
          <p:cNvSpPr/>
          <p:nvPr/>
        </p:nvSpPr>
        <p:spPr>
          <a:xfrm rot="1077042">
            <a:off x="11035651" y="3651058"/>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0" name="Google Shape;530;p21"/>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descr="A large building with a tower and a body of water&#10;&#10;Description automatically generated" id="536" name="Google Shape;536;p22"/>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537" name="Google Shape;537;p22"/>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538" name="Google Shape;538;p22"/>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539" name="Google Shape;539;p22"/>
          <p:cNvSpPr txBox="1"/>
          <p:nvPr/>
        </p:nvSpPr>
        <p:spPr>
          <a:xfrm>
            <a:off x="520261" y="2045549"/>
            <a:ext cx="5500663" cy="3539430"/>
          </a:xfrm>
          <a:prstGeom prst="rect">
            <a:avLst/>
          </a:prstGeom>
          <a:solidFill>
            <a:schemeClr val="lt1">
              <a:alpha val="80000"/>
            </a:schemeClr>
          </a:solidFill>
          <a:ln>
            <a:noFill/>
          </a:ln>
        </p:spPr>
        <p:txBody>
          <a:bodyPr anchorCtr="0" anchor="t" bIns="45700" lIns="144000" spcFirstLastPara="1" rIns="144000" wrap="square" tIns="720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process of degradation is a complex system that involves different factors.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weathering mechanisms are the physical/chemical processes involved in the degradation.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degradation type (or patterns) refers to how damage manifest in a larger scale.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grpSp>
        <p:nvGrpSpPr>
          <p:cNvPr id="540" name="Google Shape;540;p22"/>
          <p:cNvGrpSpPr/>
          <p:nvPr/>
        </p:nvGrpSpPr>
        <p:grpSpPr>
          <a:xfrm>
            <a:off x="6895515" y="2977873"/>
            <a:ext cx="4500237" cy="922367"/>
            <a:chOff x="6477002" y="1781585"/>
            <a:chExt cx="4500237" cy="922367"/>
          </a:xfrm>
        </p:grpSpPr>
        <p:sp>
          <p:nvSpPr>
            <p:cNvPr id="541" name="Google Shape;541;p22"/>
            <p:cNvSpPr/>
            <p:nvPr/>
          </p:nvSpPr>
          <p:spPr>
            <a:xfrm>
              <a:off x="6477002" y="1781585"/>
              <a:ext cx="4500237" cy="922367"/>
            </a:xfrm>
            <a:prstGeom prst="roundRect">
              <a:avLst>
                <a:gd fmla="val 50000" name="adj"/>
              </a:avLst>
            </a:prstGeom>
            <a:solidFill>
              <a:schemeClr val="lt1">
                <a:alpha val="6980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22"/>
            <p:cNvSpPr txBox="1"/>
            <p:nvPr/>
          </p:nvSpPr>
          <p:spPr>
            <a:xfrm>
              <a:off x="7682080" y="2051580"/>
              <a:ext cx="28642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Weathering mechanism </a:t>
              </a:r>
              <a:endParaRPr sz="2000">
                <a:solidFill>
                  <a:schemeClr val="dk1"/>
                </a:solidFill>
                <a:latin typeface="Arial"/>
                <a:ea typeface="Arial"/>
                <a:cs typeface="Arial"/>
                <a:sym typeface="Arial"/>
              </a:endParaRPr>
            </a:p>
          </p:txBody>
        </p:sp>
      </p:grpSp>
      <p:grpSp>
        <p:nvGrpSpPr>
          <p:cNvPr id="543" name="Google Shape;543;p22"/>
          <p:cNvGrpSpPr/>
          <p:nvPr/>
        </p:nvGrpSpPr>
        <p:grpSpPr>
          <a:xfrm>
            <a:off x="6895514" y="3120602"/>
            <a:ext cx="4500237" cy="1849561"/>
            <a:chOff x="6477001" y="1924314"/>
            <a:chExt cx="4500237" cy="1849561"/>
          </a:xfrm>
        </p:grpSpPr>
        <p:sp>
          <p:nvSpPr>
            <p:cNvPr id="544" name="Google Shape;544;p22"/>
            <p:cNvSpPr/>
            <p:nvPr/>
          </p:nvSpPr>
          <p:spPr>
            <a:xfrm>
              <a:off x="6477001" y="2851508"/>
              <a:ext cx="4500237" cy="922367"/>
            </a:xfrm>
            <a:prstGeom prst="roundRect">
              <a:avLst>
                <a:gd fmla="val 50000" name="adj"/>
              </a:avLst>
            </a:prstGeom>
            <a:solidFill>
              <a:schemeClr val="lt1">
                <a:alpha val="6980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Degradation type</a:t>
              </a:r>
              <a:endParaRPr sz="2000">
                <a:solidFill>
                  <a:schemeClr val="dk1"/>
                </a:solidFill>
                <a:latin typeface="Arial"/>
                <a:ea typeface="Arial"/>
                <a:cs typeface="Arial"/>
                <a:sym typeface="Arial"/>
              </a:endParaRPr>
            </a:p>
          </p:txBody>
        </p:sp>
        <p:sp>
          <p:nvSpPr>
            <p:cNvPr id="545" name="Google Shape;545;p22"/>
            <p:cNvSpPr txBox="1"/>
            <p:nvPr/>
          </p:nvSpPr>
          <p:spPr>
            <a:xfrm>
              <a:off x="7580479" y="3141967"/>
              <a:ext cx="184731" cy="400110"/>
            </a:xfrm>
            <a:prstGeom prst="rect">
              <a:avLst/>
            </a:prstGeom>
            <a:solidFill>
              <a:schemeClr val="lt1">
                <a:alpha val="69803"/>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id="546" name="Google Shape;546;p22"/>
            <p:cNvPicPr preferRelativeResize="0"/>
            <p:nvPr/>
          </p:nvPicPr>
          <p:blipFill rotWithShape="1">
            <a:blip r:embed="rId4">
              <a:alphaModFix/>
            </a:blip>
            <a:srcRect b="0" l="1998" r="1998" t="0"/>
            <a:stretch/>
          </p:blipFill>
          <p:spPr>
            <a:xfrm>
              <a:off x="6877689" y="1924314"/>
              <a:ext cx="548003" cy="503931"/>
            </a:xfrm>
            <a:prstGeom prst="rect">
              <a:avLst/>
            </a:prstGeom>
            <a:noFill/>
            <a:ln>
              <a:noFill/>
            </a:ln>
          </p:spPr>
        </p:pic>
      </p:grpSp>
      <p:sp>
        <p:nvSpPr>
          <p:cNvPr id="547" name="Google Shape;547;p22"/>
          <p:cNvSpPr/>
          <p:nvPr/>
        </p:nvSpPr>
        <p:spPr>
          <a:xfrm rot="1077042">
            <a:off x="11095966" y="3241493"/>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8" name="Google Shape;548;p22"/>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descr="Venus outline" id="549" name="Google Shape;549;p22"/>
          <p:cNvPicPr preferRelativeResize="0"/>
          <p:nvPr/>
        </p:nvPicPr>
        <p:blipFill rotWithShape="1">
          <a:blip r:embed="rId5">
            <a:alphaModFix/>
          </a:blip>
          <a:srcRect b="4021" l="0" r="0" t="4021"/>
          <a:stretch/>
        </p:blipFill>
        <p:spPr>
          <a:xfrm>
            <a:off x="7278751" y="4266278"/>
            <a:ext cx="548003" cy="503931"/>
          </a:xfrm>
          <a:prstGeom prst="rect">
            <a:avLst/>
          </a:prstGeom>
          <a:noFill/>
          <a:ln>
            <a:noFill/>
          </a:ln>
        </p:spPr>
      </p:pic>
      <p:sp>
        <p:nvSpPr>
          <p:cNvPr id="550" name="Google Shape;550;p22"/>
          <p:cNvSpPr txBox="1"/>
          <p:nvPr/>
        </p:nvSpPr>
        <p:spPr>
          <a:xfrm>
            <a:off x="520262" y="461912"/>
            <a:ext cx="4850495" cy="1077218"/>
          </a:xfrm>
          <a:prstGeom prst="rect">
            <a:avLst/>
          </a:prstGeom>
          <a:solidFill>
            <a:schemeClr val="lt1">
              <a:alpha val="69019"/>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Molasse and its weathering</a:t>
            </a:r>
            <a:endParaRPr b="1" sz="3200">
              <a:solidFill>
                <a:schemeClr val="dk1"/>
              </a:solidFill>
              <a:latin typeface="Arial"/>
              <a:ea typeface="Arial"/>
              <a:cs typeface="Arial"/>
              <a:sym typeface="Arial"/>
            </a:endParaRPr>
          </a:p>
        </p:txBody>
      </p:sp>
      <p:pic>
        <p:nvPicPr>
          <p:cNvPr descr="Weather icons" id="551" name="Google Shape;551;p22"/>
          <p:cNvPicPr preferRelativeResize="0"/>
          <p:nvPr/>
        </p:nvPicPr>
        <p:blipFill rotWithShape="1">
          <a:blip r:embed="rId6">
            <a:alphaModFix/>
          </a:blip>
          <a:srcRect b="0" l="0" r="0" t="0"/>
          <a:stretch/>
        </p:blipFill>
        <p:spPr>
          <a:xfrm>
            <a:off x="651795" y="968331"/>
            <a:ext cx="516190" cy="4658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descr="A large building with a tower and a body of water&#10;&#10;Description automatically generated" id="557" name="Google Shape;557;p23"/>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558" name="Google Shape;558;p23"/>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559" name="Google Shape;559;p23"/>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560" name="Google Shape;560;p23"/>
          <p:cNvSpPr txBox="1"/>
          <p:nvPr/>
        </p:nvSpPr>
        <p:spPr>
          <a:xfrm>
            <a:off x="520261" y="2129067"/>
            <a:ext cx="5426671" cy="2646878"/>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Water is involved in all types of mechanisms of stone weathering.</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You can get further information on each of them by clicking on the corresponding buttons.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grpSp>
        <p:nvGrpSpPr>
          <p:cNvPr id="561" name="Google Shape;561;p23"/>
          <p:cNvGrpSpPr/>
          <p:nvPr/>
        </p:nvGrpSpPr>
        <p:grpSpPr>
          <a:xfrm>
            <a:off x="6582106" y="1059144"/>
            <a:ext cx="4500237" cy="922367"/>
            <a:chOff x="6477002" y="1781585"/>
            <a:chExt cx="4500237" cy="922367"/>
          </a:xfrm>
        </p:grpSpPr>
        <p:sp>
          <p:nvSpPr>
            <p:cNvPr id="562" name="Google Shape;562;p23"/>
            <p:cNvSpPr/>
            <p:nvPr/>
          </p:nvSpPr>
          <p:spPr>
            <a:xfrm>
              <a:off x="6477002" y="1781585"/>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3" name="Google Shape;563;p23"/>
            <p:cNvSpPr txBox="1"/>
            <p:nvPr/>
          </p:nvSpPr>
          <p:spPr>
            <a:xfrm>
              <a:off x="7682080" y="2051580"/>
              <a:ext cx="21726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Feeze thaw action</a:t>
              </a:r>
              <a:endParaRPr/>
            </a:p>
          </p:txBody>
        </p:sp>
        <p:pic>
          <p:nvPicPr>
            <p:cNvPr descr="Freezing - Free weather icons" id="564" name="Google Shape;564;p23"/>
            <p:cNvPicPr preferRelativeResize="0"/>
            <p:nvPr/>
          </p:nvPicPr>
          <p:blipFill rotWithShape="1">
            <a:blip r:embed="rId4">
              <a:alphaModFix/>
            </a:blip>
            <a:srcRect b="0" l="0" r="0" t="0"/>
            <a:stretch/>
          </p:blipFill>
          <p:spPr>
            <a:xfrm>
              <a:off x="6864405" y="1984784"/>
              <a:ext cx="547666" cy="547666"/>
            </a:xfrm>
            <a:prstGeom prst="rect">
              <a:avLst/>
            </a:prstGeom>
            <a:noFill/>
            <a:ln>
              <a:noFill/>
            </a:ln>
          </p:spPr>
        </p:pic>
      </p:grpSp>
      <p:grpSp>
        <p:nvGrpSpPr>
          <p:cNvPr id="565" name="Google Shape;565;p23"/>
          <p:cNvGrpSpPr/>
          <p:nvPr/>
        </p:nvGrpSpPr>
        <p:grpSpPr>
          <a:xfrm>
            <a:off x="6582105" y="2129067"/>
            <a:ext cx="4500237" cy="922367"/>
            <a:chOff x="6477001" y="2851508"/>
            <a:chExt cx="4500237" cy="922367"/>
          </a:xfrm>
        </p:grpSpPr>
        <p:sp>
          <p:nvSpPr>
            <p:cNvPr id="566" name="Google Shape;566;p23"/>
            <p:cNvSpPr/>
            <p:nvPr/>
          </p:nvSpPr>
          <p:spPr>
            <a:xfrm>
              <a:off x="6477001" y="2851508"/>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23"/>
            <p:cNvSpPr txBox="1"/>
            <p:nvPr/>
          </p:nvSpPr>
          <p:spPr>
            <a:xfrm>
              <a:off x="7580479" y="3141967"/>
              <a:ext cx="17391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Swelling clays</a:t>
              </a:r>
              <a:endParaRPr/>
            </a:p>
          </p:txBody>
        </p:sp>
        <p:pic>
          <p:nvPicPr>
            <p:cNvPr descr="Swelling of montmorillonite clay in water. | Download Scientific Diagram" id="568" name="Google Shape;568;p23"/>
            <p:cNvPicPr preferRelativeResize="0"/>
            <p:nvPr/>
          </p:nvPicPr>
          <p:blipFill rotWithShape="1">
            <a:blip r:embed="rId5">
              <a:alphaModFix/>
            </a:blip>
            <a:srcRect b="17368" l="59753" r="12469" t="22832"/>
            <a:stretch/>
          </p:blipFill>
          <p:spPr>
            <a:xfrm>
              <a:off x="6814006" y="3063546"/>
              <a:ext cx="548003" cy="503931"/>
            </a:xfrm>
            <a:prstGeom prst="rect">
              <a:avLst/>
            </a:prstGeom>
            <a:noFill/>
            <a:ln>
              <a:noFill/>
            </a:ln>
          </p:spPr>
        </p:pic>
      </p:grpSp>
      <p:grpSp>
        <p:nvGrpSpPr>
          <p:cNvPr id="569" name="Google Shape;569;p23"/>
          <p:cNvGrpSpPr/>
          <p:nvPr/>
        </p:nvGrpSpPr>
        <p:grpSpPr>
          <a:xfrm>
            <a:off x="6582104" y="3182656"/>
            <a:ext cx="4500237" cy="922367"/>
            <a:chOff x="6477000" y="3956613"/>
            <a:chExt cx="4500237" cy="922367"/>
          </a:xfrm>
        </p:grpSpPr>
        <p:sp>
          <p:nvSpPr>
            <p:cNvPr id="570" name="Google Shape;570;p23"/>
            <p:cNvSpPr/>
            <p:nvPr/>
          </p:nvSpPr>
          <p:spPr>
            <a:xfrm>
              <a:off x="6477000" y="3956613"/>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1" name="Google Shape;571;p23"/>
            <p:cNvSpPr txBox="1"/>
            <p:nvPr/>
          </p:nvSpPr>
          <p:spPr>
            <a:xfrm>
              <a:off x="7580479" y="4226608"/>
              <a:ext cx="22184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Salt crystallization</a:t>
              </a:r>
              <a:endParaRPr/>
            </a:p>
          </p:txBody>
        </p:sp>
        <p:pic>
          <p:nvPicPr>
            <p:cNvPr descr="crystals Icon - Free PNG &amp; SVG 844809 - Noun Project" id="572" name="Google Shape;572;p23"/>
            <p:cNvPicPr preferRelativeResize="0"/>
            <p:nvPr/>
          </p:nvPicPr>
          <p:blipFill rotWithShape="1">
            <a:blip r:embed="rId6">
              <a:alphaModFix/>
            </a:blip>
            <a:srcRect b="0" l="0" r="0" t="0"/>
            <a:stretch/>
          </p:blipFill>
          <p:spPr>
            <a:xfrm>
              <a:off x="6719175" y="4073549"/>
              <a:ext cx="714351" cy="714351"/>
            </a:xfrm>
            <a:prstGeom prst="rect">
              <a:avLst/>
            </a:prstGeom>
            <a:noFill/>
            <a:ln>
              <a:noFill/>
            </a:ln>
          </p:spPr>
        </p:pic>
      </p:grpSp>
      <p:grpSp>
        <p:nvGrpSpPr>
          <p:cNvPr id="573" name="Google Shape;573;p23"/>
          <p:cNvGrpSpPr/>
          <p:nvPr/>
        </p:nvGrpSpPr>
        <p:grpSpPr>
          <a:xfrm>
            <a:off x="6598821" y="4259107"/>
            <a:ext cx="4500237" cy="922367"/>
            <a:chOff x="6493717" y="5148975"/>
            <a:chExt cx="4500237" cy="922367"/>
          </a:xfrm>
        </p:grpSpPr>
        <p:sp>
          <p:nvSpPr>
            <p:cNvPr id="574" name="Google Shape;574;p23"/>
            <p:cNvSpPr/>
            <p:nvPr/>
          </p:nvSpPr>
          <p:spPr>
            <a:xfrm>
              <a:off x="6493717" y="5148975"/>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5" name="Google Shape;575;p23"/>
            <p:cNvSpPr txBox="1"/>
            <p:nvPr/>
          </p:nvSpPr>
          <p:spPr>
            <a:xfrm>
              <a:off x="7597196" y="5418970"/>
              <a:ext cx="26466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Atmospheric pollution</a:t>
              </a:r>
              <a:endParaRPr/>
            </a:p>
          </p:txBody>
        </p:sp>
        <p:pic>
          <p:nvPicPr>
            <p:cNvPr descr="Air Pollution Icon Isolated Sign Symbol Stock Vector (Royalty Free)  1567840567 | Shutterstock" id="576" name="Google Shape;576;p23"/>
            <p:cNvPicPr preferRelativeResize="0"/>
            <p:nvPr/>
          </p:nvPicPr>
          <p:blipFill rotWithShape="1">
            <a:blip r:embed="rId7">
              <a:alphaModFix/>
            </a:blip>
            <a:srcRect b="9223" l="5043" r="0" t="3672"/>
            <a:stretch/>
          </p:blipFill>
          <p:spPr>
            <a:xfrm>
              <a:off x="6840959" y="5339518"/>
              <a:ext cx="585338" cy="578229"/>
            </a:xfrm>
            <a:prstGeom prst="rect">
              <a:avLst/>
            </a:prstGeom>
            <a:noFill/>
            <a:ln>
              <a:noFill/>
            </a:ln>
          </p:spPr>
        </p:pic>
      </p:grpSp>
      <p:sp>
        <p:nvSpPr>
          <p:cNvPr id="577" name="Google Shape;577;p23"/>
          <p:cNvSpPr/>
          <p:nvPr/>
        </p:nvSpPr>
        <p:spPr>
          <a:xfrm rot="1077042">
            <a:off x="10506395" y="4331883"/>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8" name="Google Shape;578;p23"/>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grpSp>
        <p:nvGrpSpPr>
          <p:cNvPr id="579" name="Google Shape;579;p23"/>
          <p:cNvGrpSpPr/>
          <p:nvPr/>
        </p:nvGrpSpPr>
        <p:grpSpPr>
          <a:xfrm>
            <a:off x="6623388" y="5297874"/>
            <a:ext cx="4500237" cy="922367"/>
            <a:chOff x="6493717" y="5148975"/>
            <a:chExt cx="4500237" cy="922367"/>
          </a:xfrm>
        </p:grpSpPr>
        <p:sp>
          <p:nvSpPr>
            <p:cNvPr id="580" name="Google Shape;580;p23"/>
            <p:cNvSpPr/>
            <p:nvPr/>
          </p:nvSpPr>
          <p:spPr>
            <a:xfrm>
              <a:off x="6493717" y="5148975"/>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1" name="Google Shape;581;p23"/>
            <p:cNvSpPr txBox="1"/>
            <p:nvPr/>
          </p:nvSpPr>
          <p:spPr>
            <a:xfrm>
              <a:off x="7597196" y="5418970"/>
              <a:ext cx="20217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Biological attack</a:t>
              </a:r>
              <a:endParaRPr sz="2000">
                <a:solidFill>
                  <a:schemeClr val="dk1"/>
                </a:solidFill>
                <a:latin typeface="Arial"/>
                <a:ea typeface="Arial"/>
                <a:cs typeface="Arial"/>
                <a:sym typeface="Arial"/>
              </a:endParaRPr>
            </a:p>
          </p:txBody>
        </p:sp>
        <p:pic>
          <p:nvPicPr>
            <p:cNvPr descr="Plant With Roots with solid fill" id="582" name="Google Shape;582;p23"/>
            <p:cNvPicPr preferRelativeResize="0"/>
            <p:nvPr/>
          </p:nvPicPr>
          <p:blipFill rotWithShape="1">
            <a:blip r:embed="rId8">
              <a:alphaModFix/>
            </a:blip>
            <a:srcRect b="607" l="0" r="0" t="607"/>
            <a:stretch/>
          </p:blipFill>
          <p:spPr>
            <a:xfrm>
              <a:off x="6840959" y="5339518"/>
              <a:ext cx="585338" cy="578229"/>
            </a:xfrm>
            <a:prstGeom prst="rect">
              <a:avLst/>
            </a:prstGeom>
            <a:noFill/>
            <a:ln>
              <a:noFill/>
            </a:ln>
          </p:spPr>
        </p:pic>
      </p:grpSp>
      <p:sp>
        <p:nvSpPr>
          <p:cNvPr id="583" name="Google Shape;583;p23"/>
          <p:cNvSpPr txBox="1"/>
          <p:nvPr/>
        </p:nvSpPr>
        <p:spPr>
          <a:xfrm>
            <a:off x="520262" y="461912"/>
            <a:ext cx="4850495" cy="1077218"/>
          </a:xfrm>
          <a:prstGeom prst="rect">
            <a:avLst/>
          </a:prstGeom>
          <a:solidFill>
            <a:schemeClr val="lt1">
              <a:alpha val="69019"/>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Molasse and its weathering</a:t>
            </a:r>
            <a:endParaRPr b="1" sz="3200">
              <a:solidFill>
                <a:schemeClr val="dk1"/>
              </a:solidFill>
              <a:latin typeface="Arial"/>
              <a:ea typeface="Arial"/>
              <a:cs typeface="Arial"/>
              <a:sym typeface="Arial"/>
            </a:endParaRPr>
          </a:p>
        </p:txBody>
      </p:sp>
      <p:pic>
        <p:nvPicPr>
          <p:cNvPr descr="Weather icons" id="584" name="Google Shape;584;p23"/>
          <p:cNvPicPr preferRelativeResize="0"/>
          <p:nvPr/>
        </p:nvPicPr>
        <p:blipFill rotWithShape="1">
          <a:blip r:embed="rId9">
            <a:alphaModFix/>
          </a:blip>
          <a:srcRect b="0" l="0" r="0" t="0"/>
          <a:stretch/>
        </p:blipFill>
        <p:spPr>
          <a:xfrm>
            <a:off x="651795" y="968331"/>
            <a:ext cx="516190" cy="4658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descr="A large building with a tower and a body of water&#10;&#10;Description automatically generated" id="590" name="Google Shape;590;p24"/>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591" name="Google Shape;591;p24"/>
          <p:cNvSpPr txBox="1"/>
          <p:nvPr/>
        </p:nvSpPr>
        <p:spPr>
          <a:xfrm>
            <a:off x="402708" y="424684"/>
            <a:ext cx="5731184"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pollution</a:t>
            </a:r>
            <a:endParaRPr b="1" sz="3200">
              <a:solidFill>
                <a:schemeClr val="dk1"/>
              </a:solidFill>
              <a:latin typeface="Arial"/>
              <a:ea typeface="Arial"/>
              <a:cs typeface="Arial"/>
              <a:sym typeface="Arial"/>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1/2: acid rain</a:t>
            </a:r>
            <a:endParaRPr b="1" sz="3200">
              <a:solidFill>
                <a:schemeClr val="dk1"/>
              </a:solidFill>
              <a:latin typeface="Arial"/>
              <a:ea typeface="Arial"/>
              <a:cs typeface="Arial"/>
              <a:sym typeface="Arial"/>
            </a:endParaRPr>
          </a:p>
        </p:txBody>
      </p:sp>
      <p:sp>
        <p:nvSpPr>
          <p:cNvPr id="592" name="Google Shape;592;p24"/>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593" name="Google Shape;593;p24"/>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594" name="Google Shape;594;p24"/>
          <p:cNvSpPr txBox="1"/>
          <p:nvPr/>
        </p:nvSpPr>
        <p:spPr>
          <a:xfrm>
            <a:off x="402707" y="1851005"/>
            <a:ext cx="5437839" cy="4093428"/>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Atmospheric pollution, particularly acid rains, has been a serious problem for the durability of Historic Buildings in the past.</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Stones containing calcite were attacked due to the dissolutions of these minerals in contact with the acid solutions. </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In the case of Molasse sandstone, the binder component (made of calcite) could have been affected, increasing the detachment of the grains in the stone’s microstructure.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sp>
        <p:nvSpPr>
          <p:cNvPr id="595" name="Google Shape;595;p24"/>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596" name="Google Shape;596;p24"/>
          <p:cNvSpPr txBox="1"/>
          <p:nvPr/>
        </p:nvSpPr>
        <p:spPr>
          <a:xfrm>
            <a:off x="6231985" y="1819473"/>
            <a:ext cx="5590830" cy="4154984"/>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id="597" name="Google Shape;597;p24"/>
          <p:cNvPicPr preferRelativeResize="0"/>
          <p:nvPr/>
        </p:nvPicPr>
        <p:blipFill rotWithShape="1">
          <a:blip r:embed="rId4">
            <a:alphaModFix/>
          </a:blip>
          <a:srcRect b="0" l="7769" r="2612" t="0"/>
          <a:stretch/>
        </p:blipFill>
        <p:spPr>
          <a:xfrm>
            <a:off x="8999388" y="2439960"/>
            <a:ext cx="2710860" cy="2018205"/>
          </a:xfrm>
          <a:prstGeom prst="rect">
            <a:avLst/>
          </a:prstGeom>
          <a:noFill/>
          <a:ln>
            <a:noFill/>
          </a:ln>
        </p:spPr>
      </p:pic>
      <p:pic>
        <p:nvPicPr>
          <p:cNvPr id="598" name="Google Shape;598;p24"/>
          <p:cNvPicPr preferRelativeResize="0"/>
          <p:nvPr/>
        </p:nvPicPr>
        <p:blipFill rotWithShape="1">
          <a:blip r:embed="rId5">
            <a:alphaModFix/>
          </a:blip>
          <a:srcRect b="0" l="0" r="0" t="0"/>
          <a:stretch/>
        </p:blipFill>
        <p:spPr>
          <a:xfrm>
            <a:off x="6301038" y="2445099"/>
            <a:ext cx="2698350" cy="2018205"/>
          </a:xfrm>
          <a:prstGeom prst="rect">
            <a:avLst/>
          </a:prstGeom>
          <a:noFill/>
          <a:ln>
            <a:noFill/>
          </a:ln>
        </p:spPr>
      </p:pic>
      <p:sp>
        <p:nvSpPr>
          <p:cNvPr id="599" name="Google Shape;599;p24"/>
          <p:cNvSpPr/>
          <p:nvPr/>
        </p:nvSpPr>
        <p:spPr>
          <a:xfrm>
            <a:off x="6450647" y="4883093"/>
            <a:ext cx="189913" cy="154861"/>
          </a:xfrm>
          <a:prstGeom prst="rect">
            <a:avLst/>
          </a:prstGeom>
          <a:solidFill>
            <a:srgbClr val="9F4F23"/>
          </a:solidFill>
          <a:ln cap="flat" cmpd="sng" w="19050">
            <a:solidFill>
              <a:srgbClr val="9F4F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0" name="Google Shape;600;p24"/>
          <p:cNvSpPr/>
          <p:nvPr/>
        </p:nvSpPr>
        <p:spPr>
          <a:xfrm>
            <a:off x="6451904" y="5157216"/>
            <a:ext cx="189913" cy="154861"/>
          </a:xfrm>
          <a:prstGeom prst="rect">
            <a:avLst/>
          </a:prstGeom>
          <a:solidFill>
            <a:srgbClr val="B0AEAB"/>
          </a:solidFill>
          <a:ln cap="flat" cmpd="sng" w="19050">
            <a:solidFill>
              <a:srgbClr val="B0AEA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1" name="Google Shape;601;p24"/>
          <p:cNvSpPr/>
          <p:nvPr/>
        </p:nvSpPr>
        <p:spPr>
          <a:xfrm>
            <a:off x="6450647" y="5453403"/>
            <a:ext cx="189913" cy="154861"/>
          </a:xfrm>
          <a:prstGeom prst="rect">
            <a:avLst/>
          </a:prstGeom>
          <a:solidFill>
            <a:srgbClr val="96BAB8"/>
          </a:solidFill>
          <a:ln cap="flat" cmpd="sng" w="19050">
            <a:solidFill>
              <a:srgbClr val="96BA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2" name="Google Shape;602;p24"/>
          <p:cNvSpPr txBox="1"/>
          <p:nvPr/>
        </p:nvSpPr>
        <p:spPr>
          <a:xfrm>
            <a:off x="6658669" y="4788370"/>
            <a:ext cx="1473958" cy="8925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rgbClr val="7F7F7F"/>
                </a:solidFill>
                <a:latin typeface="Arial"/>
                <a:ea typeface="Arial"/>
                <a:cs typeface="Arial"/>
                <a:sym typeface="Arial"/>
              </a:rPr>
              <a:t>Swelling clays</a:t>
            </a:r>
            <a:endParaRPr sz="1400">
              <a:solidFill>
                <a:srgbClr val="7F7F7F"/>
              </a:solidFill>
              <a:latin typeface="Arial"/>
              <a:ea typeface="Arial"/>
              <a:cs typeface="Arial"/>
              <a:sym typeface="Arial"/>
            </a:endParaRPr>
          </a:p>
          <a:p>
            <a:pPr indent="0" lvl="0" marL="0" marR="0" rtl="0" algn="l">
              <a:spcBef>
                <a:spcPts val="600"/>
              </a:spcBef>
              <a:spcAft>
                <a:spcPts val="0"/>
              </a:spcAft>
              <a:buNone/>
            </a:pPr>
            <a:r>
              <a:rPr lang="en-CH" sz="1400">
                <a:solidFill>
                  <a:srgbClr val="7F7F7F"/>
                </a:solidFill>
                <a:latin typeface="Arial"/>
                <a:ea typeface="Arial"/>
                <a:cs typeface="Arial"/>
                <a:sym typeface="Arial"/>
              </a:rPr>
              <a:t>Silica grains</a:t>
            </a:r>
            <a:endParaRPr sz="1400">
              <a:solidFill>
                <a:srgbClr val="7F7F7F"/>
              </a:solidFill>
              <a:latin typeface="Arial"/>
              <a:ea typeface="Arial"/>
              <a:cs typeface="Arial"/>
              <a:sym typeface="Arial"/>
            </a:endParaRPr>
          </a:p>
          <a:p>
            <a:pPr indent="0" lvl="0" marL="0" marR="0" rtl="0" algn="l">
              <a:spcBef>
                <a:spcPts val="600"/>
              </a:spcBef>
              <a:spcAft>
                <a:spcPts val="0"/>
              </a:spcAft>
              <a:buNone/>
            </a:pPr>
            <a:r>
              <a:rPr lang="en-CH" sz="1400">
                <a:solidFill>
                  <a:srgbClr val="7F7F7F"/>
                </a:solidFill>
                <a:latin typeface="Arial"/>
                <a:ea typeface="Arial"/>
                <a:cs typeface="Arial"/>
                <a:sym typeface="Arial"/>
              </a:rPr>
              <a:t>Calcitic cement</a:t>
            </a:r>
            <a:endParaRPr sz="1400">
              <a:solidFill>
                <a:srgbClr val="7F7F7F"/>
              </a:solidFill>
              <a:latin typeface="Arial"/>
              <a:ea typeface="Arial"/>
              <a:cs typeface="Arial"/>
              <a:sym typeface="Arial"/>
            </a:endParaRPr>
          </a:p>
        </p:txBody>
      </p:sp>
      <p:sp>
        <p:nvSpPr>
          <p:cNvPr id="603" name="Google Shape;603;p24"/>
          <p:cNvSpPr/>
          <p:nvPr/>
        </p:nvSpPr>
        <p:spPr>
          <a:xfrm rot="-5400000">
            <a:off x="8835494" y="1742928"/>
            <a:ext cx="327789" cy="975749"/>
          </a:xfrm>
          <a:prstGeom prst="curvedLeftArrow">
            <a:avLst>
              <a:gd fmla="val 25000" name="adj1"/>
              <a:gd fmla="val 50000" name="adj2"/>
              <a:gd fmla="val 25000" name="adj3"/>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descr="Air Pollution Icon Isolated Sign Symbol Stock Vector (Royalty Free)  1567840567 | Shutterstock" id="604" name="Google Shape;604;p24"/>
          <p:cNvPicPr preferRelativeResize="0"/>
          <p:nvPr/>
        </p:nvPicPr>
        <p:blipFill rotWithShape="1">
          <a:blip r:embed="rId6">
            <a:alphaModFix/>
          </a:blip>
          <a:srcRect b="9223" l="5043" r="0" t="3672"/>
          <a:stretch/>
        </p:blipFill>
        <p:spPr>
          <a:xfrm>
            <a:off x="617221" y="920930"/>
            <a:ext cx="585338" cy="57822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descr="A large building with a tower and a body of water&#10;&#10;Description automatically generated" id="610" name="Google Shape;610;p25"/>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611" name="Google Shape;611;p25"/>
          <p:cNvSpPr txBox="1"/>
          <p:nvPr/>
        </p:nvSpPr>
        <p:spPr>
          <a:xfrm>
            <a:off x="403099" y="443110"/>
            <a:ext cx="5731184"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pollution</a:t>
            </a:r>
            <a:endParaRPr b="1" sz="3200">
              <a:solidFill>
                <a:schemeClr val="dk1"/>
              </a:solidFill>
              <a:latin typeface="Arial"/>
              <a:ea typeface="Arial"/>
              <a:cs typeface="Arial"/>
              <a:sym typeface="Arial"/>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2/2: microparticles and dust</a:t>
            </a:r>
            <a:endParaRPr b="1" sz="3200">
              <a:solidFill>
                <a:schemeClr val="dk1"/>
              </a:solidFill>
              <a:latin typeface="Arial"/>
              <a:ea typeface="Arial"/>
              <a:cs typeface="Arial"/>
              <a:sym typeface="Arial"/>
            </a:endParaRPr>
          </a:p>
        </p:txBody>
      </p:sp>
      <p:sp>
        <p:nvSpPr>
          <p:cNvPr id="612" name="Google Shape;612;p25"/>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613" name="Google Shape;613;p25"/>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614" name="Google Shape;614;p25"/>
          <p:cNvSpPr txBox="1"/>
          <p:nvPr/>
        </p:nvSpPr>
        <p:spPr>
          <a:xfrm>
            <a:off x="385946" y="1909402"/>
            <a:ext cx="5329640" cy="4093428"/>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Another problem related to the pollution of the air, to whom effect was decreased in the last 30 years, is the presence of microparticles of dust from the combustion processes that deposit on the stones and/or are englobed in the efflorescence that are formed due to the crystallization of salts on the surface of the buildings.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This led to the formation of the so called “black crusts”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sp>
        <p:nvSpPr>
          <p:cNvPr id="615" name="Google Shape;615;p25"/>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descr="Air Pollution Icon Isolated Sign Symbol Stock Vector (Royalty Free)  1567840567 | Shutterstock" id="616" name="Google Shape;616;p25"/>
          <p:cNvPicPr preferRelativeResize="0"/>
          <p:nvPr/>
        </p:nvPicPr>
        <p:blipFill rotWithShape="1">
          <a:blip r:embed="rId4">
            <a:alphaModFix/>
          </a:blip>
          <a:srcRect b="9223" l="5043" r="0" t="3672"/>
          <a:stretch/>
        </p:blipFill>
        <p:spPr>
          <a:xfrm>
            <a:off x="510907" y="939356"/>
            <a:ext cx="585338" cy="578229"/>
          </a:xfrm>
          <a:prstGeom prst="rect">
            <a:avLst/>
          </a:prstGeom>
          <a:noFill/>
          <a:ln>
            <a:noFill/>
          </a:ln>
        </p:spPr>
      </p:pic>
      <p:sp>
        <p:nvSpPr>
          <p:cNvPr id="617" name="Google Shape;617;p25"/>
          <p:cNvSpPr txBox="1"/>
          <p:nvPr/>
        </p:nvSpPr>
        <p:spPr>
          <a:xfrm>
            <a:off x="6231985" y="1851005"/>
            <a:ext cx="5590830" cy="4154984"/>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A stone building with a pipe&#10;&#10;Description automatically generated" id="618" name="Google Shape;618;p25"/>
          <p:cNvPicPr preferRelativeResize="0"/>
          <p:nvPr/>
        </p:nvPicPr>
        <p:blipFill rotWithShape="1">
          <a:blip r:embed="rId5">
            <a:alphaModFix/>
          </a:blip>
          <a:srcRect b="15183" l="0" r="0" t="0"/>
          <a:stretch/>
        </p:blipFill>
        <p:spPr>
          <a:xfrm>
            <a:off x="7218383" y="2190564"/>
            <a:ext cx="3459033" cy="351655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pic>
        <p:nvPicPr>
          <p:cNvPr descr="A large building with a tower and a body of water&#10;&#10;Description automatically generated" id="624" name="Google Shape;624;p26"/>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625" name="Google Shape;625;p26"/>
          <p:cNvSpPr txBox="1"/>
          <p:nvPr/>
        </p:nvSpPr>
        <p:spPr>
          <a:xfrm>
            <a:off x="393700" y="443110"/>
            <a:ext cx="5009385"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Weathering mechanisms</a:t>
            </a:r>
            <a:endParaRPr b="1" sz="3200">
              <a:solidFill>
                <a:schemeClr val="dk1"/>
              </a:solidFill>
              <a:latin typeface="Arial"/>
              <a:ea typeface="Arial"/>
              <a:cs typeface="Arial"/>
              <a:sym typeface="Arial"/>
            </a:endParaRPr>
          </a:p>
        </p:txBody>
      </p:sp>
      <p:sp>
        <p:nvSpPr>
          <p:cNvPr id="626" name="Google Shape;626;p26"/>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627" name="Google Shape;627;p26"/>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628" name="Google Shape;628;p26"/>
          <p:cNvSpPr txBox="1"/>
          <p:nvPr/>
        </p:nvSpPr>
        <p:spPr>
          <a:xfrm>
            <a:off x="356103" y="2074694"/>
            <a:ext cx="5590830" cy="2554545"/>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Water is involved in all types of mechanisms of stone weathering.</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You can get further information on each of them by clicking on the corresponding buttons.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pic>
        <p:nvPicPr>
          <p:cNvPr descr="Weather icons" id="629" name="Google Shape;629;p26"/>
          <p:cNvPicPr preferRelativeResize="0"/>
          <p:nvPr/>
        </p:nvPicPr>
        <p:blipFill rotWithShape="1">
          <a:blip r:embed="rId4">
            <a:alphaModFix/>
          </a:blip>
          <a:srcRect b="0" l="0" r="0" t="0"/>
          <a:stretch/>
        </p:blipFill>
        <p:spPr>
          <a:xfrm>
            <a:off x="551359" y="989182"/>
            <a:ext cx="516190" cy="465883"/>
          </a:xfrm>
          <a:prstGeom prst="rect">
            <a:avLst/>
          </a:prstGeom>
          <a:noFill/>
          <a:ln>
            <a:noFill/>
          </a:ln>
        </p:spPr>
      </p:pic>
      <p:grpSp>
        <p:nvGrpSpPr>
          <p:cNvPr id="630" name="Google Shape;630;p26"/>
          <p:cNvGrpSpPr/>
          <p:nvPr/>
        </p:nvGrpSpPr>
        <p:grpSpPr>
          <a:xfrm>
            <a:off x="6582106" y="1059144"/>
            <a:ext cx="4500237" cy="922367"/>
            <a:chOff x="6477002" y="1781585"/>
            <a:chExt cx="4500237" cy="922367"/>
          </a:xfrm>
        </p:grpSpPr>
        <p:sp>
          <p:nvSpPr>
            <p:cNvPr id="631" name="Google Shape;631;p26"/>
            <p:cNvSpPr/>
            <p:nvPr/>
          </p:nvSpPr>
          <p:spPr>
            <a:xfrm>
              <a:off x="6477002" y="1781585"/>
              <a:ext cx="4500237" cy="922367"/>
            </a:xfrm>
            <a:prstGeom prst="roundRect">
              <a:avLst>
                <a:gd fmla="val 50000" name="adj"/>
              </a:avLst>
            </a:prstGeom>
            <a:solidFill>
              <a:schemeClr val="lt1">
                <a:alpha val="6980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2" name="Google Shape;632;p26"/>
            <p:cNvSpPr txBox="1"/>
            <p:nvPr/>
          </p:nvSpPr>
          <p:spPr>
            <a:xfrm>
              <a:off x="7682080" y="2051580"/>
              <a:ext cx="21726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Feeze thaw action</a:t>
              </a:r>
              <a:endParaRPr/>
            </a:p>
          </p:txBody>
        </p:sp>
        <p:pic>
          <p:nvPicPr>
            <p:cNvPr descr="Freezing - Free weather icons" id="633" name="Google Shape;633;p26"/>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634" name="Google Shape;634;p26"/>
          <p:cNvGrpSpPr/>
          <p:nvPr/>
        </p:nvGrpSpPr>
        <p:grpSpPr>
          <a:xfrm>
            <a:off x="6582105" y="2129067"/>
            <a:ext cx="4500237" cy="922367"/>
            <a:chOff x="6477001" y="2851508"/>
            <a:chExt cx="4500237" cy="922367"/>
          </a:xfrm>
        </p:grpSpPr>
        <p:sp>
          <p:nvSpPr>
            <p:cNvPr id="635" name="Google Shape;635;p26"/>
            <p:cNvSpPr/>
            <p:nvPr/>
          </p:nvSpPr>
          <p:spPr>
            <a:xfrm>
              <a:off x="6477001" y="2851508"/>
              <a:ext cx="4500237" cy="922367"/>
            </a:xfrm>
            <a:prstGeom prst="roundRect">
              <a:avLst>
                <a:gd fmla="val 50000" name="adj"/>
              </a:avLst>
            </a:prstGeom>
            <a:solidFill>
              <a:schemeClr val="lt1">
                <a:alpha val="69019"/>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6" name="Google Shape;636;p26"/>
            <p:cNvSpPr txBox="1"/>
            <p:nvPr/>
          </p:nvSpPr>
          <p:spPr>
            <a:xfrm>
              <a:off x="7580479" y="3141967"/>
              <a:ext cx="17391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Swelling clays</a:t>
              </a:r>
              <a:endParaRPr/>
            </a:p>
          </p:txBody>
        </p:sp>
        <p:pic>
          <p:nvPicPr>
            <p:cNvPr descr="Swelling of montmorillonite clay in water. | Download Scientific Diagram" id="637" name="Google Shape;637;p26"/>
            <p:cNvPicPr preferRelativeResize="0"/>
            <p:nvPr/>
          </p:nvPicPr>
          <p:blipFill rotWithShape="1">
            <a:blip r:embed="rId6">
              <a:alphaModFix/>
            </a:blip>
            <a:srcRect b="17368" l="59753" r="12469" t="22832"/>
            <a:stretch/>
          </p:blipFill>
          <p:spPr>
            <a:xfrm>
              <a:off x="6814006" y="3063546"/>
              <a:ext cx="548003" cy="503931"/>
            </a:xfrm>
            <a:prstGeom prst="rect">
              <a:avLst/>
            </a:prstGeom>
            <a:noFill/>
            <a:ln>
              <a:noFill/>
            </a:ln>
          </p:spPr>
        </p:pic>
      </p:grpSp>
      <p:grpSp>
        <p:nvGrpSpPr>
          <p:cNvPr id="638" name="Google Shape;638;p26"/>
          <p:cNvGrpSpPr/>
          <p:nvPr/>
        </p:nvGrpSpPr>
        <p:grpSpPr>
          <a:xfrm>
            <a:off x="6582104" y="3182656"/>
            <a:ext cx="4500237" cy="922367"/>
            <a:chOff x="6477000" y="3956613"/>
            <a:chExt cx="4500237" cy="922367"/>
          </a:xfrm>
        </p:grpSpPr>
        <p:sp>
          <p:nvSpPr>
            <p:cNvPr id="639" name="Google Shape;639;p26"/>
            <p:cNvSpPr/>
            <p:nvPr/>
          </p:nvSpPr>
          <p:spPr>
            <a:xfrm>
              <a:off x="6477000" y="3956613"/>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0" name="Google Shape;640;p26"/>
            <p:cNvSpPr txBox="1"/>
            <p:nvPr/>
          </p:nvSpPr>
          <p:spPr>
            <a:xfrm>
              <a:off x="7580479" y="4226608"/>
              <a:ext cx="22184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Salt crystallization</a:t>
              </a:r>
              <a:endParaRPr/>
            </a:p>
          </p:txBody>
        </p:sp>
        <p:pic>
          <p:nvPicPr>
            <p:cNvPr descr="crystals Icon - Free PNG &amp; SVG 844809 - Noun Project" id="641" name="Google Shape;641;p26"/>
            <p:cNvPicPr preferRelativeResize="0"/>
            <p:nvPr/>
          </p:nvPicPr>
          <p:blipFill rotWithShape="1">
            <a:blip r:embed="rId7">
              <a:alphaModFix/>
            </a:blip>
            <a:srcRect b="0" l="0" r="0" t="0"/>
            <a:stretch/>
          </p:blipFill>
          <p:spPr>
            <a:xfrm>
              <a:off x="6719175" y="4073549"/>
              <a:ext cx="714351" cy="714351"/>
            </a:xfrm>
            <a:prstGeom prst="rect">
              <a:avLst/>
            </a:prstGeom>
            <a:noFill/>
            <a:ln>
              <a:noFill/>
            </a:ln>
          </p:spPr>
        </p:pic>
      </p:grpSp>
      <p:grpSp>
        <p:nvGrpSpPr>
          <p:cNvPr id="642" name="Google Shape;642;p26"/>
          <p:cNvGrpSpPr/>
          <p:nvPr/>
        </p:nvGrpSpPr>
        <p:grpSpPr>
          <a:xfrm>
            <a:off x="6598821" y="4259107"/>
            <a:ext cx="4500237" cy="922367"/>
            <a:chOff x="6493717" y="5148975"/>
            <a:chExt cx="4500237" cy="922367"/>
          </a:xfrm>
        </p:grpSpPr>
        <p:sp>
          <p:nvSpPr>
            <p:cNvPr id="643" name="Google Shape;643;p26"/>
            <p:cNvSpPr/>
            <p:nvPr/>
          </p:nvSpPr>
          <p:spPr>
            <a:xfrm>
              <a:off x="6493717" y="5148975"/>
              <a:ext cx="4500237" cy="922367"/>
            </a:xfrm>
            <a:prstGeom prst="roundRect">
              <a:avLst>
                <a:gd fmla="val 50000" name="adj"/>
              </a:avLst>
            </a:prstGeom>
            <a:solidFill>
              <a:schemeClr val="lt1">
                <a:alpha val="68627"/>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4" name="Google Shape;644;p26"/>
            <p:cNvSpPr txBox="1"/>
            <p:nvPr/>
          </p:nvSpPr>
          <p:spPr>
            <a:xfrm>
              <a:off x="7597196" y="5418970"/>
              <a:ext cx="26466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Atmospheric pollution</a:t>
              </a:r>
              <a:endParaRPr/>
            </a:p>
          </p:txBody>
        </p:sp>
        <p:pic>
          <p:nvPicPr>
            <p:cNvPr descr="Air Pollution Icon Isolated Sign Symbol Stock Vector (Royalty Free)  1567840567 | Shutterstock" id="645" name="Google Shape;645;p26"/>
            <p:cNvPicPr preferRelativeResize="0"/>
            <p:nvPr/>
          </p:nvPicPr>
          <p:blipFill rotWithShape="1">
            <a:blip r:embed="rId8">
              <a:alphaModFix/>
            </a:blip>
            <a:srcRect b="9223" l="5043" r="0" t="3672"/>
            <a:stretch/>
          </p:blipFill>
          <p:spPr>
            <a:xfrm>
              <a:off x="6840959" y="5339518"/>
              <a:ext cx="585338" cy="578229"/>
            </a:xfrm>
            <a:prstGeom prst="rect">
              <a:avLst/>
            </a:prstGeom>
            <a:noFill/>
            <a:ln>
              <a:noFill/>
            </a:ln>
          </p:spPr>
        </p:pic>
      </p:grpSp>
      <p:sp>
        <p:nvSpPr>
          <p:cNvPr id="646" name="Google Shape;646;p26"/>
          <p:cNvSpPr/>
          <p:nvPr/>
        </p:nvSpPr>
        <p:spPr>
          <a:xfrm rot="1077042">
            <a:off x="10774581" y="2540417"/>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7" name="Google Shape;647;p26"/>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grpSp>
        <p:nvGrpSpPr>
          <p:cNvPr id="648" name="Google Shape;648;p26"/>
          <p:cNvGrpSpPr/>
          <p:nvPr/>
        </p:nvGrpSpPr>
        <p:grpSpPr>
          <a:xfrm>
            <a:off x="6623388" y="5297874"/>
            <a:ext cx="4500237" cy="922367"/>
            <a:chOff x="6493717" y="5148975"/>
            <a:chExt cx="4500237" cy="922367"/>
          </a:xfrm>
        </p:grpSpPr>
        <p:sp>
          <p:nvSpPr>
            <p:cNvPr id="649" name="Google Shape;649;p26"/>
            <p:cNvSpPr/>
            <p:nvPr/>
          </p:nvSpPr>
          <p:spPr>
            <a:xfrm>
              <a:off x="6493717" y="5148975"/>
              <a:ext cx="4500237" cy="922367"/>
            </a:xfrm>
            <a:prstGeom prst="roundRect">
              <a:avLst>
                <a:gd fmla="val 50000" name="adj"/>
              </a:avLst>
            </a:prstGeom>
            <a:solidFill>
              <a:schemeClr val="lt1">
                <a:alpha val="6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0" name="Google Shape;650;p26"/>
            <p:cNvSpPr txBox="1"/>
            <p:nvPr/>
          </p:nvSpPr>
          <p:spPr>
            <a:xfrm>
              <a:off x="7597196" y="5418970"/>
              <a:ext cx="20217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Biological attack</a:t>
              </a:r>
              <a:endParaRPr sz="2000">
                <a:solidFill>
                  <a:schemeClr val="dk1"/>
                </a:solidFill>
                <a:latin typeface="Arial"/>
                <a:ea typeface="Arial"/>
                <a:cs typeface="Arial"/>
                <a:sym typeface="Arial"/>
              </a:endParaRPr>
            </a:p>
          </p:txBody>
        </p:sp>
        <p:pic>
          <p:nvPicPr>
            <p:cNvPr descr="Plant With Roots with solid fill" id="651" name="Google Shape;651;p26"/>
            <p:cNvPicPr preferRelativeResize="0"/>
            <p:nvPr/>
          </p:nvPicPr>
          <p:blipFill rotWithShape="1">
            <a:blip r:embed="rId9">
              <a:alphaModFix/>
            </a:blip>
            <a:srcRect b="607" l="0" r="0" t="607"/>
            <a:stretch/>
          </p:blipFill>
          <p:spPr>
            <a:xfrm>
              <a:off x="6840959" y="5339518"/>
              <a:ext cx="585338" cy="57822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descr="A large building with a tower and a body of water&#10;&#10;Description automatically generated" id="657" name="Google Shape;657;p27"/>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658" name="Google Shape;658;p27"/>
          <p:cNvSpPr txBox="1"/>
          <p:nvPr/>
        </p:nvSpPr>
        <p:spPr>
          <a:xfrm>
            <a:off x="249717" y="443110"/>
            <a:ext cx="592014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pollution</a:t>
            </a:r>
            <a:endParaRPr b="1" sz="3200">
              <a:solidFill>
                <a:schemeClr val="dk1"/>
              </a:solidFill>
              <a:latin typeface="Arial"/>
              <a:ea typeface="Arial"/>
              <a:cs typeface="Arial"/>
              <a:sym typeface="Arial"/>
            </a:endParaRPr>
          </a:p>
          <a:p>
            <a:pPr indent="0" lvl="0" marL="0" marR="0" rtl="0" algn="l">
              <a:spcBef>
                <a:spcPts val="0"/>
              </a:spcBef>
              <a:spcAft>
                <a:spcPts val="0"/>
              </a:spcAft>
              <a:buNone/>
            </a:pPr>
            <a:r>
              <a:rPr lang="en-CH" sz="3200">
                <a:solidFill>
                  <a:schemeClr val="dk1"/>
                </a:solidFill>
                <a:latin typeface="Arial"/>
                <a:ea typeface="Arial"/>
                <a:cs typeface="Arial"/>
                <a:sym typeface="Arial"/>
              </a:rPr>
              <a:t>         Swelling clays</a:t>
            </a:r>
            <a:endParaRPr sz="3200">
              <a:solidFill>
                <a:schemeClr val="dk1"/>
              </a:solidFill>
              <a:latin typeface="Arial"/>
              <a:ea typeface="Arial"/>
              <a:cs typeface="Arial"/>
              <a:sym typeface="Arial"/>
            </a:endParaRPr>
          </a:p>
        </p:txBody>
      </p:sp>
      <p:sp>
        <p:nvSpPr>
          <p:cNvPr id="659" name="Google Shape;659;p27"/>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660" name="Google Shape;660;p27"/>
          <p:cNvSpPr/>
          <p:nvPr/>
        </p:nvSpPr>
        <p:spPr>
          <a:xfrm>
            <a:off x="10677416" y="6157007"/>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661" name="Google Shape;661;p27"/>
          <p:cNvSpPr txBox="1"/>
          <p:nvPr/>
        </p:nvSpPr>
        <p:spPr>
          <a:xfrm>
            <a:off x="410596" y="2215715"/>
            <a:ext cx="6487414" cy="3785652"/>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stone used in Lausanne Cathedral during the Middle Ages is Molasse sandstone. </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Its microstructure consists of different siliceous materials bound together by a calcite-clay binder.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presence of </a:t>
            </a:r>
            <a:r>
              <a:rPr b="1" i="1" lang="en-CH" sz="2000">
                <a:solidFill>
                  <a:schemeClr val="dk1"/>
                </a:solidFill>
                <a:latin typeface="Arial"/>
                <a:ea typeface="Arial"/>
                <a:cs typeface="Arial"/>
                <a:sym typeface="Arial"/>
              </a:rPr>
              <a:t>swelling clay</a:t>
            </a:r>
            <a:r>
              <a:rPr i="1" lang="en-CH" sz="2000">
                <a:solidFill>
                  <a:schemeClr val="dk1"/>
                </a:solidFill>
                <a:latin typeface="Arial"/>
                <a:ea typeface="Arial"/>
                <a:cs typeface="Arial"/>
                <a:sym typeface="Arial"/>
              </a:rPr>
              <a:t> </a:t>
            </a:r>
            <a:r>
              <a:rPr lang="en-CH" sz="2000">
                <a:solidFill>
                  <a:schemeClr val="dk1"/>
                </a:solidFill>
                <a:latin typeface="Arial"/>
                <a:ea typeface="Arial"/>
                <a:cs typeface="Arial"/>
                <a:sym typeface="Arial"/>
              </a:rPr>
              <a:t>determines the formation of stress in the material during wetting and drying due to rain. This stress, in the case of pre-existing cracks, can propagate them and cause scaling.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Go back to the </a:t>
            </a:r>
            <a:r>
              <a:rPr b="1" i="1" lang="en-CH" sz="2000">
                <a:solidFill>
                  <a:schemeClr val="dk1"/>
                </a:solidFill>
                <a:latin typeface="Arial"/>
                <a:ea typeface="Arial"/>
                <a:cs typeface="Arial"/>
                <a:sym typeface="Arial"/>
              </a:rPr>
              <a:t>Molasse sandstone </a:t>
            </a:r>
            <a:r>
              <a:rPr lang="en-CH" sz="2000">
                <a:solidFill>
                  <a:schemeClr val="dk1"/>
                </a:solidFill>
                <a:latin typeface="Arial"/>
                <a:ea typeface="Arial"/>
                <a:cs typeface="Arial"/>
                <a:sym typeface="Arial"/>
              </a:rPr>
              <a:t>section for more geological details.</a:t>
            </a:r>
            <a:endParaRPr sz="2000">
              <a:solidFill>
                <a:schemeClr val="dk1"/>
              </a:solidFill>
              <a:latin typeface="Arial"/>
              <a:ea typeface="Arial"/>
              <a:cs typeface="Arial"/>
              <a:sym typeface="Arial"/>
            </a:endParaRPr>
          </a:p>
        </p:txBody>
      </p:sp>
      <p:sp>
        <p:nvSpPr>
          <p:cNvPr id="662" name="Google Shape;662;p27"/>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663" name="Google Shape;663;p27"/>
          <p:cNvSpPr txBox="1"/>
          <p:nvPr/>
        </p:nvSpPr>
        <p:spPr>
          <a:xfrm>
            <a:off x="7015995" y="1169275"/>
            <a:ext cx="4586610" cy="4832092"/>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Air Pollution Icon Isolated Sign Symbol Stock Vector (Royalty Free)  1567840567 | Shutterstock" id="664" name="Google Shape;664;p27"/>
          <p:cNvPicPr preferRelativeResize="0"/>
          <p:nvPr/>
        </p:nvPicPr>
        <p:blipFill rotWithShape="1">
          <a:blip r:embed="rId4">
            <a:alphaModFix/>
          </a:blip>
          <a:srcRect b="9223" l="5043" r="0" t="3672"/>
          <a:stretch/>
        </p:blipFill>
        <p:spPr>
          <a:xfrm>
            <a:off x="510907" y="939356"/>
            <a:ext cx="585338" cy="578229"/>
          </a:xfrm>
          <a:prstGeom prst="rect">
            <a:avLst/>
          </a:prstGeom>
          <a:noFill/>
          <a:ln>
            <a:noFill/>
          </a:ln>
        </p:spPr>
      </p:pic>
      <p:pic>
        <p:nvPicPr>
          <p:cNvPr id="665" name="Google Shape;665;p27"/>
          <p:cNvPicPr preferRelativeResize="0"/>
          <p:nvPr/>
        </p:nvPicPr>
        <p:blipFill rotWithShape="1">
          <a:blip r:embed="rId5">
            <a:alphaModFix/>
          </a:blip>
          <a:srcRect b="31000" l="3244" r="66997" t="37801"/>
          <a:stretch/>
        </p:blipFill>
        <p:spPr>
          <a:xfrm>
            <a:off x="7539703" y="2360268"/>
            <a:ext cx="1521128" cy="1102776"/>
          </a:xfrm>
          <a:prstGeom prst="rect">
            <a:avLst/>
          </a:prstGeom>
          <a:noFill/>
          <a:ln>
            <a:noFill/>
          </a:ln>
        </p:spPr>
      </p:pic>
      <p:pic>
        <p:nvPicPr>
          <p:cNvPr id="666" name="Google Shape;666;p27"/>
          <p:cNvPicPr preferRelativeResize="0"/>
          <p:nvPr/>
        </p:nvPicPr>
        <p:blipFill rotWithShape="1">
          <a:blip r:embed="rId6">
            <a:alphaModFix/>
          </a:blip>
          <a:srcRect b="44103" l="57448" r="13182" t="33128"/>
          <a:stretch/>
        </p:blipFill>
        <p:spPr>
          <a:xfrm>
            <a:off x="7564606" y="4563746"/>
            <a:ext cx="1212932" cy="1023189"/>
          </a:xfrm>
          <a:prstGeom prst="rect">
            <a:avLst/>
          </a:prstGeom>
          <a:noFill/>
          <a:ln>
            <a:noFill/>
          </a:ln>
        </p:spPr>
      </p:pic>
      <p:sp>
        <p:nvSpPr>
          <p:cNvPr id="667" name="Google Shape;667;p27"/>
          <p:cNvSpPr txBox="1"/>
          <p:nvPr/>
        </p:nvSpPr>
        <p:spPr>
          <a:xfrm>
            <a:off x="8632029" y="1376203"/>
            <a:ext cx="9229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chemeClr val="dk1"/>
                </a:solidFill>
                <a:latin typeface="Arial"/>
                <a:ea typeface="Arial"/>
                <a:cs typeface="Arial"/>
                <a:sym typeface="Arial"/>
              </a:rPr>
              <a:t>dry block</a:t>
            </a:r>
            <a:endParaRPr sz="1400">
              <a:solidFill>
                <a:schemeClr val="dk1"/>
              </a:solidFill>
              <a:latin typeface="Arial"/>
              <a:ea typeface="Arial"/>
              <a:cs typeface="Arial"/>
              <a:sym typeface="Arial"/>
            </a:endParaRPr>
          </a:p>
        </p:txBody>
      </p:sp>
      <p:sp>
        <p:nvSpPr>
          <p:cNvPr id="668" name="Google Shape;668;p27"/>
          <p:cNvSpPr txBox="1"/>
          <p:nvPr/>
        </p:nvSpPr>
        <p:spPr>
          <a:xfrm>
            <a:off x="7606797" y="1146705"/>
            <a:ext cx="11705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CH" sz="1800">
                <a:solidFill>
                  <a:srgbClr val="0F4861"/>
                </a:solidFill>
                <a:latin typeface="Arial"/>
                <a:ea typeface="Arial"/>
                <a:cs typeface="Arial"/>
                <a:sym typeface="Arial"/>
              </a:rPr>
              <a:t>Wetting</a:t>
            </a:r>
            <a:r>
              <a:rPr lang="en-CH" sz="18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p:txBody>
      </p:sp>
      <p:pic>
        <p:nvPicPr>
          <p:cNvPr id="669" name="Google Shape;669;p27"/>
          <p:cNvPicPr preferRelativeResize="0"/>
          <p:nvPr/>
        </p:nvPicPr>
        <p:blipFill rotWithShape="1">
          <a:blip r:embed="rId7">
            <a:alphaModFix/>
          </a:blip>
          <a:srcRect b="61222" l="36661" r="33580" t="14618"/>
          <a:stretch/>
        </p:blipFill>
        <p:spPr>
          <a:xfrm>
            <a:off x="9744914" y="1661386"/>
            <a:ext cx="1521128" cy="853964"/>
          </a:xfrm>
          <a:prstGeom prst="rect">
            <a:avLst/>
          </a:prstGeom>
          <a:noFill/>
          <a:ln>
            <a:noFill/>
          </a:ln>
        </p:spPr>
      </p:pic>
      <p:sp>
        <p:nvSpPr>
          <p:cNvPr id="670" name="Google Shape;670;p27"/>
          <p:cNvSpPr txBox="1"/>
          <p:nvPr/>
        </p:nvSpPr>
        <p:spPr>
          <a:xfrm>
            <a:off x="9817633" y="1156169"/>
            <a:ext cx="11705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CH" sz="1800">
                <a:solidFill>
                  <a:srgbClr val="0B769F"/>
                </a:solidFill>
                <a:latin typeface="Arial"/>
                <a:ea typeface="Arial"/>
                <a:cs typeface="Arial"/>
                <a:sym typeface="Arial"/>
              </a:rPr>
              <a:t>Drying</a:t>
            </a:r>
            <a:r>
              <a:rPr lang="en-CH" sz="18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p:txBody>
      </p:sp>
      <p:pic>
        <p:nvPicPr>
          <p:cNvPr id="671" name="Google Shape;671;p27"/>
          <p:cNvPicPr preferRelativeResize="0"/>
          <p:nvPr/>
        </p:nvPicPr>
        <p:blipFill rotWithShape="1">
          <a:blip r:embed="rId8">
            <a:alphaModFix/>
          </a:blip>
          <a:srcRect b="27980" l="56154" r="17744" t="47668"/>
          <a:stretch/>
        </p:blipFill>
        <p:spPr>
          <a:xfrm>
            <a:off x="10173026" y="4435671"/>
            <a:ext cx="1156046" cy="1112852"/>
          </a:xfrm>
          <a:prstGeom prst="rect">
            <a:avLst/>
          </a:prstGeom>
          <a:noFill/>
          <a:ln>
            <a:noFill/>
          </a:ln>
        </p:spPr>
      </p:pic>
      <p:pic>
        <p:nvPicPr>
          <p:cNvPr id="672" name="Google Shape;672;p27"/>
          <p:cNvPicPr preferRelativeResize="0"/>
          <p:nvPr/>
        </p:nvPicPr>
        <p:blipFill rotWithShape="1">
          <a:blip r:embed="rId8">
            <a:alphaModFix/>
          </a:blip>
          <a:srcRect b="2731" l="56154" r="16350" t="72861"/>
          <a:stretch/>
        </p:blipFill>
        <p:spPr>
          <a:xfrm>
            <a:off x="8992960" y="4443194"/>
            <a:ext cx="1277427" cy="1115553"/>
          </a:xfrm>
          <a:prstGeom prst="rect">
            <a:avLst/>
          </a:prstGeom>
          <a:noFill/>
          <a:ln>
            <a:noFill/>
          </a:ln>
        </p:spPr>
      </p:pic>
      <p:sp>
        <p:nvSpPr>
          <p:cNvPr id="673" name="Google Shape;673;p27"/>
          <p:cNvSpPr txBox="1"/>
          <p:nvPr/>
        </p:nvSpPr>
        <p:spPr>
          <a:xfrm>
            <a:off x="10363948" y="1400181"/>
            <a:ext cx="9229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chemeClr val="dk1"/>
                </a:solidFill>
                <a:latin typeface="Arial"/>
                <a:ea typeface="Arial"/>
                <a:cs typeface="Arial"/>
                <a:sym typeface="Arial"/>
              </a:rPr>
              <a:t>wet block</a:t>
            </a:r>
            <a:endParaRPr sz="1400">
              <a:solidFill>
                <a:schemeClr val="dk1"/>
              </a:solidFill>
              <a:latin typeface="Arial"/>
              <a:ea typeface="Arial"/>
              <a:cs typeface="Arial"/>
              <a:sym typeface="Arial"/>
            </a:endParaRPr>
          </a:p>
        </p:txBody>
      </p:sp>
      <p:sp>
        <p:nvSpPr>
          <p:cNvPr id="674" name="Google Shape;674;p27"/>
          <p:cNvSpPr txBox="1"/>
          <p:nvPr/>
        </p:nvSpPr>
        <p:spPr>
          <a:xfrm>
            <a:off x="7653063" y="5510867"/>
            <a:ext cx="15211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chemeClr val="dk1"/>
                </a:solidFill>
                <a:latin typeface="Arial"/>
                <a:ea typeface="Arial"/>
                <a:cs typeface="Arial"/>
                <a:sym typeface="Arial"/>
              </a:rPr>
              <a:t>Buckling</a:t>
            </a:r>
            <a:endParaRPr sz="1400">
              <a:solidFill>
                <a:schemeClr val="dk1"/>
              </a:solidFill>
              <a:latin typeface="Arial"/>
              <a:ea typeface="Arial"/>
              <a:cs typeface="Arial"/>
              <a:sym typeface="Arial"/>
            </a:endParaRPr>
          </a:p>
        </p:txBody>
      </p:sp>
      <p:sp>
        <p:nvSpPr>
          <p:cNvPr id="675" name="Google Shape;675;p27"/>
          <p:cNvSpPr txBox="1"/>
          <p:nvPr/>
        </p:nvSpPr>
        <p:spPr>
          <a:xfrm>
            <a:off x="8921165" y="5517710"/>
            <a:ext cx="136043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chemeClr val="dk1"/>
                </a:solidFill>
                <a:latin typeface="Arial"/>
                <a:ea typeface="Arial"/>
                <a:cs typeface="Arial"/>
                <a:sym typeface="Arial"/>
              </a:rPr>
              <a:t>Peeling</a:t>
            </a:r>
            <a:endParaRPr sz="1400">
              <a:solidFill>
                <a:schemeClr val="dk1"/>
              </a:solidFill>
              <a:latin typeface="Arial"/>
              <a:ea typeface="Arial"/>
              <a:cs typeface="Arial"/>
              <a:sym typeface="Arial"/>
            </a:endParaRPr>
          </a:p>
        </p:txBody>
      </p:sp>
      <p:sp>
        <p:nvSpPr>
          <p:cNvPr id="676" name="Google Shape;676;p27"/>
          <p:cNvSpPr txBox="1"/>
          <p:nvPr/>
        </p:nvSpPr>
        <p:spPr>
          <a:xfrm>
            <a:off x="10152153" y="5497382"/>
            <a:ext cx="142422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400">
                <a:solidFill>
                  <a:schemeClr val="dk1"/>
                </a:solidFill>
                <a:latin typeface="Arial"/>
                <a:ea typeface="Arial"/>
                <a:cs typeface="Arial"/>
                <a:sym typeface="Arial"/>
              </a:rPr>
              <a:t>Mud-cracking</a:t>
            </a:r>
            <a:endParaRPr sz="1400">
              <a:solidFill>
                <a:schemeClr val="dk1"/>
              </a:solidFill>
              <a:latin typeface="Arial"/>
              <a:ea typeface="Arial"/>
              <a:cs typeface="Arial"/>
              <a:sym typeface="Arial"/>
            </a:endParaRPr>
          </a:p>
        </p:txBody>
      </p:sp>
      <p:pic>
        <p:nvPicPr>
          <p:cNvPr id="677" name="Google Shape;677;p27"/>
          <p:cNvPicPr preferRelativeResize="0"/>
          <p:nvPr/>
        </p:nvPicPr>
        <p:blipFill rotWithShape="1">
          <a:blip r:embed="rId9">
            <a:alphaModFix/>
          </a:blip>
          <a:srcRect b="61188" l="2624" r="74475" t="14653"/>
          <a:stretch/>
        </p:blipFill>
        <p:spPr>
          <a:xfrm>
            <a:off x="7526949" y="1543564"/>
            <a:ext cx="1170579" cy="853964"/>
          </a:xfrm>
          <a:prstGeom prst="rect">
            <a:avLst/>
          </a:prstGeom>
          <a:noFill/>
          <a:ln>
            <a:noFill/>
          </a:ln>
        </p:spPr>
      </p:pic>
      <p:pic>
        <p:nvPicPr>
          <p:cNvPr id="678" name="Google Shape;678;p27"/>
          <p:cNvPicPr preferRelativeResize="0"/>
          <p:nvPr/>
        </p:nvPicPr>
        <p:blipFill rotWithShape="1">
          <a:blip r:embed="rId5">
            <a:alphaModFix/>
          </a:blip>
          <a:srcRect b="-7567" l="3033" r="67208" t="76369"/>
          <a:stretch/>
        </p:blipFill>
        <p:spPr>
          <a:xfrm>
            <a:off x="7579162" y="3600106"/>
            <a:ext cx="1521128" cy="1102776"/>
          </a:xfrm>
          <a:prstGeom prst="rect">
            <a:avLst/>
          </a:prstGeom>
          <a:noFill/>
          <a:ln>
            <a:noFill/>
          </a:ln>
        </p:spPr>
      </p:pic>
      <p:sp>
        <p:nvSpPr>
          <p:cNvPr id="679" name="Google Shape;679;p27"/>
          <p:cNvSpPr/>
          <p:nvPr/>
        </p:nvSpPr>
        <p:spPr>
          <a:xfrm>
            <a:off x="8384048" y="3336875"/>
            <a:ext cx="332453" cy="170214"/>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80" name="Google Shape;680;p27"/>
          <p:cNvGrpSpPr/>
          <p:nvPr/>
        </p:nvGrpSpPr>
        <p:grpSpPr>
          <a:xfrm>
            <a:off x="9716256" y="2491364"/>
            <a:ext cx="1521128" cy="1072401"/>
            <a:chOff x="4346986" y="2481629"/>
            <a:chExt cx="1521128" cy="1072401"/>
          </a:xfrm>
        </p:grpSpPr>
        <p:pic>
          <p:nvPicPr>
            <p:cNvPr id="681" name="Google Shape;681;p27"/>
            <p:cNvPicPr preferRelativeResize="0"/>
            <p:nvPr/>
          </p:nvPicPr>
          <p:blipFill rotWithShape="1">
            <a:blip r:embed="rId10">
              <a:alphaModFix/>
            </a:blip>
            <a:srcRect b="32309" l="37280" r="32961" t="39270"/>
            <a:stretch/>
          </p:blipFill>
          <p:spPr>
            <a:xfrm>
              <a:off x="4346986" y="2481629"/>
              <a:ext cx="1521128" cy="1004570"/>
            </a:xfrm>
            <a:prstGeom prst="rect">
              <a:avLst/>
            </a:prstGeom>
            <a:noFill/>
            <a:ln>
              <a:noFill/>
            </a:ln>
          </p:spPr>
        </p:pic>
        <p:sp>
          <p:nvSpPr>
            <p:cNvPr id="682" name="Google Shape;682;p27"/>
            <p:cNvSpPr/>
            <p:nvPr/>
          </p:nvSpPr>
          <p:spPr>
            <a:xfrm>
              <a:off x="5221722" y="3383816"/>
              <a:ext cx="332453" cy="170214"/>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683" name="Google Shape;683;p27"/>
          <p:cNvPicPr preferRelativeResize="0"/>
          <p:nvPr/>
        </p:nvPicPr>
        <p:blipFill rotWithShape="1">
          <a:blip r:embed="rId11">
            <a:alphaModFix/>
          </a:blip>
          <a:srcRect b="-114" l="37301" r="35832" t="76510"/>
          <a:stretch/>
        </p:blipFill>
        <p:spPr>
          <a:xfrm>
            <a:off x="9716256" y="3620902"/>
            <a:ext cx="1373335" cy="834356"/>
          </a:xfrm>
          <a:prstGeom prst="rect">
            <a:avLst/>
          </a:prstGeom>
          <a:noFill/>
          <a:ln>
            <a:noFill/>
          </a:ln>
        </p:spPr>
      </p:pic>
      <p:sp>
        <p:nvSpPr>
          <p:cNvPr id="684" name="Google Shape;684;p27"/>
          <p:cNvSpPr txBox="1"/>
          <p:nvPr>
            <p:ph idx="11" type="ftr"/>
          </p:nvPr>
        </p:nvSpPr>
        <p:spPr>
          <a:xfrm>
            <a:off x="10391635" y="6827162"/>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CH" sz="900">
                <a:solidFill>
                  <a:srgbClr val="222222"/>
                </a:solidFill>
              </a:rPr>
              <a:t>Department of Civil, Environmental and Geomatic Engineering</a:t>
            </a:r>
            <a:endParaRPr sz="900">
              <a:solidFill>
                <a:srgbClr val="222222"/>
              </a:solidFill>
            </a:endParaRPr>
          </a:p>
        </p:txBody>
      </p:sp>
      <p:sp>
        <p:nvSpPr>
          <p:cNvPr id="685" name="Google Shape;685;p27"/>
          <p:cNvSpPr/>
          <p:nvPr/>
        </p:nvSpPr>
        <p:spPr>
          <a:xfrm rot="1077042">
            <a:off x="3734101" y="3926383"/>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86" name="Google Shape;686;p27"/>
          <p:cNvGrpSpPr/>
          <p:nvPr/>
        </p:nvGrpSpPr>
        <p:grpSpPr>
          <a:xfrm>
            <a:off x="267817" y="-2658280"/>
            <a:ext cx="11531687" cy="8791175"/>
            <a:chOff x="199599" y="1076748"/>
            <a:chExt cx="11531687" cy="8791175"/>
          </a:xfrm>
        </p:grpSpPr>
        <p:sp>
          <p:nvSpPr>
            <p:cNvPr id="687" name="Google Shape;687;p27"/>
            <p:cNvSpPr txBox="1"/>
            <p:nvPr/>
          </p:nvSpPr>
          <p:spPr>
            <a:xfrm>
              <a:off x="199599" y="4697277"/>
              <a:ext cx="11531687" cy="5170646"/>
            </a:xfrm>
            <a:prstGeom prst="rect">
              <a:avLst/>
            </a:prstGeom>
            <a:solidFill>
              <a:schemeClr val="lt1">
                <a:alpha val="89803"/>
              </a:schemeClr>
            </a:solidFill>
            <a:ln cap="flat" cmpd="sng" w="9525">
              <a:solidFill>
                <a:srgbClr val="7F340D"/>
              </a:solidFill>
              <a:prstDash val="solid"/>
              <a:round/>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Arial"/>
                <a:ea typeface="Arial"/>
                <a:cs typeface="Arial"/>
                <a:sym typeface="Arial"/>
              </a:endParaRPr>
            </a:p>
            <a:p>
              <a:pPr indent="0" lvl="0" marL="0" marR="0" rtl="0" algn="l">
                <a:spcBef>
                  <a:spcPts val="0"/>
                </a:spcBef>
                <a:spcAft>
                  <a:spcPts val="0"/>
                </a:spcAft>
                <a:buNone/>
              </a:pPr>
              <a:r>
                <a:rPr b="1" lang="en-CH" sz="1800">
                  <a:solidFill>
                    <a:schemeClr val="dk1"/>
                  </a:solidFill>
                  <a:latin typeface="Arial"/>
                  <a:ea typeface="Arial"/>
                  <a:cs typeface="Arial"/>
                  <a:sym typeface="Arial"/>
                </a:rPr>
                <a:t>Swelling clays</a:t>
              </a:r>
              <a:r>
                <a:rPr lang="en-CH" sz="1800">
                  <a:solidFill>
                    <a:schemeClr val="dk1"/>
                  </a:solidFill>
                  <a:latin typeface="Arial"/>
                  <a:ea typeface="Arial"/>
                  <a:cs typeface="Arial"/>
                  <a:sym typeface="Arial"/>
                </a:rPr>
                <a:t>, like smectite, are a particular type of clay that can absorb water and expand. They are part of the family of Phyllosilicates (or "sheet silicates"), a group of minerals that have a unique layered structure.</a:t>
              </a:r>
              <a:endParaRPr/>
            </a:p>
            <a:p>
              <a:pPr indent="0" lvl="0" marL="0" marR="0" rtl="0" algn="l">
                <a:spcBef>
                  <a:spcPts val="0"/>
                </a:spcBef>
                <a:spcAft>
                  <a:spcPts val="0"/>
                </a:spcAft>
                <a:buNone/>
              </a:pPr>
              <a:r>
                <a:rPr lang="en-CH" sz="1800">
                  <a:solidFill>
                    <a:schemeClr val="dk1"/>
                  </a:solidFill>
                  <a:latin typeface="Arial"/>
                  <a:ea typeface="Arial"/>
                  <a:cs typeface="Arial"/>
                  <a:sym typeface="Arial"/>
                </a:rPr>
                <a:t>Imagine them as tiny, flat sheets stacked on top of each other like a deck of cards. </a:t>
              </a:r>
              <a:endParaRPr/>
            </a:p>
            <a:p>
              <a:pPr indent="0" lvl="0" marL="0" marR="0" rtl="0" algn="l">
                <a:spcBef>
                  <a:spcPts val="0"/>
                </a:spcBef>
                <a:spcAft>
                  <a:spcPts val="0"/>
                </a:spcAft>
                <a:buNone/>
              </a:pPr>
              <a:r>
                <a:rPr lang="en-CH" sz="1800">
                  <a:solidFill>
                    <a:schemeClr val="dk1"/>
                  </a:solidFill>
                  <a:latin typeface="Arial"/>
                  <a:ea typeface="Arial"/>
                  <a:cs typeface="Arial"/>
                  <a:sym typeface="Arial"/>
                </a:rPr>
                <a:t>In the case of swelling clays, due to some particular asset of the layers, in contact with water, they have the ability to pull the water molecules in between their sheets, causing the entire stack to puff up or swell. The consequence is the swelling of the entire stone.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A diagram of a dry and wet&#10;&#10;Description automatically generated" id="688" name="Google Shape;688;p27"/>
            <p:cNvPicPr preferRelativeResize="0"/>
            <p:nvPr/>
          </p:nvPicPr>
          <p:blipFill rotWithShape="1">
            <a:blip r:embed="rId12">
              <a:alphaModFix/>
            </a:blip>
            <a:srcRect b="-930" l="389" r="27972" t="-1674"/>
            <a:stretch/>
          </p:blipFill>
          <p:spPr>
            <a:xfrm>
              <a:off x="3112037" y="6991502"/>
              <a:ext cx="2087769" cy="2518733"/>
            </a:xfrm>
            <a:prstGeom prst="rect">
              <a:avLst/>
            </a:prstGeom>
            <a:noFill/>
            <a:ln cap="flat" cmpd="sng" w="9525">
              <a:solidFill>
                <a:srgbClr val="595959"/>
              </a:solidFill>
              <a:prstDash val="solid"/>
              <a:round/>
              <a:headEnd len="sm" w="sm" type="none"/>
              <a:tailEnd len="sm" w="sm" type="none"/>
            </a:ln>
          </p:spPr>
        </p:pic>
        <p:pic>
          <p:nvPicPr>
            <p:cNvPr id="689" name="Google Shape;689;p27"/>
            <p:cNvPicPr preferRelativeResize="0"/>
            <p:nvPr/>
          </p:nvPicPr>
          <p:blipFill rotWithShape="1">
            <a:blip r:embed="rId13">
              <a:alphaModFix/>
            </a:blip>
            <a:srcRect b="0" l="48247" r="0" t="0"/>
            <a:stretch/>
          </p:blipFill>
          <p:spPr>
            <a:xfrm>
              <a:off x="6543713" y="6991502"/>
              <a:ext cx="2272961" cy="2473067"/>
            </a:xfrm>
            <a:prstGeom prst="rect">
              <a:avLst/>
            </a:prstGeom>
            <a:noFill/>
            <a:ln cap="flat" cmpd="sng" w="9525">
              <a:solidFill>
                <a:srgbClr val="595959"/>
              </a:solidFill>
              <a:prstDash val="solid"/>
              <a:round/>
              <a:headEnd len="sm" w="sm" type="none"/>
              <a:tailEnd len="sm" w="sm" type="none"/>
            </a:ln>
          </p:spPr>
        </p:pic>
        <p:cxnSp>
          <p:nvCxnSpPr>
            <p:cNvPr id="690" name="Google Shape;690;p27"/>
            <p:cNvCxnSpPr/>
            <p:nvPr/>
          </p:nvCxnSpPr>
          <p:spPr>
            <a:xfrm>
              <a:off x="5447685" y="7878562"/>
              <a:ext cx="915453" cy="0"/>
            </a:xfrm>
            <a:prstGeom prst="straightConnector1">
              <a:avLst/>
            </a:prstGeom>
            <a:noFill/>
            <a:ln cap="flat" cmpd="sng" w="19050">
              <a:solidFill>
                <a:schemeClr val="accent1"/>
              </a:solidFill>
              <a:prstDash val="solid"/>
              <a:miter lim="800000"/>
              <a:headEnd len="sm" w="sm" type="none"/>
              <a:tailEnd len="med" w="med" type="triangle"/>
            </a:ln>
          </p:spPr>
        </p:cxnSp>
        <p:sp>
          <p:nvSpPr>
            <p:cNvPr id="691" name="Google Shape;691;p27"/>
            <p:cNvSpPr txBox="1"/>
            <p:nvPr/>
          </p:nvSpPr>
          <p:spPr>
            <a:xfrm>
              <a:off x="5563724" y="7468861"/>
              <a:ext cx="8363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a:solidFill>
                    <a:srgbClr val="0070C0"/>
                  </a:solidFill>
                  <a:latin typeface="Arial"/>
                  <a:ea typeface="Arial"/>
                  <a:cs typeface="Arial"/>
                  <a:sym typeface="Arial"/>
                </a:rPr>
                <a:t>water</a:t>
              </a:r>
              <a:endParaRPr/>
            </a:p>
          </p:txBody>
        </p:sp>
        <p:sp>
          <p:nvSpPr>
            <p:cNvPr id="692" name="Google Shape;692;p27"/>
            <p:cNvSpPr/>
            <p:nvPr/>
          </p:nvSpPr>
          <p:spPr>
            <a:xfrm>
              <a:off x="11356293" y="1076748"/>
              <a:ext cx="297143" cy="272499"/>
            </a:xfrm>
            <a:prstGeom prst="flowChartSummingJunction">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ppt_w</p:attrName>
                                        </p:attrNameLst>
                                      </p:cBhvr>
                                      <p:tavLst>
                                        <p:tav fmla="" tm="0">
                                          <p:val>
                                            <p:strVal val="0"/>
                                          </p:val>
                                        </p:tav>
                                        <p:tav fmla="" tm="100000">
                                          <p:val>
                                            <p:strVal val="#ppt_w"/>
                                          </p:val>
                                        </p:tav>
                                      </p:tavLst>
                                    </p:anim>
                                    <p:anim calcmode="lin" valueType="num">
                                      <p:cBhvr additive="base">
                                        <p:cTn dur="500"/>
                                        <p:tgtEl>
                                          <p:spTgt spid="6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686"/>
                                        </p:tgtEl>
                                        <p:attrNameLst>
                                          <p:attrName>ppt_w</p:attrName>
                                        </p:attrNameLst>
                                      </p:cBhvr>
                                      <p:tavLst>
                                        <p:tav fmla="" tm="0">
                                          <p:val>
                                            <p:strVal val="#ppt_w"/>
                                          </p:val>
                                        </p:tav>
                                        <p:tav fmla="" tm="100000">
                                          <p:val>
                                            <p:strVal val="0"/>
                                          </p:val>
                                        </p:tav>
                                      </p:tavLst>
                                    </p:anim>
                                    <p:anim calcmode="lin" valueType="num">
                                      <p:cBhvr additive="base">
                                        <p:cTn dur="500"/>
                                        <p:tgtEl>
                                          <p:spTgt spid="686"/>
                                        </p:tgtEl>
                                        <p:attrNameLst>
                                          <p:attrName>ppt_h</p:attrName>
                                        </p:attrNameLst>
                                      </p:cBhvr>
                                      <p:tavLst>
                                        <p:tav fmla="" tm="0">
                                          <p:val>
                                            <p:strVal val="#ppt_h"/>
                                          </p:val>
                                        </p:tav>
                                        <p:tav fmla="" tm="100000">
                                          <p:val>
                                            <p:strVal val="0"/>
                                          </p:val>
                                        </p:tav>
                                      </p:tavLst>
                                    </p:anim>
                                    <p:set>
                                      <p:cBhvr>
                                        <p:cTn dur="1" fill="hold">
                                          <p:stCondLst>
                                            <p:cond delay="500"/>
                                          </p:stCondLst>
                                        </p:cTn>
                                        <p:tgtEl>
                                          <p:spTgt spid="6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68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descr="A large building with a tower and a body of water&#10;&#10;Description automatically generated" id="698" name="Google Shape;698;p28"/>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699" name="Google Shape;699;p28"/>
          <p:cNvSpPr txBox="1"/>
          <p:nvPr/>
        </p:nvSpPr>
        <p:spPr>
          <a:xfrm>
            <a:off x="391611" y="443110"/>
            <a:ext cx="5009385"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Weathering mechanisms</a:t>
            </a:r>
            <a:endParaRPr b="1" sz="3200">
              <a:solidFill>
                <a:schemeClr val="dk1"/>
              </a:solidFill>
              <a:latin typeface="Arial"/>
              <a:ea typeface="Arial"/>
              <a:cs typeface="Arial"/>
              <a:sym typeface="Arial"/>
            </a:endParaRPr>
          </a:p>
        </p:txBody>
      </p:sp>
      <p:sp>
        <p:nvSpPr>
          <p:cNvPr id="700" name="Google Shape;700;p28"/>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01" name="Google Shape;701;p28"/>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02" name="Google Shape;702;p28"/>
          <p:cNvSpPr txBox="1"/>
          <p:nvPr/>
        </p:nvSpPr>
        <p:spPr>
          <a:xfrm>
            <a:off x="370712" y="2184219"/>
            <a:ext cx="5590830" cy="2554545"/>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Water is involved in all types of mechanisms of stone weathering.</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You can get further information on each of them by clicking on the corresponding buttons.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pic>
        <p:nvPicPr>
          <p:cNvPr descr="Weather icons" id="703" name="Google Shape;703;p28"/>
          <p:cNvPicPr preferRelativeResize="0"/>
          <p:nvPr/>
        </p:nvPicPr>
        <p:blipFill rotWithShape="1">
          <a:blip r:embed="rId4">
            <a:alphaModFix/>
          </a:blip>
          <a:srcRect b="0" l="0" r="0" t="0"/>
          <a:stretch/>
        </p:blipFill>
        <p:spPr>
          <a:xfrm>
            <a:off x="535594" y="989182"/>
            <a:ext cx="516190" cy="465883"/>
          </a:xfrm>
          <a:prstGeom prst="rect">
            <a:avLst/>
          </a:prstGeom>
          <a:noFill/>
          <a:ln>
            <a:noFill/>
          </a:ln>
        </p:spPr>
      </p:pic>
      <p:grpSp>
        <p:nvGrpSpPr>
          <p:cNvPr id="704" name="Google Shape;704;p28"/>
          <p:cNvGrpSpPr/>
          <p:nvPr/>
        </p:nvGrpSpPr>
        <p:grpSpPr>
          <a:xfrm>
            <a:off x="6582106" y="1059144"/>
            <a:ext cx="4500237" cy="922367"/>
            <a:chOff x="6477002" y="1781585"/>
            <a:chExt cx="4500237" cy="922367"/>
          </a:xfrm>
        </p:grpSpPr>
        <p:sp>
          <p:nvSpPr>
            <p:cNvPr id="705" name="Google Shape;705;p28"/>
            <p:cNvSpPr/>
            <p:nvPr/>
          </p:nvSpPr>
          <p:spPr>
            <a:xfrm>
              <a:off x="6477002" y="1781585"/>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6" name="Google Shape;706;p28"/>
            <p:cNvSpPr txBox="1"/>
            <p:nvPr/>
          </p:nvSpPr>
          <p:spPr>
            <a:xfrm>
              <a:off x="7682080" y="2051580"/>
              <a:ext cx="21726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Feeze thaw action</a:t>
              </a:r>
              <a:endParaRPr/>
            </a:p>
          </p:txBody>
        </p:sp>
        <p:pic>
          <p:nvPicPr>
            <p:cNvPr descr="Freezing - Free weather icons" id="707" name="Google Shape;707;p28"/>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708" name="Google Shape;708;p28"/>
          <p:cNvGrpSpPr/>
          <p:nvPr/>
        </p:nvGrpSpPr>
        <p:grpSpPr>
          <a:xfrm>
            <a:off x="6582105" y="2129067"/>
            <a:ext cx="4500237" cy="922367"/>
            <a:chOff x="6477001" y="2851508"/>
            <a:chExt cx="4500237" cy="922367"/>
          </a:xfrm>
        </p:grpSpPr>
        <p:sp>
          <p:nvSpPr>
            <p:cNvPr id="709" name="Google Shape;709;p28"/>
            <p:cNvSpPr/>
            <p:nvPr/>
          </p:nvSpPr>
          <p:spPr>
            <a:xfrm>
              <a:off x="6477001" y="2851508"/>
              <a:ext cx="4500237" cy="922367"/>
            </a:xfrm>
            <a:prstGeom prst="roundRect">
              <a:avLst>
                <a:gd fmla="val 50000" name="adj"/>
              </a:avLst>
            </a:prstGeom>
            <a:solidFill>
              <a:schemeClr val="lt1">
                <a:alpha val="67843"/>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0" name="Google Shape;710;p28"/>
            <p:cNvSpPr txBox="1"/>
            <p:nvPr/>
          </p:nvSpPr>
          <p:spPr>
            <a:xfrm>
              <a:off x="7580479" y="3141967"/>
              <a:ext cx="173919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Swelling clays</a:t>
              </a:r>
              <a:endParaRPr/>
            </a:p>
          </p:txBody>
        </p:sp>
        <p:pic>
          <p:nvPicPr>
            <p:cNvPr descr="Swelling of montmorillonite clay in water. | Download Scientific Diagram" id="711" name="Google Shape;711;p28"/>
            <p:cNvPicPr preferRelativeResize="0"/>
            <p:nvPr/>
          </p:nvPicPr>
          <p:blipFill rotWithShape="1">
            <a:blip r:embed="rId6">
              <a:alphaModFix/>
            </a:blip>
            <a:srcRect b="17368" l="59753" r="12469" t="22832"/>
            <a:stretch/>
          </p:blipFill>
          <p:spPr>
            <a:xfrm>
              <a:off x="6814006" y="3063546"/>
              <a:ext cx="548003" cy="503931"/>
            </a:xfrm>
            <a:prstGeom prst="rect">
              <a:avLst/>
            </a:prstGeom>
            <a:noFill/>
            <a:ln>
              <a:noFill/>
            </a:ln>
          </p:spPr>
        </p:pic>
      </p:grpSp>
      <p:grpSp>
        <p:nvGrpSpPr>
          <p:cNvPr id="712" name="Google Shape;712;p28"/>
          <p:cNvGrpSpPr/>
          <p:nvPr/>
        </p:nvGrpSpPr>
        <p:grpSpPr>
          <a:xfrm>
            <a:off x="6582104" y="3182656"/>
            <a:ext cx="4500237" cy="922367"/>
            <a:chOff x="6477000" y="3956613"/>
            <a:chExt cx="4500237" cy="922367"/>
          </a:xfrm>
        </p:grpSpPr>
        <p:sp>
          <p:nvSpPr>
            <p:cNvPr id="713" name="Google Shape;713;p28"/>
            <p:cNvSpPr/>
            <p:nvPr/>
          </p:nvSpPr>
          <p:spPr>
            <a:xfrm>
              <a:off x="6477000" y="3956613"/>
              <a:ext cx="4500237" cy="922367"/>
            </a:xfrm>
            <a:prstGeom prst="roundRect">
              <a:avLst>
                <a:gd fmla="val 50000" name="adj"/>
              </a:avLst>
            </a:prstGeom>
            <a:solidFill>
              <a:schemeClr val="lt1">
                <a:alpha val="67450"/>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4" name="Google Shape;714;p28"/>
            <p:cNvSpPr txBox="1"/>
            <p:nvPr/>
          </p:nvSpPr>
          <p:spPr>
            <a:xfrm>
              <a:off x="7580479" y="4226608"/>
              <a:ext cx="22184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Salt crystallization</a:t>
              </a:r>
              <a:endParaRPr/>
            </a:p>
          </p:txBody>
        </p:sp>
        <p:pic>
          <p:nvPicPr>
            <p:cNvPr descr="crystals Icon - Free PNG &amp; SVG 844809 - Noun Project" id="715" name="Google Shape;715;p28"/>
            <p:cNvPicPr preferRelativeResize="0"/>
            <p:nvPr/>
          </p:nvPicPr>
          <p:blipFill rotWithShape="1">
            <a:blip r:embed="rId7">
              <a:alphaModFix/>
            </a:blip>
            <a:srcRect b="0" l="0" r="0" t="0"/>
            <a:stretch/>
          </p:blipFill>
          <p:spPr>
            <a:xfrm>
              <a:off x="6719175" y="4073549"/>
              <a:ext cx="714351" cy="714351"/>
            </a:xfrm>
            <a:prstGeom prst="rect">
              <a:avLst/>
            </a:prstGeom>
            <a:noFill/>
            <a:ln>
              <a:noFill/>
            </a:ln>
          </p:spPr>
        </p:pic>
      </p:grpSp>
      <p:grpSp>
        <p:nvGrpSpPr>
          <p:cNvPr id="716" name="Google Shape;716;p28"/>
          <p:cNvGrpSpPr/>
          <p:nvPr/>
        </p:nvGrpSpPr>
        <p:grpSpPr>
          <a:xfrm>
            <a:off x="6598821" y="4259107"/>
            <a:ext cx="4500237" cy="922367"/>
            <a:chOff x="6493717" y="5148975"/>
            <a:chExt cx="4500237" cy="922367"/>
          </a:xfrm>
        </p:grpSpPr>
        <p:sp>
          <p:nvSpPr>
            <p:cNvPr id="717" name="Google Shape;717;p28"/>
            <p:cNvSpPr/>
            <p:nvPr/>
          </p:nvSpPr>
          <p:spPr>
            <a:xfrm>
              <a:off x="6493717" y="5148975"/>
              <a:ext cx="4500237" cy="922367"/>
            </a:xfrm>
            <a:prstGeom prst="roundRect">
              <a:avLst>
                <a:gd fmla="val 50000" name="adj"/>
              </a:avLst>
            </a:prstGeom>
            <a:solidFill>
              <a:schemeClr val="lt1">
                <a:alpha val="65882"/>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8" name="Google Shape;718;p28"/>
            <p:cNvSpPr txBox="1"/>
            <p:nvPr/>
          </p:nvSpPr>
          <p:spPr>
            <a:xfrm>
              <a:off x="7597196" y="5418970"/>
              <a:ext cx="26466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Atmospheric pollution</a:t>
              </a:r>
              <a:endParaRPr/>
            </a:p>
          </p:txBody>
        </p:sp>
        <p:pic>
          <p:nvPicPr>
            <p:cNvPr descr="Air Pollution Icon Isolated Sign Symbol Stock Vector (Royalty Free)  1567840567 | Shutterstock" id="719" name="Google Shape;719;p28"/>
            <p:cNvPicPr preferRelativeResize="0"/>
            <p:nvPr/>
          </p:nvPicPr>
          <p:blipFill rotWithShape="1">
            <a:blip r:embed="rId8">
              <a:alphaModFix/>
            </a:blip>
            <a:srcRect b="9223" l="5043" r="0" t="3672"/>
            <a:stretch/>
          </p:blipFill>
          <p:spPr>
            <a:xfrm>
              <a:off x="6840959" y="5339518"/>
              <a:ext cx="585338" cy="578229"/>
            </a:xfrm>
            <a:prstGeom prst="rect">
              <a:avLst/>
            </a:prstGeom>
            <a:noFill/>
            <a:ln>
              <a:noFill/>
            </a:ln>
          </p:spPr>
        </p:pic>
      </p:grpSp>
      <p:sp>
        <p:nvSpPr>
          <p:cNvPr id="720" name="Google Shape;720;p28"/>
          <p:cNvSpPr/>
          <p:nvPr/>
        </p:nvSpPr>
        <p:spPr>
          <a:xfrm rot="1077042">
            <a:off x="10836108" y="1406140"/>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1" name="Google Shape;721;p28"/>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grpSp>
        <p:nvGrpSpPr>
          <p:cNvPr id="722" name="Google Shape;722;p28"/>
          <p:cNvGrpSpPr/>
          <p:nvPr/>
        </p:nvGrpSpPr>
        <p:grpSpPr>
          <a:xfrm>
            <a:off x="6623388" y="5297874"/>
            <a:ext cx="4500237" cy="922367"/>
            <a:chOff x="6493717" y="5148975"/>
            <a:chExt cx="4500237" cy="922367"/>
          </a:xfrm>
        </p:grpSpPr>
        <p:sp>
          <p:nvSpPr>
            <p:cNvPr id="723" name="Google Shape;723;p28"/>
            <p:cNvSpPr/>
            <p:nvPr/>
          </p:nvSpPr>
          <p:spPr>
            <a:xfrm>
              <a:off x="6493717" y="5148975"/>
              <a:ext cx="4500237" cy="922367"/>
            </a:xfrm>
            <a:prstGeom prst="roundRect">
              <a:avLst>
                <a:gd fmla="val 50000" name="adj"/>
              </a:avLst>
            </a:prstGeom>
            <a:solidFill>
              <a:schemeClr val="lt1">
                <a:alpha val="69019"/>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4" name="Google Shape;724;p28"/>
            <p:cNvSpPr txBox="1"/>
            <p:nvPr/>
          </p:nvSpPr>
          <p:spPr>
            <a:xfrm>
              <a:off x="7597196" y="5418970"/>
              <a:ext cx="20217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Biological attack</a:t>
              </a:r>
              <a:endParaRPr sz="2000">
                <a:solidFill>
                  <a:schemeClr val="dk1"/>
                </a:solidFill>
                <a:latin typeface="Arial"/>
                <a:ea typeface="Arial"/>
                <a:cs typeface="Arial"/>
                <a:sym typeface="Arial"/>
              </a:endParaRPr>
            </a:p>
          </p:txBody>
        </p:sp>
        <p:pic>
          <p:nvPicPr>
            <p:cNvPr descr="Plant With Roots with solid fill" id="725" name="Google Shape;725;p28"/>
            <p:cNvPicPr preferRelativeResize="0"/>
            <p:nvPr/>
          </p:nvPicPr>
          <p:blipFill rotWithShape="1">
            <a:blip r:embed="rId9">
              <a:alphaModFix/>
            </a:blip>
            <a:srcRect b="607" l="0" r="0" t="607"/>
            <a:stretch/>
          </p:blipFill>
          <p:spPr>
            <a:xfrm>
              <a:off x="6840959" y="5339518"/>
              <a:ext cx="585338" cy="57822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0" name="Shape 730"/>
        <p:cNvGrpSpPr/>
        <p:nvPr/>
      </p:nvGrpSpPr>
      <p:grpSpPr>
        <a:xfrm>
          <a:off x="0" y="0"/>
          <a:ext cx="0" cy="0"/>
          <a:chOff x="0" y="0"/>
          <a:chExt cx="0" cy="0"/>
        </a:xfrm>
      </p:grpSpPr>
      <p:pic>
        <p:nvPicPr>
          <p:cNvPr descr="A large building with a tower and a body of water&#10;&#10;Description automatically generated" id="731" name="Google Shape;731;p29"/>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732" name="Google Shape;732;p29"/>
          <p:cNvSpPr txBox="1"/>
          <p:nvPr/>
        </p:nvSpPr>
        <p:spPr>
          <a:xfrm>
            <a:off x="393699" y="379943"/>
            <a:ext cx="5734775"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freezing</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1/4: Trapped Water</a:t>
            </a:r>
            <a:endParaRPr b="1" sz="3200">
              <a:solidFill>
                <a:schemeClr val="dk1"/>
              </a:solidFill>
              <a:latin typeface="Arial"/>
              <a:ea typeface="Arial"/>
              <a:cs typeface="Arial"/>
              <a:sym typeface="Arial"/>
            </a:endParaRPr>
          </a:p>
        </p:txBody>
      </p:sp>
      <p:sp>
        <p:nvSpPr>
          <p:cNvPr id="733" name="Google Shape;733;p29"/>
          <p:cNvSpPr txBox="1"/>
          <p:nvPr/>
        </p:nvSpPr>
        <p:spPr>
          <a:xfrm>
            <a:off x="238780" y="645001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34" name="Google Shape;734;p29"/>
          <p:cNvSpPr/>
          <p:nvPr/>
        </p:nvSpPr>
        <p:spPr>
          <a:xfrm>
            <a:off x="10811522" y="5988832"/>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35" name="Google Shape;735;p29"/>
          <p:cNvSpPr txBox="1"/>
          <p:nvPr/>
        </p:nvSpPr>
        <p:spPr>
          <a:xfrm>
            <a:off x="393699" y="1676041"/>
            <a:ext cx="6419226" cy="4555093"/>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457200" lvl="0" marL="0" marR="0" rtl="0" algn="just">
              <a:spcBef>
                <a:spcPts val="0"/>
              </a:spcBef>
              <a:spcAft>
                <a:spcPts val="0"/>
              </a:spcAft>
              <a:buNone/>
            </a:pPr>
            <a:r>
              <a:rPr lang="en-CH" sz="2000">
                <a:solidFill>
                  <a:schemeClr val="dk1"/>
                </a:solidFill>
                <a:latin typeface="Arial"/>
                <a:ea typeface="Arial"/>
                <a:cs typeface="Arial"/>
                <a:sym typeface="Arial"/>
              </a:rPr>
              <a:t>Freezing water in porous materials can cause damage by various mechanisms. The first and most dramatic is called “water entrapment.” It refers to a situation similar to that of a glass bottle filled with water and placed in a cooler. In other words, freezing occurs from all sides, the liquid is trapped, and the increase in molar volume from liquid water to ice causes the bottle to break. </a:t>
            </a:r>
            <a:endParaRPr/>
          </a:p>
          <a:p>
            <a:pPr indent="457200" lvl="0" marL="0" marR="0" rtl="0" algn="just">
              <a:spcBef>
                <a:spcPts val="1200"/>
              </a:spcBef>
              <a:spcAft>
                <a:spcPts val="0"/>
              </a:spcAft>
              <a:buNone/>
            </a:pPr>
            <a:r>
              <a:rPr lang="en-CH" sz="2000">
                <a:solidFill>
                  <a:schemeClr val="dk1"/>
                </a:solidFill>
                <a:latin typeface="Arial"/>
                <a:ea typeface="Arial"/>
                <a:cs typeface="Arial"/>
                <a:sym typeface="Arial"/>
              </a:rPr>
              <a:t>Such situations are rare on monuments, with the possible exception of fine decorative elements previously saturated with water, as finials and fountains.</a:t>
            </a:r>
            <a:endParaRPr/>
          </a:p>
          <a:p>
            <a:pPr indent="457200" lvl="0" marL="0" marR="0" rtl="0" algn="just">
              <a:spcBef>
                <a:spcPts val="1200"/>
              </a:spcBef>
              <a:spcAft>
                <a:spcPts val="0"/>
              </a:spcAft>
              <a:buNone/>
            </a:pPr>
            <a:r>
              <a:t/>
            </a:r>
            <a:endParaRPr sz="2000">
              <a:solidFill>
                <a:schemeClr val="dk1"/>
              </a:solidFill>
              <a:latin typeface="Arial"/>
              <a:ea typeface="Arial"/>
              <a:cs typeface="Arial"/>
              <a:sym typeface="Arial"/>
            </a:endParaRPr>
          </a:p>
          <a:p>
            <a:pPr indent="457200" lvl="0" marL="0" marR="0" rtl="0" algn="just">
              <a:spcBef>
                <a:spcPts val="1200"/>
              </a:spcBef>
              <a:spcAft>
                <a:spcPts val="0"/>
              </a:spcAft>
              <a:buNone/>
            </a:pPr>
            <a:r>
              <a:rPr lang="en-CH" sz="2000">
                <a:solidFill>
                  <a:schemeClr val="dk1"/>
                </a:solidFill>
                <a:latin typeface="Arial"/>
                <a:ea typeface="Arial"/>
                <a:cs typeface="Arial"/>
                <a:sym typeface="Arial"/>
              </a:rPr>
              <a:t>&lt; CONTINUE &gt;</a:t>
            </a:r>
            <a:endParaRPr sz="2000">
              <a:solidFill>
                <a:schemeClr val="dk1"/>
              </a:solidFill>
              <a:latin typeface="Arial"/>
              <a:ea typeface="Arial"/>
              <a:cs typeface="Arial"/>
              <a:sym typeface="Arial"/>
            </a:endParaRPr>
          </a:p>
        </p:txBody>
      </p:sp>
      <p:pic>
        <p:nvPicPr>
          <p:cNvPr descr="Freezing - Free weather icons" id="736" name="Google Shape;736;p29"/>
          <p:cNvPicPr preferRelativeResize="0"/>
          <p:nvPr/>
        </p:nvPicPr>
        <p:blipFill rotWithShape="1">
          <a:blip r:embed="rId4">
            <a:alphaModFix/>
          </a:blip>
          <a:srcRect b="0" l="0" r="0" t="0"/>
          <a:stretch/>
        </p:blipFill>
        <p:spPr>
          <a:xfrm>
            <a:off x="582887" y="999814"/>
            <a:ext cx="361382" cy="361382"/>
          </a:xfrm>
          <a:prstGeom prst="rect">
            <a:avLst/>
          </a:prstGeom>
          <a:noFill/>
          <a:ln>
            <a:noFill/>
          </a:ln>
        </p:spPr>
      </p:pic>
      <p:pic>
        <p:nvPicPr>
          <p:cNvPr id="737" name="Google Shape;737;p29"/>
          <p:cNvPicPr preferRelativeResize="0"/>
          <p:nvPr/>
        </p:nvPicPr>
        <p:blipFill rotWithShape="1">
          <a:blip r:embed="rId5">
            <a:alphaModFix/>
          </a:blip>
          <a:srcRect b="0" l="0" r="0" t="0"/>
          <a:stretch/>
        </p:blipFill>
        <p:spPr>
          <a:xfrm>
            <a:off x="7418228" y="1676041"/>
            <a:ext cx="4551019" cy="1892924"/>
          </a:xfrm>
          <a:prstGeom prst="rect">
            <a:avLst/>
          </a:prstGeom>
          <a:noFill/>
          <a:ln>
            <a:noFill/>
          </a:ln>
        </p:spPr>
      </p:pic>
      <p:sp>
        <p:nvSpPr>
          <p:cNvPr id="738" name="Google Shape;738;p29"/>
          <p:cNvSpPr/>
          <p:nvPr/>
        </p:nvSpPr>
        <p:spPr>
          <a:xfrm>
            <a:off x="9048011" y="4484592"/>
            <a:ext cx="1291455" cy="1230497"/>
          </a:xfrm>
          <a:prstGeom prst="rect">
            <a:avLst/>
          </a:prstGeom>
          <a:solidFill>
            <a:schemeClr val="lt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2400">
                <a:solidFill>
                  <a:schemeClr val="dk1"/>
                </a:solidFill>
                <a:latin typeface="Arial"/>
                <a:ea typeface="Arial"/>
                <a:cs typeface="Arial"/>
                <a:sym typeface="Arial"/>
              </a:rPr>
              <a:t>QR</a:t>
            </a:r>
            <a:endParaRPr/>
          </a:p>
          <a:p>
            <a:pPr indent="0" lvl="0" marL="0" marR="0" rtl="0" algn="ctr">
              <a:spcBef>
                <a:spcPts val="0"/>
              </a:spcBef>
              <a:spcAft>
                <a:spcPts val="0"/>
              </a:spcAft>
              <a:buNone/>
            </a:pPr>
            <a:r>
              <a:rPr b="1" lang="en-CH" sz="2400">
                <a:solidFill>
                  <a:schemeClr val="dk1"/>
                </a:solidFill>
                <a:latin typeface="Arial"/>
                <a:ea typeface="Arial"/>
                <a:cs typeface="Arial"/>
                <a:sym typeface="Arial"/>
              </a:rPr>
              <a:t>Code</a:t>
            </a:r>
            <a:endParaRPr/>
          </a:p>
        </p:txBody>
      </p:sp>
      <p:sp>
        <p:nvSpPr>
          <p:cNvPr id="739" name="Google Shape;739;p29"/>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4" name="Shape 744"/>
        <p:cNvGrpSpPr/>
        <p:nvPr/>
      </p:nvGrpSpPr>
      <p:grpSpPr>
        <a:xfrm>
          <a:off x="0" y="0"/>
          <a:ext cx="0" cy="0"/>
          <a:chOff x="0" y="0"/>
          <a:chExt cx="0" cy="0"/>
        </a:xfrm>
      </p:grpSpPr>
      <p:pic>
        <p:nvPicPr>
          <p:cNvPr descr="A large building with a tower and a body of water&#10;&#10;Description automatically generated" id="745" name="Google Shape;745;p30"/>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746" name="Google Shape;746;p30"/>
          <p:cNvSpPr txBox="1"/>
          <p:nvPr/>
        </p:nvSpPr>
        <p:spPr>
          <a:xfrm>
            <a:off x="393700" y="443110"/>
            <a:ext cx="5527988"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freezing</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2/4: Hydraulic Pressure</a:t>
            </a:r>
            <a:endParaRPr b="1" sz="3200">
              <a:solidFill>
                <a:schemeClr val="dk1"/>
              </a:solidFill>
              <a:latin typeface="Arial"/>
              <a:ea typeface="Arial"/>
              <a:cs typeface="Arial"/>
              <a:sym typeface="Arial"/>
            </a:endParaRPr>
          </a:p>
        </p:txBody>
      </p:sp>
      <p:sp>
        <p:nvSpPr>
          <p:cNvPr id="747" name="Google Shape;747;p30"/>
          <p:cNvSpPr txBox="1"/>
          <p:nvPr/>
        </p:nvSpPr>
        <p:spPr>
          <a:xfrm>
            <a:off x="139015" y="6462522"/>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48" name="Google Shape;748;p30"/>
          <p:cNvSpPr/>
          <p:nvPr/>
        </p:nvSpPr>
        <p:spPr>
          <a:xfrm>
            <a:off x="10798122" y="6030716"/>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49" name="Google Shape;749;p30"/>
          <p:cNvSpPr txBox="1"/>
          <p:nvPr/>
        </p:nvSpPr>
        <p:spPr>
          <a:xfrm>
            <a:off x="393700" y="1713878"/>
            <a:ext cx="6419225" cy="4124206"/>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457200" lvl="0" marL="0" marR="0" rtl="0" algn="just">
              <a:spcBef>
                <a:spcPts val="0"/>
              </a:spcBef>
              <a:spcAft>
                <a:spcPts val="0"/>
              </a:spcAft>
              <a:buNone/>
            </a:pPr>
            <a:r>
              <a:rPr lang="en-CH" sz="1800">
                <a:solidFill>
                  <a:schemeClr val="dk1"/>
                </a:solidFill>
                <a:latin typeface="Arial"/>
                <a:ea typeface="Arial"/>
                <a:cs typeface="Arial"/>
                <a:sym typeface="Arial"/>
              </a:rPr>
              <a:t>Another situation also related to the change in molar volume is called “hydraulic pressure”. It occurs when growing ice pushes the liquid water still present through the porous network. The flow resistance leads to a pressure that depends on the size of the pores and the distance over which the water is pushed. </a:t>
            </a:r>
            <a:endParaRPr/>
          </a:p>
          <a:p>
            <a:pPr indent="457200" lvl="0" marL="0" marR="0" rtl="0" algn="just">
              <a:spcBef>
                <a:spcPts val="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0"/>
              </a:spcBef>
              <a:spcAft>
                <a:spcPts val="0"/>
              </a:spcAft>
              <a:buNone/>
            </a:pPr>
            <a:r>
              <a:rPr lang="en-CH" sz="1800">
                <a:solidFill>
                  <a:schemeClr val="dk1"/>
                </a:solidFill>
                <a:latin typeface="Arial"/>
                <a:ea typeface="Arial"/>
                <a:cs typeface="Arial"/>
                <a:sym typeface="Arial"/>
              </a:rPr>
              <a:t>For molasse, the pore size is large, which reduces this pressure. However, if these same stones are saturated with water, then the equivalent length of the saturated pores can be very large, which can lead to high hydraulic pressures if the cooling rate is fast enough. </a:t>
            </a:r>
            <a:endParaRPr/>
          </a:p>
          <a:p>
            <a:pPr indent="457200" lvl="0" marL="0" marR="0" rtl="0" algn="just">
              <a:spcBef>
                <a:spcPts val="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1200"/>
              </a:spcBef>
              <a:spcAft>
                <a:spcPts val="0"/>
              </a:spcAft>
              <a:buNone/>
            </a:pPr>
            <a:r>
              <a:rPr lang="en-CH" sz="1800">
                <a:solidFill>
                  <a:schemeClr val="dk1"/>
                </a:solidFill>
                <a:latin typeface="Arial"/>
                <a:ea typeface="Arial"/>
                <a:cs typeface="Arial"/>
                <a:sym typeface="Arial"/>
              </a:rPr>
              <a:t>&lt; CONTINUE &gt;</a:t>
            </a:r>
            <a:endParaRPr sz="1800">
              <a:solidFill>
                <a:schemeClr val="dk1"/>
              </a:solidFill>
              <a:latin typeface="Arial"/>
              <a:ea typeface="Arial"/>
              <a:cs typeface="Arial"/>
              <a:sym typeface="Arial"/>
            </a:endParaRPr>
          </a:p>
        </p:txBody>
      </p:sp>
      <p:pic>
        <p:nvPicPr>
          <p:cNvPr descr="Freezing - Free weather icons" id="750" name="Google Shape;750;p30"/>
          <p:cNvPicPr preferRelativeResize="0"/>
          <p:nvPr/>
        </p:nvPicPr>
        <p:blipFill rotWithShape="1">
          <a:blip r:embed="rId4">
            <a:alphaModFix/>
          </a:blip>
          <a:srcRect b="0" l="0" r="0" t="0"/>
          <a:stretch/>
        </p:blipFill>
        <p:spPr>
          <a:xfrm>
            <a:off x="551360" y="1047636"/>
            <a:ext cx="361382" cy="361382"/>
          </a:xfrm>
          <a:prstGeom prst="rect">
            <a:avLst/>
          </a:prstGeom>
          <a:noFill/>
          <a:ln>
            <a:noFill/>
          </a:ln>
        </p:spPr>
      </p:pic>
      <p:sp>
        <p:nvSpPr>
          <p:cNvPr id="751" name="Google Shape;751;p30"/>
          <p:cNvSpPr/>
          <p:nvPr/>
        </p:nvSpPr>
        <p:spPr>
          <a:xfrm>
            <a:off x="8721505" y="4741289"/>
            <a:ext cx="1291455" cy="1230497"/>
          </a:xfrm>
          <a:prstGeom prst="rect">
            <a:avLst/>
          </a:prstGeom>
          <a:solidFill>
            <a:schemeClr val="lt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2400">
                <a:solidFill>
                  <a:schemeClr val="dk1"/>
                </a:solidFill>
                <a:latin typeface="Arial"/>
                <a:ea typeface="Arial"/>
                <a:cs typeface="Arial"/>
                <a:sym typeface="Arial"/>
              </a:rPr>
              <a:t>QR</a:t>
            </a:r>
            <a:endParaRPr/>
          </a:p>
          <a:p>
            <a:pPr indent="0" lvl="0" marL="0" marR="0" rtl="0" algn="ctr">
              <a:spcBef>
                <a:spcPts val="0"/>
              </a:spcBef>
              <a:spcAft>
                <a:spcPts val="0"/>
              </a:spcAft>
              <a:buNone/>
            </a:pPr>
            <a:r>
              <a:rPr b="1" lang="en-CH" sz="2400">
                <a:solidFill>
                  <a:schemeClr val="dk1"/>
                </a:solidFill>
                <a:latin typeface="Arial"/>
                <a:ea typeface="Arial"/>
                <a:cs typeface="Arial"/>
                <a:sym typeface="Arial"/>
              </a:rPr>
              <a:t>Code</a:t>
            </a:r>
            <a:endParaRPr/>
          </a:p>
        </p:txBody>
      </p:sp>
      <p:pic>
        <p:nvPicPr>
          <p:cNvPr id="752" name="Google Shape;752;p30"/>
          <p:cNvPicPr preferRelativeResize="0"/>
          <p:nvPr/>
        </p:nvPicPr>
        <p:blipFill rotWithShape="1">
          <a:blip r:embed="rId5">
            <a:alphaModFix/>
          </a:blip>
          <a:srcRect b="0" l="0" r="0" t="0"/>
          <a:stretch/>
        </p:blipFill>
        <p:spPr>
          <a:xfrm>
            <a:off x="7375301" y="1713878"/>
            <a:ext cx="4243885" cy="2823020"/>
          </a:xfrm>
          <a:prstGeom prst="rect">
            <a:avLst/>
          </a:prstGeom>
          <a:noFill/>
          <a:ln>
            <a:noFill/>
          </a:ln>
        </p:spPr>
      </p:pic>
      <p:sp>
        <p:nvSpPr>
          <p:cNvPr id="753" name="Google Shape;753;p30"/>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8" name="Shape 758"/>
        <p:cNvGrpSpPr/>
        <p:nvPr/>
      </p:nvGrpSpPr>
      <p:grpSpPr>
        <a:xfrm>
          <a:off x="0" y="0"/>
          <a:ext cx="0" cy="0"/>
          <a:chOff x="0" y="0"/>
          <a:chExt cx="0" cy="0"/>
        </a:xfrm>
      </p:grpSpPr>
      <p:pic>
        <p:nvPicPr>
          <p:cNvPr descr="A large building with a tower and a body of water&#10;&#10;Description automatically generated" id="759" name="Google Shape;759;p31"/>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760" name="Google Shape;760;p31"/>
          <p:cNvSpPr txBox="1"/>
          <p:nvPr/>
        </p:nvSpPr>
        <p:spPr>
          <a:xfrm>
            <a:off x="393700" y="443110"/>
            <a:ext cx="5732082"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freezing</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 3/4 : Crystallization Pressure</a:t>
            </a:r>
            <a:endParaRPr b="1" sz="2400">
              <a:solidFill>
                <a:schemeClr val="dk1"/>
              </a:solidFill>
              <a:latin typeface="Arial"/>
              <a:ea typeface="Arial"/>
              <a:cs typeface="Arial"/>
              <a:sym typeface="Arial"/>
            </a:endParaRPr>
          </a:p>
        </p:txBody>
      </p:sp>
      <p:sp>
        <p:nvSpPr>
          <p:cNvPr id="761" name="Google Shape;761;p31"/>
          <p:cNvSpPr txBox="1"/>
          <p:nvPr/>
        </p:nvSpPr>
        <p:spPr>
          <a:xfrm>
            <a:off x="249717" y="6359657"/>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62" name="Google Shape;762;p31"/>
          <p:cNvSpPr/>
          <p:nvPr/>
        </p:nvSpPr>
        <p:spPr>
          <a:xfrm>
            <a:off x="10820195" y="6129065"/>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63" name="Google Shape;763;p31"/>
          <p:cNvSpPr txBox="1"/>
          <p:nvPr/>
        </p:nvSpPr>
        <p:spPr>
          <a:xfrm>
            <a:off x="393700" y="1891354"/>
            <a:ext cx="6419225" cy="2400657"/>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457200" lvl="0" marL="0" marR="0" rtl="0" algn="just">
              <a:spcBef>
                <a:spcPts val="0"/>
              </a:spcBef>
              <a:spcAft>
                <a:spcPts val="0"/>
              </a:spcAft>
              <a:buNone/>
            </a:pPr>
            <a:r>
              <a:rPr lang="en-CH" sz="2000">
                <a:solidFill>
                  <a:schemeClr val="dk1"/>
                </a:solidFill>
                <a:latin typeface="Arial"/>
                <a:ea typeface="Arial"/>
                <a:cs typeface="Arial"/>
                <a:sym typeface="Arial"/>
              </a:rPr>
              <a:t>Another situation in which frost can be damaging is the crystallization pressure. Under such conditions, low temperatures developed over long periods of time would be most damaging. Such situations are to be expected in colder climates than in Lausanne.</a:t>
            </a:r>
            <a:endParaRPr/>
          </a:p>
          <a:p>
            <a:pPr indent="457200" lvl="0" marL="0" marR="0" rtl="0" algn="just">
              <a:spcBef>
                <a:spcPts val="0"/>
              </a:spcBef>
              <a:spcAft>
                <a:spcPts val="0"/>
              </a:spcAft>
              <a:buNone/>
            </a:pPr>
            <a:r>
              <a:t/>
            </a:r>
            <a:endParaRPr sz="2000">
              <a:solidFill>
                <a:schemeClr val="dk1"/>
              </a:solidFill>
              <a:latin typeface="Arial"/>
              <a:ea typeface="Arial"/>
              <a:cs typeface="Arial"/>
              <a:sym typeface="Arial"/>
            </a:endParaRPr>
          </a:p>
          <a:p>
            <a:pPr indent="457200" lvl="0" marL="0" marR="0" rtl="0" algn="just">
              <a:spcBef>
                <a:spcPts val="1200"/>
              </a:spcBef>
              <a:spcAft>
                <a:spcPts val="0"/>
              </a:spcAft>
              <a:buNone/>
            </a:pPr>
            <a:r>
              <a:rPr lang="en-CH" sz="2000">
                <a:solidFill>
                  <a:schemeClr val="dk1"/>
                </a:solidFill>
                <a:latin typeface="Arial"/>
                <a:ea typeface="Arial"/>
                <a:cs typeface="Arial"/>
                <a:sym typeface="Arial"/>
              </a:rPr>
              <a:t>&lt; CONTINUE &gt;</a:t>
            </a:r>
            <a:endParaRPr sz="2000">
              <a:solidFill>
                <a:schemeClr val="dk1"/>
              </a:solidFill>
              <a:latin typeface="Arial"/>
              <a:ea typeface="Arial"/>
              <a:cs typeface="Arial"/>
              <a:sym typeface="Arial"/>
            </a:endParaRPr>
          </a:p>
        </p:txBody>
      </p:sp>
      <p:pic>
        <p:nvPicPr>
          <p:cNvPr descr="Freezing - Free weather icons" id="764" name="Google Shape;764;p31"/>
          <p:cNvPicPr preferRelativeResize="0"/>
          <p:nvPr/>
        </p:nvPicPr>
        <p:blipFill rotWithShape="1">
          <a:blip r:embed="rId4">
            <a:alphaModFix/>
          </a:blip>
          <a:srcRect b="0" l="0" r="0" t="0"/>
          <a:stretch/>
        </p:blipFill>
        <p:spPr>
          <a:xfrm>
            <a:off x="614420" y="1047636"/>
            <a:ext cx="361382" cy="361382"/>
          </a:xfrm>
          <a:prstGeom prst="rect">
            <a:avLst/>
          </a:prstGeom>
          <a:noFill/>
          <a:ln>
            <a:noFill/>
          </a:ln>
        </p:spPr>
      </p:pic>
      <p:sp>
        <p:nvSpPr>
          <p:cNvPr id="765" name="Google Shape;765;p31"/>
          <p:cNvSpPr/>
          <p:nvPr/>
        </p:nvSpPr>
        <p:spPr>
          <a:xfrm>
            <a:off x="8911254" y="4609500"/>
            <a:ext cx="1291455" cy="1230497"/>
          </a:xfrm>
          <a:prstGeom prst="rect">
            <a:avLst/>
          </a:prstGeom>
          <a:solidFill>
            <a:schemeClr val="lt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2400">
                <a:solidFill>
                  <a:schemeClr val="dk1"/>
                </a:solidFill>
                <a:latin typeface="Arial"/>
                <a:ea typeface="Arial"/>
                <a:cs typeface="Arial"/>
                <a:sym typeface="Arial"/>
              </a:rPr>
              <a:t>QR</a:t>
            </a:r>
            <a:endParaRPr/>
          </a:p>
          <a:p>
            <a:pPr indent="0" lvl="0" marL="0" marR="0" rtl="0" algn="ctr">
              <a:spcBef>
                <a:spcPts val="0"/>
              </a:spcBef>
              <a:spcAft>
                <a:spcPts val="0"/>
              </a:spcAft>
              <a:buNone/>
            </a:pPr>
            <a:r>
              <a:rPr b="1" lang="en-CH" sz="2400">
                <a:solidFill>
                  <a:schemeClr val="dk1"/>
                </a:solidFill>
                <a:latin typeface="Arial"/>
                <a:ea typeface="Arial"/>
                <a:cs typeface="Arial"/>
                <a:sym typeface="Arial"/>
              </a:rPr>
              <a:t>Code</a:t>
            </a:r>
            <a:endParaRPr/>
          </a:p>
        </p:txBody>
      </p:sp>
      <p:pic>
        <p:nvPicPr>
          <p:cNvPr id="766" name="Google Shape;766;p31"/>
          <p:cNvPicPr preferRelativeResize="0"/>
          <p:nvPr/>
        </p:nvPicPr>
        <p:blipFill rotWithShape="1">
          <a:blip r:embed="rId5">
            <a:alphaModFix/>
          </a:blip>
          <a:srcRect b="0" l="0" r="0" t="0"/>
          <a:stretch/>
        </p:blipFill>
        <p:spPr>
          <a:xfrm>
            <a:off x="7315664" y="1891354"/>
            <a:ext cx="4482636" cy="2429079"/>
          </a:xfrm>
          <a:prstGeom prst="rect">
            <a:avLst/>
          </a:prstGeom>
          <a:noFill/>
          <a:ln>
            <a:noFill/>
          </a:ln>
        </p:spPr>
      </p:pic>
      <p:sp>
        <p:nvSpPr>
          <p:cNvPr id="767" name="Google Shape;767;p31"/>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2" name="Shape 772"/>
        <p:cNvGrpSpPr/>
        <p:nvPr/>
      </p:nvGrpSpPr>
      <p:grpSpPr>
        <a:xfrm>
          <a:off x="0" y="0"/>
          <a:ext cx="0" cy="0"/>
          <a:chOff x="0" y="0"/>
          <a:chExt cx="0" cy="0"/>
        </a:xfrm>
      </p:grpSpPr>
      <p:pic>
        <p:nvPicPr>
          <p:cNvPr descr="A large building with a tower and a body of water&#10;&#10;Description automatically generated" id="773" name="Google Shape;773;p32"/>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774" name="Google Shape;774;p32"/>
          <p:cNvSpPr txBox="1"/>
          <p:nvPr/>
        </p:nvSpPr>
        <p:spPr>
          <a:xfrm>
            <a:off x="393699" y="443110"/>
            <a:ext cx="5527988" cy="95410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Stone weathering by freezing</a:t>
            </a:r>
            <a:endParaRPr/>
          </a:p>
          <a:p>
            <a:pPr indent="0" lvl="0" marL="0" marR="0" rtl="0" algn="l">
              <a:spcBef>
                <a:spcPts val="0"/>
              </a:spcBef>
              <a:spcAft>
                <a:spcPts val="0"/>
              </a:spcAft>
              <a:buNone/>
            </a:pPr>
            <a:r>
              <a:rPr b="1" lang="en-CH" sz="2400">
                <a:solidFill>
                  <a:schemeClr val="dk1"/>
                </a:solidFill>
                <a:latin typeface="Arial"/>
                <a:ea typeface="Arial"/>
                <a:cs typeface="Arial"/>
                <a:sym typeface="Arial"/>
              </a:rPr>
              <a:t>        4/4: Temperature gradient</a:t>
            </a:r>
            <a:endParaRPr b="1" sz="3200">
              <a:solidFill>
                <a:schemeClr val="dk1"/>
              </a:solidFill>
              <a:latin typeface="Arial"/>
              <a:ea typeface="Arial"/>
              <a:cs typeface="Arial"/>
              <a:sym typeface="Arial"/>
            </a:endParaRPr>
          </a:p>
        </p:txBody>
      </p:sp>
      <p:sp>
        <p:nvSpPr>
          <p:cNvPr id="775" name="Google Shape;775;p32"/>
          <p:cNvSpPr txBox="1"/>
          <p:nvPr/>
        </p:nvSpPr>
        <p:spPr>
          <a:xfrm>
            <a:off x="44791" y="6359657"/>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76" name="Google Shape;776;p32"/>
          <p:cNvSpPr/>
          <p:nvPr/>
        </p:nvSpPr>
        <p:spPr>
          <a:xfrm>
            <a:off x="10907120" y="5847451"/>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77" name="Google Shape;777;p32"/>
          <p:cNvSpPr txBox="1"/>
          <p:nvPr/>
        </p:nvSpPr>
        <p:spPr>
          <a:xfrm>
            <a:off x="393699" y="1742139"/>
            <a:ext cx="6419225" cy="3970318"/>
          </a:xfrm>
          <a:prstGeom prst="rect">
            <a:avLst/>
          </a:prstGeom>
          <a:solidFill>
            <a:schemeClr val="lt1">
              <a:alpha val="80000"/>
            </a:schemeClr>
          </a:solidFill>
          <a:ln>
            <a:noFill/>
          </a:ln>
        </p:spPr>
        <p:txBody>
          <a:bodyPr anchorCtr="0" anchor="t" bIns="45700" lIns="144000" spcFirstLastPara="1" rIns="144000" wrap="square" tIns="45700">
            <a:spAutoFit/>
          </a:bodyPr>
          <a:lstStyle/>
          <a:p>
            <a:pPr indent="457200" lvl="0" marL="0" marR="0" rtl="0" algn="just">
              <a:spcBef>
                <a:spcPts val="0"/>
              </a:spcBef>
              <a:spcAft>
                <a:spcPts val="0"/>
              </a:spcAft>
              <a:buNone/>
            </a:pPr>
            <a:r>
              <a:rPr lang="en-CH" sz="1800">
                <a:solidFill>
                  <a:schemeClr val="dk1"/>
                </a:solidFill>
                <a:latin typeface="Arial"/>
                <a:ea typeface="Arial"/>
                <a:cs typeface="Arial"/>
                <a:sym typeface="Arial"/>
              </a:rPr>
              <a:t>Coarse porous materials, such as molasse, can be damaged during freezing if a temperature gradient is sustained. Water can then move from an unfrozen region to feed the growth of ice trapped in the pores of a frozen region. This is analogous to frost heave but also can cause damage in sedimentary building stones and in geological settings. </a:t>
            </a:r>
            <a:endParaRPr/>
          </a:p>
          <a:p>
            <a:pPr indent="457200" lvl="0" marL="0" marR="0" rtl="0" algn="just">
              <a:spcBef>
                <a:spcPts val="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0"/>
              </a:spcBef>
              <a:spcAft>
                <a:spcPts val="0"/>
              </a:spcAft>
              <a:buNone/>
            </a:pPr>
            <a:r>
              <a:rPr lang="en-CH" sz="1800">
                <a:solidFill>
                  <a:schemeClr val="dk1"/>
                </a:solidFill>
                <a:latin typeface="Arial"/>
                <a:ea typeface="Arial"/>
                <a:cs typeface="Arial"/>
                <a:sym typeface="Arial"/>
              </a:rPr>
              <a:t>Related situations can lead to forming ice lenses between a moist substrate (stone cores) and a surface subject to temperature variations (façade). The growth of such lenses can accelerate the detachment of pre-existing scales without the temperatures having to be very low.</a:t>
            </a:r>
            <a:endParaRPr/>
          </a:p>
          <a:p>
            <a:pPr indent="457200" lvl="0" marL="0" marR="0" rtl="0" algn="just">
              <a:spcBef>
                <a:spcPts val="0"/>
              </a:spcBef>
              <a:spcAft>
                <a:spcPts val="0"/>
              </a:spcAft>
              <a:buNone/>
            </a:pPr>
            <a:r>
              <a:t/>
            </a:r>
            <a:endParaRPr sz="1800">
              <a:solidFill>
                <a:schemeClr val="dk1"/>
              </a:solidFill>
              <a:latin typeface="Arial"/>
              <a:ea typeface="Arial"/>
              <a:cs typeface="Arial"/>
              <a:sym typeface="Arial"/>
            </a:endParaRPr>
          </a:p>
          <a:p>
            <a:pPr indent="457200" lvl="0" marL="0" marR="0" rtl="0" algn="just">
              <a:spcBef>
                <a:spcPts val="0"/>
              </a:spcBef>
              <a:spcAft>
                <a:spcPts val="0"/>
              </a:spcAft>
              <a:buNone/>
            </a:pPr>
            <a:r>
              <a:rPr lang="en-CH" sz="1800">
                <a:solidFill>
                  <a:schemeClr val="dk1"/>
                </a:solidFill>
                <a:latin typeface="Arial"/>
                <a:ea typeface="Arial"/>
                <a:cs typeface="Arial"/>
                <a:sym typeface="Arial"/>
              </a:rPr>
              <a:t>&lt; END &gt;</a:t>
            </a:r>
            <a:endParaRPr sz="1800">
              <a:solidFill>
                <a:schemeClr val="dk1"/>
              </a:solidFill>
              <a:latin typeface="Arial"/>
              <a:ea typeface="Arial"/>
              <a:cs typeface="Arial"/>
              <a:sym typeface="Arial"/>
            </a:endParaRPr>
          </a:p>
        </p:txBody>
      </p:sp>
      <p:pic>
        <p:nvPicPr>
          <p:cNvPr descr="Freezing - Free weather icons" id="778" name="Google Shape;778;p32"/>
          <p:cNvPicPr preferRelativeResize="0"/>
          <p:nvPr/>
        </p:nvPicPr>
        <p:blipFill rotWithShape="1">
          <a:blip r:embed="rId4">
            <a:alphaModFix/>
          </a:blip>
          <a:srcRect b="0" l="0" r="0" t="0"/>
          <a:stretch/>
        </p:blipFill>
        <p:spPr>
          <a:xfrm>
            <a:off x="535592" y="1047636"/>
            <a:ext cx="361382" cy="361382"/>
          </a:xfrm>
          <a:prstGeom prst="rect">
            <a:avLst/>
          </a:prstGeom>
          <a:noFill/>
          <a:ln>
            <a:noFill/>
          </a:ln>
        </p:spPr>
      </p:pic>
      <p:sp>
        <p:nvSpPr>
          <p:cNvPr id="779" name="Google Shape;779;p32"/>
          <p:cNvSpPr/>
          <p:nvPr/>
        </p:nvSpPr>
        <p:spPr>
          <a:xfrm>
            <a:off x="9071840" y="4847545"/>
            <a:ext cx="1291455" cy="1230497"/>
          </a:xfrm>
          <a:prstGeom prst="rect">
            <a:avLst/>
          </a:prstGeom>
          <a:solidFill>
            <a:schemeClr val="lt1"/>
          </a:solidFill>
          <a:ln cap="flat" cmpd="sng" w="38100">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2400">
                <a:solidFill>
                  <a:schemeClr val="dk1"/>
                </a:solidFill>
                <a:latin typeface="Arial"/>
                <a:ea typeface="Arial"/>
                <a:cs typeface="Arial"/>
                <a:sym typeface="Arial"/>
              </a:rPr>
              <a:t>QR</a:t>
            </a:r>
            <a:endParaRPr/>
          </a:p>
          <a:p>
            <a:pPr indent="0" lvl="0" marL="0" marR="0" rtl="0" algn="ctr">
              <a:spcBef>
                <a:spcPts val="0"/>
              </a:spcBef>
              <a:spcAft>
                <a:spcPts val="0"/>
              </a:spcAft>
              <a:buNone/>
            </a:pPr>
            <a:r>
              <a:rPr b="1" lang="en-CH" sz="2400">
                <a:solidFill>
                  <a:schemeClr val="dk1"/>
                </a:solidFill>
                <a:latin typeface="Arial"/>
                <a:ea typeface="Arial"/>
                <a:cs typeface="Arial"/>
                <a:sym typeface="Arial"/>
              </a:rPr>
              <a:t>Code</a:t>
            </a:r>
            <a:endParaRPr/>
          </a:p>
        </p:txBody>
      </p:sp>
      <p:pic>
        <p:nvPicPr>
          <p:cNvPr id="780" name="Google Shape;780;p32"/>
          <p:cNvPicPr preferRelativeResize="0"/>
          <p:nvPr/>
        </p:nvPicPr>
        <p:blipFill rotWithShape="1">
          <a:blip r:embed="rId5">
            <a:alphaModFix/>
          </a:blip>
          <a:srcRect b="0" l="0" r="0" t="0"/>
          <a:stretch/>
        </p:blipFill>
        <p:spPr>
          <a:xfrm>
            <a:off x="7636836" y="1742139"/>
            <a:ext cx="4161465" cy="2911546"/>
          </a:xfrm>
          <a:prstGeom prst="rect">
            <a:avLst/>
          </a:prstGeom>
          <a:noFill/>
          <a:ln>
            <a:noFill/>
          </a:ln>
        </p:spPr>
      </p:pic>
      <p:sp>
        <p:nvSpPr>
          <p:cNvPr id="781" name="Google Shape;781;p32"/>
          <p:cNvSpPr/>
          <p:nvPr/>
        </p:nvSpPr>
        <p:spPr>
          <a:xfrm rot="-3186433">
            <a:off x="11214498" y="5263641"/>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2" name="Google Shape;782;p32"/>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descr="A large building with a tower and a body of water&#10;&#10;Description automatically generated" id="788" name="Google Shape;788;p33"/>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789" name="Google Shape;789;p33"/>
          <p:cNvSpPr txBox="1"/>
          <p:nvPr/>
        </p:nvSpPr>
        <p:spPr>
          <a:xfrm>
            <a:off x="430095" y="450573"/>
            <a:ext cx="4850495" cy="1077218"/>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Weathering of Molasse</a:t>
            </a:r>
            <a:endParaRPr b="1" sz="3200">
              <a:solidFill>
                <a:schemeClr val="dk1"/>
              </a:solidFill>
              <a:latin typeface="Arial"/>
              <a:ea typeface="Arial"/>
              <a:cs typeface="Arial"/>
              <a:sym typeface="Arial"/>
            </a:endParaRPr>
          </a:p>
        </p:txBody>
      </p:sp>
      <p:sp>
        <p:nvSpPr>
          <p:cNvPr id="790" name="Google Shape;790;p33"/>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791" name="Google Shape;791;p33"/>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792" name="Google Shape;792;p33"/>
          <p:cNvSpPr txBox="1"/>
          <p:nvPr/>
        </p:nvSpPr>
        <p:spPr>
          <a:xfrm>
            <a:off x="430094" y="2066400"/>
            <a:ext cx="6119137" cy="3539430"/>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The process of degradation is a complex system that involves different factors.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weathering mechanisms are the physical/chemical processes involved in the degradation.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degradation types (or patterns) refer to how damage manifests on a larger scale.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&lt; CONTINUE &gt;</a:t>
            </a:r>
            <a:endParaRPr/>
          </a:p>
        </p:txBody>
      </p:sp>
      <p:pic>
        <p:nvPicPr>
          <p:cNvPr descr="Weather icons" id="793" name="Google Shape;793;p33"/>
          <p:cNvPicPr preferRelativeResize="0"/>
          <p:nvPr/>
        </p:nvPicPr>
        <p:blipFill rotWithShape="1">
          <a:blip r:embed="rId4">
            <a:alphaModFix/>
          </a:blip>
          <a:srcRect b="0" l="0" r="0" t="0"/>
          <a:stretch/>
        </p:blipFill>
        <p:spPr>
          <a:xfrm>
            <a:off x="582889" y="989182"/>
            <a:ext cx="516190" cy="465883"/>
          </a:xfrm>
          <a:prstGeom prst="rect">
            <a:avLst/>
          </a:prstGeom>
          <a:noFill/>
          <a:ln>
            <a:noFill/>
          </a:ln>
        </p:spPr>
      </p:pic>
      <p:grpSp>
        <p:nvGrpSpPr>
          <p:cNvPr id="794" name="Google Shape;794;p33"/>
          <p:cNvGrpSpPr/>
          <p:nvPr/>
        </p:nvGrpSpPr>
        <p:grpSpPr>
          <a:xfrm>
            <a:off x="6767702" y="3050699"/>
            <a:ext cx="4500237" cy="922367"/>
            <a:chOff x="6477002" y="1781585"/>
            <a:chExt cx="4500237" cy="922367"/>
          </a:xfrm>
        </p:grpSpPr>
        <p:sp>
          <p:nvSpPr>
            <p:cNvPr id="795" name="Google Shape;795;p33"/>
            <p:cNvSpPr/>
            <p:nvPr/>
          </p:nvSpPr>
          <p:spPr>
            <a:xfrm>
              <a:off x="6477002" y="1781585"/>
              <a:ext cx="4500237" cy="922367"/>
            </a:xfrm>
            <a:prstGeom prst="roundRect">
              <a:avLst>
                <a:gd fmla="val 50000" name="adj"/>
              </a:avLst>
            </a:prstGeom>
            <a:solidFill>
              <a:schemeClr val="lt1">
                <a:alpha val="66666"/>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6" name="Google Shape;796;p33"/>
            <p:cNvSpPr txBox="1"/>
            <p:nvPr/>
          </p:nvSpPr>
          <p:spPr>
            <a:xfrm>
              <a:off x="7682080" y="2051580"/>
              <a:ext cx="28642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Weathering mechanism </a:t>
              </a:r>
              <a:endParaRPr sz="2000">
                <a:solidFill>
                  <a:schemeClr val="dk1"/>
                </a:solidFill>
                <a:latin typeface="Arial"/>
                <a:ea typeface="Arial"/>
                <a:cs typeface="Arial"/>
                <a:sym typeface="Arial"/>
              </a:endParaRPr>
            </a:p>
          </p:txBody>
        </p:sp>
      </p:grpSp>
      <p:grpSp>
        <p:nvGrpSpPr>
          <p:cNvPr id="797" name="Google Shape;797;p33"/>
          <p:cNvGrpSpPr/>
          <p:nvPr/>
        </p:nvGrpSpPr>
        <p:grpSpPr>
          <a:xfrm>
            <a:off x="6767701" y="4120622"/>
            <a:ext cx="4500237" cy="922367"/>
            <a:chOff x="6477001" y="2851508"/>
            <a:chExt cx="4500237" cy="922367"/>
          </a:xfrm>
        </p:grpSpPr>
        <p:sp>
          <p:nvSpPr>
            <p:cNvPr id="798" name="Google Shape;798;p33"/>
            <p:cNvSpPr/>
            <p:nvPr/>
          </p:nvSpPr>
          <p:spPr>
            <a:xfrm>
              <a:off x="6477001" y="2851508"/>
              <a:ext cx="4500237" cy="922367"/>
            </a:xfrm>
            <a:prstGeom prst="roundRect">
              <a:avLst>
                <a:gd fmla="val 50000" name="adj"/>
              </a:avLst>
            </a:prstGeom>
            <a:solidFill>
              <a:schemeClr val="lt1">
                <a:alpha val="67058"/>
              </a:scheme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Types of degradation</a:t>
              </a:r>
              <a:endParaRPr sz="2000">
                <a:solidFill>
                  <a:schemeClr val="dk1"/>
                </a:solidFill>
                <a:latin typeface="Arial"/>
                <a:ea typeface="Arial"/>
                <a:cs typeface="Arial"/>
                <a:sym typeface="Arial"/>
              </a:endParaRPr>
            </a:p>
          </p:txBody>
        </p:sp>
        <p:sp>
          <p:nvSpPr>
            <p:cNvPr id="799" name="Google Shape;799;p33"/>
            <p:cNvSpPr txBox="1"/>
            <p:nvPr/>
          </p:nvSpPr>
          <p:spPr>
            <a:xfrm>
              <a:off x="7580479" y="3141967"/>
              <a:ext cx="1847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Venus outline" id="800" name="Google Shape;800;p33"/>
            <p:cNvPicPr preferRelativeResize="0"/>
            <p:nvPr/>
          </p:nvPicPr>
          <p:blipFill rotWithShape="1">
            <a:blip r:embed="rId5">
              <a:alphaModFix/>
            </a:blip>
            <a:srcRect b="4021" l="0" r="0" t="4021"/>
            <a:stretch/>
          </p:blipFill>
          <p:spPr>
            <a:xfrm>
              <a:off x="6814006" y="3063546"/>
              <a:ext cx="548003" cy="503931"/>
            </a:xfrm>
            <a:prstGeom prst="rect">
              <a:avLst/>
            </a:prstGeom>
            <a:noFill/>
            <a:ln>
              <a:noFill/>
            </a:ln>
          </p:spPr>
        </p:pic>
      </p:grpSp>
      <p:sp>
        <p:nvSpPr>
          <p:cNvPr id="801" name="Google Shape;801;p33"/>
          <p:cNvSpPr/>
          <p:nvPr/>
        </p:nvSpPr>
        <p:spPr>
          <a:xfrm rot="1077042">
            <a:off x="11224539" y="4483387"/>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2" name="Google Shape;802;p33"/>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pic>
        <p:nvPicPr>
          <p:cNvPr id="803" name="Google Shape;803;p33"/>
          <p:cNvPicPr preferRelativeResize="0"/>
          <p:nvPr/>
        </p:nvPicPr>
        <p:blipFill rotWithShape="1">
          <a:blip r:embed="rId6">
            <a:alphaModFix/>
          </a:blip>
          <a:srcRect b="0" l="1998" r="1998" t="0"/>
          <a:stretch/>
        </p:blipFill>
        <p:spPr>
          <a:xfrm>
            <a:off x="7104706" y="3216873"/>
            <a:ext cx="548003" cy="5039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pic>
        <p:nvPicPr>
          <p:cNvPr descr="A large building with a tower and a body of water&#10;&#10;Description automatically generated" id="809" name="Google Shape;809;p34"/>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810" name="Google Shape;810;p34"/>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811" name="Google Shape;811;p34"/>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812" name="Google Shape;812;p34"/>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813" name="Google Shape;813;p34"/>
          <p:cNvSpPr txBox="1"/>
          <p:nvPr/>
        </p:nvSpPr>
        <p:spPr>
          <a:xfrm>
            <a:off x="696808" y="2066400"/>
            <a:ext cx="5590830" cy="3816429"/>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 compresence in the same point of different degradation pattern can lead their identification difficult. </a:t>
            </a:r>
            <a:endParaRPr/>
          </a:p>
        </p:txBody>
      </p:sp>
      <p:pic>
        <p:nvPicPr>
          <p:cNvPr descr="Weather icons" id="814" name="Google Shape;814;p34"/>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815" name="Google Shape;815;p34"/>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grpSp>
        <p:nvGrpSpPr>
          <p:cNvPr id="816" name="Google Shape;816;p34"/>
          <p:cNvGrpSpPr/>
          <p:nvPr/>
        </p:nvGrpSpPr>
        <p:grpSpPr>
          <a:xfrm>
            <a:off x="6767702" y="3050699"/>
            <a:ext cx="4500237" cy="922367"/>
            <a:chOff x="6477002" y="1781585"/>
            <a:chExt cx="4500237" cy="922367"/>
          </a:xfrm>
        </p:grpSpPr>
        <p:sp>
          <p:nvSpPr>
            <p:cNvPr id="817" name="Google Shape;817;p34"/>
            <p:cNvSpPr/>
            <p:nvPr/>
          </p:nvSpPr>
          <p:spPr>
            <a:xfrm>
              <a:off x="6477002" y="1781585"/>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8" name="Google Shape;818;p34"/>
            <p:cNvSpPr txBox="1"/>
            <p:nvPr/>
          </p:nvSpPr>
          <p:spPr>
            <a:xfrm>
              <a:off x="7783169" y="2051580"/>
              <a:ext cx="266207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Degradation examples</a:t>
              </a:r>
              <a:endParaRPr sz="2000">
                <a:solidFill>
                  <a:schemeClr val="dk1"/>
                </a:solidFill>
                <a:latin typeface="Arial"/>
                <a:ea typeface="Arial"/>
                <a:cs typeface="Arial"/>
                <a:sym typeface="Arial"/>
              </a:endParaRPr>
            </a:p>
          </p:txBody>
        </p:sp>
        <p:pic>
          <p:nvPicPr>
            <p:cNvPr descr="Postit Notes 3 with solid fill" id="819" name="Google Shape;819;p34"/>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820" name="Google Shape;820;p34"/>
          <p:cNvGrpSpPr/>
          <p:nvPr/>
        </p:nvGrpSpPr>
        <p:grpSpPr>
          <a:xfrm>
            <a:off x="6767701" y="4120622"/>
            <a:ext cx="4500237" cy="922367"/>
            <a:chOff x="6477001" y="2851508"/>
            <a:chExt cx="4500237" cy="922367"/>
          </a:xfrm>
        </p:grpSpPr>
        <p:sp>
          <p:nvSpPr>
            <p:cNvPr id="821" name="Google Shape;821;p34"/>
            <p:cNvSpPr/>
            <p:nvPr/>
          </p:nvSpPr>
          <p:spPr>
            <a:xfrm>
              <a:off x="6477001" y="2851508"/>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Localization of the decays</a:t>
              </a:r>
              <a:endParaRPr sz="2000">
                <a:solidFill>
                  <a:schemeClr val="dk1"/>
                </a:solidFill>
                <a:latin typeface="Arial"/>
                <a:ea typeface="Arial"/>
                <a:cs typeface="Arial"/>
                <a:sym typeface="Arial"/>
              </a:endParaRPr>
            </a:p>
          </p:txBody>
        </p:sp>
        <p:sp>
          <p:nvSpPr>
            <p:cNvPr id="822" name="Google Shape;822;p34"/>
            <p:cNvSpPr txBox="1"/>
            <p:nvPr/>
          </p:nvSpPr>
          <p:spPr>
            <a:xfrm>
              <a:off x="7580479" y="3141967"/>
              <a:ext cx="1847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Map compass outline" id="823" name="Google Shape;823;p34"/>
            <p:cNvPicPr preferRelativeResize="0"/>
            <p:nvPr/>
          </p:nvPicPr>
          <p:blipFill rotWithShape="1">
            <a:blip r:embed="rId6">
              <a:alphaModFix/>
            </a:blip>
            <a:srcRect b="4021" l="0" r="0" t="4021"/>
            <a:stretch/>
          </p:blipFill>
          <p:spPr>
            <a:xfrm>
              <a:off x="6814006" y="3063546"/>
              <a:ext cx="548003" cy="503931"/>
            </a:xfrm>
            <a:prstGeom prst="rect">
              <a:avLst/>
            </a:prstGeom>
            <a:noFill/>
            <a:ln>
              <a:noFill/>
            </a:ln>
          </p:spPr>
        </p:pic>
      </p:grpSp>
      <p:sp>
        <p:nvSpPr>
          <p:cNvPr id="824" name="Google Shape;824;p34"/>
          <p:cNvSpPr/>
          <p:nvPr/>
        </p:nvSpPr>
        <p:spPr>
          <a:xfrm rot="1077042">
            <a:off x="11224539" y="3392999"/>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25" name="Google Shape;825;p34"/>
          <p:cNvGrpSpPr/>
          <p:nvPr/>
        </p:nvGrpSpPr>
        <p:grpSpPr>
          <a:xfrm>
            <a:off x="270786" y="1032164"/>
            <a:ext cx="11527500" cy="5001300"/>
            <a:chOff x="249717" y="981719"/>
            <a:chExt cx="11527500" cy="5001300"/>
          </a:xfrm>
        </p:grpSpPr>
        <p:sp>
          <p:nvSpPr>
            <p:cNvPr id="826" name="Google Shape;826;p34"/>
            <p:cNvSpPr txBox="1"/>
            <p:nvPr/>
          </p:nvSpPr>
          <p:spPr>
            <a:xfrm>
              <a:off x="249717" y="981719"/>
              <a:ext cx="11527500" cy="500130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CH" sz="2800">
                  <a:solidFill>
                    <a:schemeClr val="dk1"/>
                  </a:solidFill>
                  <a:latin typeface="Arial"/>
                  <a:ea typeface="Arial"/>
                  <a:cs typeface="Arial"/>
                  <a:sym typeface="Arial"/>
                </a:rPr>
                <a:t>Example of degradation patterns on the Lausanne Cathedral</a:t>
              </a:r>
              <a:endParaRPr/>
            </a:p>
            <a:p>
              <a:pPr indent="0" lvl="0" marL="0" marR="0" rtl="0" algn="ctr">
                <a:lnSpc>
                  <a:spcPct val="150000"/>
                </a:lnSpc>
                <a:spcBef>
                  <a:spcPts val="0"/>
                </a:spcBef>
                <a:spcAft>
                  <a:spcPts val="0"/>
                </a:spcAft>
                <a:buNone/>
              </a:pPr>
              <a:r>
                <a:rPr lang="en-CH" sz="2000">
                  <a:solidFill>
                    <a:schemeClr val="dk1"/>
                  </a:solidFill>
                  <a:latin typeface="Arial"/>
                  <a:ea typeface="Arial"/>
                  <a:cs typeface="Arial"/>
                  <a:sym typeface="Arial"/>
                </a:rPr>
                <a:t>The major degradation patterns observed on the cathedral  can be classified according these 4 classes</a:t>
              </a:r>
              <a:endParaRPr/>
            </a:p>
            <a:p>
              <a:pPr indent="0" lvl="0" marL="0" marR="0" rtl="0" algn="ctr">
                <a:lnSpc>
                  <a:spcPct val="15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	    </a:t>
              </a:r>
              <a:r>
                <a:rPr b="1" lang="en-CH" sz="2200">
                  <a:solidFill>
                    <a:schemeClr val="dk1"/>
                  </a:solidFill>
                  <a:latin typeface="Arial"/>
                  <a:ea typeface="Arial"/>
                  <a:cs typeface="Arial"/>
                  <a:sym typeface="Arial"/>
                </a:rPr>
                <a:t>Scaling	                         Biodeterioration	               Black crust                           Sanding </a:t>
              </a:r>
              <a:endParaRPr/>
            </a:p>
            <a:p>
              <a:pPr indent="0" lvl="0" marL="0" marR="0" rtl="0" algn="l">
                <a:spcBef>
                  <a:spcPts val="0"/>
                </a:spcBef>
                <a:spcAft>
                  <a:spcPts val="0"/>
                </a:spcAft>
                <a:buNone/>
              </a:pPr>
              <a:r>
                <a:t/>
              </a:r>
              <a:endParaRPr b="1"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A stone tower with a tower&#10;&#10;Description automatically generated" id="827" name="Google Shape;827;p34"/>
            <p:cNvPicPr preferRelativeResize="0"/>
            <p:nvPr/>
          </p:nvPicPr>
          <p:blipFill rotWithShape="1">
            <a:blip r:embed="rId7">
              <a:alphaModFix/>
            </a:blip>
            <a:srcRect b="22167" l="206" r="-327" t="5798"/>
            <a:stretch/>
          </p:blipFill>
          <p:spPr>
            <a:xfrm>
              <a:off x="8989427" y="3052273"/>
              <a:ext cx="2570292" cy="2487859"/>
            </a:xfrm>
            <a:prstGeom prst="rect">
              <a:avLst/>
            </a:prstGeom>
            <a:noFill/>
            <a:ln>
              <a:noFill/>
            </a:ln>
          </p:spPr>
        </p:pic>
        <p:pic>
          <p:nvPicPr>
            <p:cNvPr descr="A hand holding a coin&#10;&#10;Description automatically generated" id="828" name="Google Shape;828;p34"/>
            <p:cNvPicPr preferRelativeResize="0"/>
            <p:nvPr/>
          </p:nvPicPr>
          <p:blipFill rotWithShape="1">
            <a:blip r:embed="rId8">
              <a:alphaModFix/>
            </a:blip>
            <a:srcRect b="0" l="0" r="0" t="0"/>
            <a:stretch/>
          </p:blipFill>
          <p:spPr>
            <a:xfrm>
              <a:off x="528728" y="3084369"/>
              <a:ext cx="2537132" cy="2473574"/>
            </a:xfrm>
            <a:prstGeom prst="rect">
              <a:avLst/>
            </a:prstGeom>
            <a:noFill/>
            <a:ln>
              <a:noFill/>
            </a:ln>
          </p:spPr>
        </p:pic>
        <p:pic>
          <p:nvPicPr>
            <p:cNvPr descr="A close-up of a crack in the sand&#10;&#10;Description automatically generated" id="829" name="Google Shape;829;p34"/>
            <p:cNvPicPr preferRelativeResize="0"/>
            <p:nvPr/>
          </p:nvPicPr>
          <p:blipFill rotWithShape="1">
            <a:blip r:embed="rId9">
              <a:alphaModFix/>
            </a:blip>
            <a:srcRect b="7071" l="7787" r="24549" t="5604"/>
            <a:stretch/>
          </p:blipFill>
          <p:spPr>
            <a:xfrm>
              <a:off x="3358695" y="3030193"/>
              <a:ext cx="2569450" cy="2487043"/>
            </a:xfrm>
            <a:prstGeom prst="rect">
              <a:avLst/>
            </a:prstGeom>
            <a:noFill/>
            <a:ln>
              <a:noFill/>
            </a:ln>
          </p:spPr>
        </p:pic>
        <p:pic>
          <p:nvPicPr>
            <p:cNvPr descr="A close-up of a stone wall&#10;&#10;Description automatically generated" id="830" name="Google Shape;830;p34"/>
            <p:cNvPicPr preferRelativeResize="0"/>
            <p:nvPr/>
          </p:nvPicPr>
          <p:blipFill rotWithShape="1">
            <a:blip r:embed="rId10">
              <a:alphaModFix/>
            </a:blip>
            <a:srcRect b="2777" l="1" r="15970" t="0"/>
            <a:stretch/>
          </p:blipFill>
          <p:spPr>
            <a:xfrm>
              <a:off x="6293706" y="3052273"/>
              <a:ext cx="2436991" cy="2473575"/>
            </a:xfrm>
            <a:prstGeom prst="rect">
              <a:avLst/>
            </a:prstGeom>
            <a:noFill/>
            <a:ln>
              <a:noFill/>
            </a:ln>
          </p:spPr>
        </p:pic>
        <p:sp>
          <p:nvSpPr>
            <p:cNvPr id="831" name="Google Shape;831;p34"/>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25"/>
                                        </p:tgtEl>
                                        <p:attrNameLst>
                                          <p:attrName>style.visibility</p:attrName>
                                        </p:attrNameLst>
                                      </p:cBhvr>
                                      <p:to>
                                        <p:strVal val="visible"/>
                                      </p:to>
                                    </p:set>
                                    <p:anim calcmode="lin" valueType="num">
                                      <p:cBhvr additive="base">
                                        <p:cTn dur="500"/>
                                        <p:tgtEl>
                                          <p:spTgt spid="825"/>
                                        </p:tgtEl>
                                        <p:attrNameLst>
                                          <p:attrName>ppt_w</p:attrName>
                                        </p:attrNameLst>
                                      </p:cBhvr>
                                      <p:tavLst>
                                        <p:tav fmla="" tm="0">
                                          <p:val>
                                            <p:strVal val="0"/>
                                          </p:val>
                                        </p:tav>
                                        <p:tav fmla="" tm="100000">
                                          <p:val>
                                            <p:strVal val="#ppt_w"/>
                                          </p:val>
                                        </p:tav>
                                      </p:tavLst>
                                    </p:anim>
                                    <p:anim calcmode="lin" valueType="num">
                                      <p:cBhvr additive="base">
                                        <p:cTn dur="500"/>
                                        <p:tgtEl>
                                          <p:spTgt spid="82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descr="A large building with a tower and a body of water&#10;&#10;Description automatically generated" id="837" name="Google Shape;837;p35"/>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838" name="Google Shape;838;p35"/>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839" name="Google Shape;839;p35"/>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840" name="Google Shape;840;p35"/>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841" name="Google Shape;841;p35"/>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842" name="Google Shape;842;p35"/>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843" name="Google Shape;843;p35"/>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844" name="Google Shape;844;p35"/>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5" name="Google Shape;845;p35"/>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sp>
        <p:nvSpPr>
          <p:cNvPr id="846" name="Google Shape;846;p35"/>
          <p:cNvSpPr/>
          <p:nvPr/>
        </p:nvSpPr>
        <p:spPr>
          <a:xfrm rot="1077042">
            <a:off x="11166215" y="4423074"/>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47" name="Google Shape;847;p35"/>
          <p:cNvGrpSpPr/>
          <p:nvPr/>
        </p:nvGrpSpPr>
        <p:grpSpPr>
          <a:xfrm>
            <a:off x="6767702" y="3050699"/>
            <a:ext cx="4500237" cy="922367"/>
            <a:chOff x="6477002" y="1781585"/>
            <a:chExt cx="4500237" cy="922367"/>
          </a:xfrm>
        </p:grpSpPr>
        <p:sp>
          <p:nvSpPr>
            <p:cNvPr id="848" name="Google Shape;848;p35"/>
            <p:cNvSpPr/>
            <p:nvPr/>
          </p:nvSpPr>
          <p:spPr>
            <a:xfrm>
              <a:off x="6477002" y="1781585"/>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9" name="Google Shape;849;p35"/>
            <p:cNvSpPr txBox="1"/>
            <p:nvPr/>
          </p:nvSpPr>
          <p:spPr>
            <a:xfrm>
              <a:off x="7783169" y="2051580"/>
              <a:ext cx="266207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Degradation examples</a:t>
              </a:r>
              <a:endParaRPr sz="2000">
                <a:solidFill>
                  <a:schemeClr val="dk1"/>
                </a:solidFill>
                <a:latin typeface="Arial"/>
                <a:ea typeface="Arial"/>
                <a:cs typeface="Arial"/>
                <a:sym typeface="Arial"/>
              </a:endParaRPr>
            </a:p>
          </p:txBody>
        </p:sp>
        <p:pic>
          <p:nvPicPr>
            <p:cNvPr descr="Postit Notes 3 with solid fill" id="850" name="Google Shape;850;p35"/>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851" name="Google Shape;851;p35"/>
          <p:cNvGrpSpPr/>
          <p:nvPr/>
        </p:nvGrpSpPr>
        <p:grpSpPr>
          <a:xfrm>
            <a:off x="6767701" y="4120622"/>
            <a:ext cx="4500237" cy="922367"/>
            <a:chOff x="6477001" y="2851508"/>
            <a:chExt cx="4500237" cy="922367"/>
          </a:xfrm>
        </p:grpSpPr>
        <p:sp>
          <p:nvSpPr>
            <p:cNvPr id="852" name="Google Shape;852;p35"/>
            <p:cNvSpPr/>
            <p:nvPr/>
          </p:nvSpPr>
          <p:spPr>
            <a:xfrm>
              <a:off x="6477001" y="2851508"/>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Localization of the decays</a:t>
              </a:r>
              <a:endParaRPr sz="2000">
                <a:solidFill>
                  <a:schemeClr val="dk1"/>
                </a:solidFill>
                <a:latin typeface="Arial"/>
                <a:ea typeface="Arial"/>
                <a:cs typeface="Arial"/>
                <a:sym typeface="Arial"/>
              </a:endParaRPr>
            </a:p>
          </p:txBody>
        </p:sp>
        <p:sp>
          <p:nvSpPr>
            <p:cNvPr id="853" name="Google Shape;853;p35"/>
            <p:cNvSpPr txBox="1"/>
            <p:nvPr/>
          </p:nvSpPr>
          <p:spPr>
            <a:xfrm>
              <a:off x="7580479" y="3141967"/>
              <a:ext cx="1847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Map compass outline" id="854" name="Google Shape;854;p35"/>
            <p:cNvPicPr preferRelativeResize="0"/>
            <p:nvPr/>
          </p:nvPicPr>
          <p:blipFill rotWithShape="1">
            <a:blip r:embed="rId6">
              <a:alphaModFix/>
            </a:blip>
            <a:srcRect b="4021" l="0" r="0" t="4021"/>
            <a:stretch/>
          </p:blipFill>
          <p:spPr>
            <a:xfrm>
              <a:off x="6814006" y="3063546"/>
              <a:ext cx="548003" cy="503931"/>
            </a:xfrm>
            <a:prstGeom prst="rect">
              <a:avLst/>
            </a:prstGeom>
            <a:noFill/>
            <a:ln>
              <a:noFill/>
            </a:ln>
          </p:spPr>
        </p:pic>
      </p:grpSp>
      <p:grpSp>
        <p:nvGrpSpPr>
          <p:cNvPr id="855" name="Google Shape;855;p35"/>
          <p:cNvGrpSpPr/>
          <p:nvPr/>
        </p:nvGrpSpPr>
        <p:grpSpPr>
          <a:xfrm>
            <a:off x="308306" y="824003"/>
            <a:ext cx="11527514" cy="5191469"/>
            <a:chOff x="249717" y="776231"/>
            <a:chExt cx="11527514" cy="5191469"/>
          </a:xfrm>
        </p:grpSpPr>
        <p:sp>
          <p:nvSpPr>
            <p:cNvPr id="856" name="Google Shape;856;p35"/>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857" name="Google Shape;857;p35"/>
            <p:cNvSpPr txBox="1"/>
            <p:nvPr/>
          </p:nvSpPr>
          <p:spPr>
            <a:xfrm>
              <a:off x="7766723" y="1179922"/>
              <a:ext cx="343726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a:solidFill>
                    <a:schemeClr val="dk1"/>
                  </a:solidFill>
                  <a:latin typeface="Arial"/>
                  <a:ea typeface="Arial"/>
                  <a:cs typeface="Arial"/>
                  <a:sym typeface="Arial"/>
                </a:rPr>
                <a:t>There are areas of the Cathedral more affected by a certain type of degradation, but also small difference in the geometry of the building can make a difference. In the red area we can find a good example, click on it to discover more…</a:t>
              </a:r>
              <a:endParaRPr sz="1800">
                <a:solidFill>
                  <a:schemeClr val="dk1"/>
                </a:solidFill>
                <a:latin typeface="Arial"/>
                <a:ea typeface="Arial"/>
                <a:cs typeface="Arial"/>
                <a:sym typeface="Arial"/>
              </a:endParaRPr>
            </a:p>
          </p:txBody>
        </p:sp>
        <p:pic>
          <p:nvPicPr>
            <p:cNvPr descr="A close-up of a castle&#10;&#10;Description automatically generated" id="858" name="Google Shape;858;p35"/>
            <p:cNvPicPr preferRelativeResize="0"/>
            <p:nvPr/>
          </p:nvPicPr>
          <p:blipFill rotWithShape="1">
            <a:blip r:embed="rId7">
              <a:alphaModFix/>
            </a:blip>
            <a:srcRect b="0" l="0" r="0" t="0"/>
            <a:stretch/>
          </p:blipFill>
          <p:spPr>
            <a:xfrm rot="-5400000">
              <a:off x="2563926" y="-140773"/>
              <a:ext cx="4982495" cy="6816502"/>
            </a:xfrm>
            <a:prstGeom prst="rect">
              <a:avLst/>
            </a:prstGeom>
            <a:noFill/>
            <a:ln>
              <a:noFill/>
            </a:ln>
          </p:spPr>
        </p:pic>
        <p:sp>
          <p:nvSpPr>
            <p:cNvPr id="859" name="Google Shape;859;p35"/>
            <p:cNvSpPr/>
            <p:nvPr/>
          </p:nvSpPr>
          <p:spPr>
            <a:xfrm>
              <a:off x="2932627" y="5030247"/>
              <a:ext cx="695975" cy="550191"/>
            </a:xfrm>
            <a:prstGeom prst="rect">
              <a:avLst/>
            </a:prstGeom>
            <a:no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60" name="Google Shape;860;p35"/>
          <p:cNvGrpSpPr/>
          <p:nvPr/>
        </p:nvGrpSpPr>
        <p:grpSpPr>
          <a:xfrm>
            <a:off x="308306" y="1027759"/>
            <a:ext cx="11527514" cy="4985980"/>
            <a:chOff x="249717" y="981719"/>
            <a:chExt cx="11527514" cy="4985980"/>
          </a:xfrm>
        </p:grpSpPr>
        <p:sp>
          <p:nvSpPr>
            <p:cNvPr id="861" name="Google Shape;861;p35"/>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862" name="Google Shape;862;p35"/>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3" name="Google Shape;863;p35"/>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How many type of degradation can you find in the area? </a:t>
              </a:r>
              <a:endParaRPr sz="2000">
                <a:solidFill>
                  <a:schemeClr val="dk1"/>
                </a:solidFill>
                <a:latin typeface="Arial"/>
                <a:ea typeface="Arial"/>
                <a:cs typeface="Arial"/>
                <a:sym typeface="Arial"/>
              </a:endParaRPr>
            </a:p>
          </p:txBody>
        </p:sp>
        <p:pic>
          <p:nvPicPr>
            <p:cNvPr descr="DSC_0021.jpg" id="864" name="Google Shape;864;p35"/>
            <p:cNvPicPr preferRelativeResize="0"/>
            <p:nvPr/>
          </p:nvPicPr>
          <p:blipFill rotWithShape="1">
            <a:blip r:embed="rId8">
              <a:alphaModFix/>
            </a:blip>
            <a:srcRect b="0" l="0" r="43177" t="0"/>
            <a:stretch/>
          </p:blipFill>
          <p:spPr>
            <a:xfrm>
              <a:off x="323517" y="1046536"/>
              <a:ext cx="5590830" cy="4870279"/>
            </a:xfrm>
            <a:prstGeom prst="rect">
              <a:avLst/>
            </a:prstGeom>
            <a:noFill/>
            <a:ln>
              <a:noFill/>
            </a:ln>
          </p:spPr>
        </p:pic>
        <p:sp>
          <p:nvSpPr>
            <p:cNvPr id="865" name="Google Shape;865;p35"/>
            <p:cNvSpPr/>
            <p:nvPr/>
          </p:nvSpPr>
          <p:spPr>
            <a:xfrm>
              <a:off x="6743350" y="2170960"/>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1</a:t>
              </a:r>
              <a:endParaRPr b="1" sz="1800">
                <a:solidFill>
                  <a:schemeClr val="dk1"/>
                </a:solidFill>
                <a:latin typeface="Arial"/>
                <a:ea typeface="Arial"/>
                <a:cs typeface="Arial"/>
                <a:sym typeface="Arial"/>
              </a:endParaRPr>
            </a:p>
          </p:txBody>
        </p:sp>
        <p:sp>
          <p:nvSpPr>
            <p:cNvPr id="866" name="Google Shape;866;p35"/>
            <p:cNvSpPr/>
            <p:nvPr/>
          </p:nvSpPr>
          <p:spPr>
            <a:xfrm>
              <a:off x="8273782" y="2168271"/>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867" name="Google Shape;867;p35"/>
            <p:cNvSpPr/>
            <p:nvPr/>
          </p:nvSpPr>
          <p:spPr>
            <a:xfrm>
              <a:off x="9822234" y="217949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3</a:t>
              </a:r>
              <a:endParaRPr b="1" sz="1800">
                <a:solidFill>
                  <a:schemeClr val="dk1"/>
                </a:solidFill>
                <a:latin typeface="Arial"/>
                <a:ea typeface="Arial"/>
                <a:cs typeface="Arial"/>
                <a:sym typeface="Arial"/>
              </a:endParaRPr>
            </a:p>
          </p:txBody>
        </p:sp>
      </p:grpSp>
      <p:sp>
        <p:nvSpPr>
          <p:cNvPr id="868" name="Google Shape;868;p35"/>
          <p:cNvSpPr/>
          <p:nvPr/>
        </p:nvSpPr>
        <p:spPr>
          <a:xfrm rot="1077042">
            <a:off x="10973074" y="2326534"/>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55"/>
                                        </p:tgtEl>
                                        <p:attrNameLst>
                                          <p:attrName>style.visibility</p:attrName>
                                        </p:attrNameLst>
                                      </p:cBhvr>
                                      <p:to>
                                        <p:strVal val="visible"/>
                                      </p:to>
                                    </p:set>
                                    <p:anim calcmode="lin" valueType="num">
                                      <p:cBhvr additive="base">
                                        <p:cTn dur="500"/>
                                        <p:tgtEl>
                                          <p:spTgt spid="855"/>
                                        </p:tgtEl>
                                        <p:attrNameLst>
                                          <p:attrName>ppt_w</p:attrName>
                                        </p:attrNameLst>
                                      </p:cBhvr>
                                      <p:tavLst>
                                        <p:tav fmla="" tm="0">
                                          <p:val>
                                            <p:strVal val="0"/>
                                          </p:val>
                                        </p:tav>
                                        <p:tav fmla="" tm="100000">
                                          <p:val>
                                            <p:strVal val="#ppt_w"/>
                                          </p:val>
                                        </p:tav>
                                      </p:tavLst>
                                    </p:anim>
                                    <p:anim calcmode="lin" valueType="num">
                                      <p:cBhvr additive="base">
                                        <p:cTn dur="500"/>
                                        <p:tgtEl>
                                          <p:spTgt spid="8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pic>
        <p:nvPicPr>
          <p:cNvPr descr="A large building with a tower and a body of water&#10;&#10;Description automatically generated" id="874" name="Google Shape;874;p36"/>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875" name="Google Shape;875;p36"/>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876" name="Google Shape;876;p36"/>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877" name="Google Shape;877;p36"/>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878" name="Google Shape;878;p36"/>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879" name="Google Shape;879;p36"/>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880" name="Google Shape;880;p36"/>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grpSp>
        <p:nvGrpSpPr>
          <p:cNvPr id="881" name="Google Shape;881;p36"/>
          <p:cNvGrpSpPr/>
          <p:nvPr/>
        </p:nvGrpSpPr>
        <p:grpSpPr>
          <a:xfrm>
            <a:off x="6767702" y="3050699"/>
            <a:ext cx="4500237" cy="922367"/>
            <a:chOff x="6477002" y="1781585"/>
            <a:chExt cx="4500237" cy="922367"/>
          </a:xfrm>
        </p:grpSpPr>
        <p:sp>
          <p:nvSpPr>
            <p:cNvPr id="882" name="Google Shape;882;p36"/>
            <p:cNvSpPr/>
            <p:nvPr/>
          </p:nvSpPr>
          <p:spPr>
            <a:xfrm>
              <a:off x="6477002" y="1781585"/>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3" name="Google Shape;883;p36"/>
            <p:cNvSpPr txBox="1"/>
            <p:nvPr/>
          </p:nvSpPr>
          <p:spPr>
            <a:xfrm>
              <a:off x="7783169" y="2051580"/>
              <a:ext cx="266207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Degradation examples</a:t>
              </a:r>
              <a:endParaRPr sz="2000">
                <a:solidFill>
                  <a:schemeClr val="dk1"/>
                </a:solidFill>
                <a:latin typeface="Arial"/>
                <a:ea typeface="Arial"/>
                <a:cs typeface="Arial"/>
                <a:sym typeface="Arial"/>
              </a:endParaRPr>
            </a:p>
          </p:txBody>
        </p:sp>
        <p:pic>
          <p:nvPicPr>
            <p:cNvPr descr="Gears with solid fill" id="884" name="Google Shape;884;p36"/>
            <p:cNvPicPr preferRelativeResize="0"/>
            <p:nvPr/>
          </p:nvPicPr>
          <p:blipFill rotWithShape="1">
            <a:blip r:embed="rId5">
              <a:alphaModFix/>
            </a:blip>
            <a:srcRect b="0" l="0" r="0" t="0"/>
            <a:stretch/>
          </p:blipFill>
          <p:spPr>
            <a:xfrm>
              <a:off x="6864405" y="1984784"/>
              <a:ext cx="547666" cy="547666"/>
            </a:xfrm>
            <a:prstGeom prst="rect">
              <a:avLst/>
            </a:prstGeom>
            <a:noFill/>
            <a:ln>
              <a:noFill/>
            </a:ln>
          </p:spPr>
        </p:pic>
      </p:grpSp>
      <p:grpSp>
        <p:nvGrpSpPr>
          <p:cNvPr id="885" name="Google Shape;885;p36"/>
          <p:cNvGrpSpPr/>
          <p:nvPr/>
        </p:nvGrpSpPr>
        <p:grpSpPr>
          <a:xfrm>
            <a:off x="6767701" y="4120622"/>
            <a:ext cx="4500237" cy="922367"/>
            <a:chOff x="6477001" y="2851508"/>
            <a:chExt cx="4500237" cy="922367"/>
          </a:xfrm>
        </p:grpSpPr>
        <p:sp>
          <p:nvSpPr>
            <p:cNvPr id="886" name="Google Shape;886;p36"/>
            <p:cNvSpPr/>
            <p:nvPr/>
          </p:nvSpPr>
          <p:spPr>
            <a:xfrm>
              <a:off x="6477001" y="2851508"/>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2000">
                  <a:solidFill>
                    <a:schemeClr val="dk1"/>
                  </a:solidFill>
                  <a:latin typeface="Arial"/>
                  <a:ea typeface="Arial"/>
                  <a:cs typeface="Arial"/>
                  <a:sym typeface="Arial"/>
                </a:rPr>
                <a:t>Localization of the decays</a:t>
              </a:r>
              <a:endParaRPr sz="2000">
                <a:solidFill>
                  <a:schemeClr val="dk1"/>
                </a:solidFill>
                <a:latin typeface="Arial"/>
                <a:ea typeface="Arial"/>
                <a:cs typeface="Arial"/>
                <a:sym typeface="Arial"/>
              </a:endParaRPr>
            </a:p>
          </p:txBody>
        </p:sp>
        <p:sp>
          <p:nvSpPr>
            <p:cNvPr id="887" name="Google Shape;887;p36"/>
            <p:cNvSpPr txBox="1"/>
            <p:nvPr/>
          </p:nvSpPr>
          <p:spPr>
            <a:xfrm>
              <a:off x="7580479" y="3141967"/>
              <a:ext cx="1847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pic>
          <p:nvPicPr>
            <p:cNvPr descr="Pie chart outline" id="888" name="Google Shape;888;p36"/>
            <p:cNvPicPr preferRelativeResize="0"/>
            <p:nvPr/>
          </p:nvPicPr>
          <p:blipFill rotWithShape="1">
            <a:blip r:embed="rId6">
              <a:alphaModFix/>
            </a:blip>
            <a:srcRect b="4021" l="0" r="0" t="4021"/>
            <a:stretch/>
          </p:blipFill>
          <p:spPr>
            <a:xfrm>
              <a:off x="6814006" y="3063546"/>
              <a:ext cx="548003" cy="503931"/>
            </a:xfrm>
            <a:prstGeom prst="rect">
              <a:avLst/>
            </a:prstGeom>
            <a:noFill/>
            <a:ln>
              <a:noFill/>
            </a:ln>
          </p:spPr>
        </p:pic>
      </p:grpSp>
      <p:sp>
        <p:nvSpPr>
          <p:cNvPr id="889" name="Google Shape;889;p36"/>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0" name="Google Shape;890;p36"/>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sp>
        <p:nvSpPr>
          <p:cNvPr id="891" name="Google Shape;891;p36"/>
          <p:cNvSpPr/>
          <p:nvPr/>
        </p:nvSpPr>
        <p:spPr>
          <a:xfrm rot="1077042">
            <a:off x="11166215" y="4423074"/>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92" name="Google Shape;892;p36"/>
          <p:cNvGrpSpPr/>
          <p:nvPr/>
        </p:nvGrpSpPr>
        <p:grpSpPr>
          <a:xfrm>
            <a:off x="297842" y="814731"/>
            <a:ext cx="11527514" cy="5191469"/>
            <a:chOff x="249717" y="776231"/>
            <a:chExt cx="11527514" cy="5191469"/>
          </a:xfrm>
        </p:grpSpPr>
        <p:sp>
          <p:nvSpPr>
            <p:cNvPr id="893" name="Google Shape;893;p36"/>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894" name="Google Shape;894;p36"/>
            <p:cNvSpPr txBox="1"/>
            <p:nvPr/>
          </p:nvSpPr>
          <p:spPr>
            <a:xfrm>
              <a:off x="7766723" y="1179922"/>
              <a:ext cx="343726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a:solidFill>
                    <a:schemeClr val="dk1"/>
                  </a:solidFill>
                  <a:latin typeface="Arial"/>
                  <a:ea typeface="Arial"/>
                  <a:cs typeface="Arial"/>
                  <a:sym typeface="Arial"/>
                </a:rPr>
                <a:t>There are areas of the Cathedral more affected by a certain type of degradation, but also small difference in the geometry of the building can make a difference. In the red area we can find a good example, click on it to discover more…</a:t>
              </a:r>
              <a:endParaRPr sz="1800">
                <a:solidFill>
                  <a:schemeClr val="dk1"/>
                </a:solidFill>
                <a:latin typeface="Arial"/>
                <a:ea typeface="Arial"/>
                <a:cs typeface="Arial"/>
                <a:sym typeface="Arial"/>
              </a:endParaRPr>
            </a:p>
          </p:txBody>
        </p:sp>
        <p:pic>
          <p:nvPicPr>
            <p:cNvPr descr="A close-up of a castle&#10;&#10;Description automatically generated" id="895" name="Google Shape;895;p36"/>
            <p:cNvPicPr preferRelativeResize="0"/>
            <p:nvPr/>
          </p:nvPicPr>
          <p:blipFill rotWithShape="1">
            <a:blip r:embed="rId7">
              <a:alphaModFix/>
            </a:blip>
            <a:srcRect b="0" l="0" r="0" t="0"/>
            <a:stretch/>
          </p:blipFill>
          <p:spPr>
            <a:xfrm rot="-5400000">
              <a:off x="2563926" y="-140773"/>
              <a:ext cx="4982495" cy="6816502"/>
            </a:xfrm>
            <a:prstGeom prst="rect">
              <a:avLst/>
            </a:prstGeom>
            <a:noFill/>
            <a:ln>
              <a:noFill/>
            </a:ln>
          </p:spPr>
        </p:pic>
        <p:sp>
          <p:nvSpPr>
            <p:cNvPr id="896" name="Google Shape;896;p36"/>
            <p:cNvSpPr/>
            <p:nvPr/>
          </p:nvSpPr>
          <p:spPr>
            <a:xfrm>
              <a:off x="2932627" y="5030247"/>
              <a:ext cx="695975" cy="550191"/>
            </a:xfrm>
            <a:prstGeom prst="rect">
              <a:avLst/>
            </a:prstGeom>
            <a:noFill/>
            <a:ln cap="flat" cmpd="sng" w="571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97" name="Google Shape;897;p36"/>
          <p:cNvGrpSpPr/>
          <p:nvPr/>
        </p:nvGrpSpPr>
        <p:grpSpPr>
          <a:xfrm>
            <a:off x="309286" y="1033756"/>
            <a:ext cx="11527514" cy="4985980"/>
            <a:chOff x="249717" y="981719"/>
            <a:chExt cx="11527514" cy="4985980"/>
          </a:xfrm>
        </p:grpSpPr>
        <p:sp>
          <p:nvSpPr>
            <p:cNvPr id="898" name="Google Shape;898;p36"/>
            <p:cNvSpPr txBox="1"/>
            <p:nvPr/>
          </p:nvSpPr>
          <p:spPr>
            <a:xfrm>
              <a:off x="249717" y="981719"/>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899" name="Google Shape;899;p36"/>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0" name="Google Shape;900;p36"/>
            <p:cNvSpPr txBox="1"/>
            <p:nvPr/>
          </p:nvSpPr>
          <p:spPr>
            <a:xfrm>
              <a:off x="6610121" y="1179922"/>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How many type of degradation can you find in the area? </a:t>
              </a:r>
              <a:endParaRPr sz="2000">
                <a:solidFill>
                  <a:schemeClr val="dk1"/>
                </a:solidFill>
                <a:latin typeface="Arial"/>
                <a:ea typeface="Arial"/>
                <a:cs typeface="Arial"/>
                <a:sym typeface="Arial"/>
              </a:endParaRPr>
            </a:p>
          </p:txBody>
        </p:sp>
        <p:pic>
          <p:nvPicPr>
            <p:cNvPr descr="DSC_0021.jpg" id="901" name="Google Shape;901;p36"/>
            <p:cNvPicPr preferRelativeResize="0"/>
            <p:nvPr/>
          </p:nvPicPr>
          <p:blipFill rotWithShape="1">
            <a:blip r:embed="rId8">
              <a:alphaModFix/>
            </a:blip>
            <a:srcRect b="0" l="0" r="43177" t="0"/>
            <a:stretch/>
          </p:blipFill>
          <p:spPr>
            <a:xfrm>
              <a:off x="323517" y="1046536"/>
              <a:ext cx="5590830" cy="4870279"/>
            </a:xfrm>
            <a:prstGeom prst="rect">
              <a:avLst/>
            </a:prstGeom>
            <a:noFill/>
            <a:ln>
              <a:noFill/>
            </a:ln>
          </p:spPr>
        </p:pic>
        <p:sp>
          <p:nvSpPr>
            <p:cNvPr id="902" name="Google Shape;902;p36"/>
            <p:cNvSpPr/>
            <p:nvPr/>
          </p:nvSpPr>
          <p:spPr>
            <a:xfrm>
              <a:off x="6743350" y="2170960"/>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1</a:t>
              </a:r>
              <a:endParaRPr b="1" sz="1800">
                <a:solidFill>
                  <a:schemeClr val="dk1"/>
                </a:solidFill>
                <a:latin typeface="Arial"/>
                <a:ea typeface="Arial"/>
                <a:cs typeface="Arial"/>
                <a:sym typeface="Arial"/>
              </a:endParaRPr>
            </a:p>
          </p:txBody>
        </p:sp>
        <p:sp>
          <p:nvSpPr>
            <p:cNvPr id="903" name="Google Shape;903;p36"/>
            <p:cNvSpPr/>
            <p:nvPr/>
          </p:nvSpPr>
          <p:spPr>
            <a:xfrm>
              <a:off x="8273782" y="2168271"/>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904" name="Google Shape;904;p36"/>
            <p:cNvSpPr/>
            <p:nvPr/>
          </p:nvSpPr>
          <p:spPr>
            <a:xfrm>
              <a:off x="9822234" y="2179494"/>
              <a:ext cx="1122088" cy="461183"/>
            </a:xfrm>
            <a:prstGeom prst="roundRect">
              <a:avLst>
                <a:gd fmla="val 50000" name="adj"/>
              </a:avLst>
            </a:prstGeom>
            <a:solidFill>
              <a:srgbClr val="D8F2CF"/>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3</a:t>
              </a:r>
              <a:endParaRPr b="1" sz="1800">
                <a:solidFill>
                  <a:schemeClr val="dk1"/>
                </a:solidFill>
                <a:latin typeface="Arial"/>
                <a:ea typeface="Arial"/>
                <a:cs typeface="Arial"/>
                <a:sym typeface="Arial"/>
              </a:endParaRPr>
            </a:p>
          </p:txBody>
        </p:sp>
      </p:grpSp>
      <p:sp>
        <p:nvSpPr>
          <p:cNvPr id="905" name="Google Shape;905;p36"/>
          <p:cNvSpPr/>
          <p:nvPr/>
        </p:nvSpPr>
        <p:spPr>
          <a:xfrm rot="1077042">
            <a:off x="10973074" y="2326534"/>
            <a:ext cx="888045" cy="655608"/>
          </a:xfrm>
          <a:prstGeom prst="leftArrow">
            <a:avLst>
              <a:gd fmla="val 50000" name="adj1"/>
              <a:gd fmla="val 50000" name="adj2"/>
            </a:avLst>
          </a:prstGeom>
          <a:solidFill>
            <a:srgbClr val="FFFF00"/>
          </a:solidFill>
          <a:ln cap="flat" cmpd="sng" w="47625">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screenshot of a video game&#10;&#10;Description automatically generated" id="906" name="Google Shape;906;p36"/>
          <p:cNvPicPr preferRelativeResize="0"/>
          <p:nvPr/>
        </p:nvPicPr>
        <p:blipFill rotWithShape="1">
          <a:blip r:embed="rId9">
            <a:alphaModFix/>
          </a:blip>
          <a:srcRect b="0" l="0" r="0" t="0"/>
          <a:stretch/>
        </p:blipFill>
        <p:spPr>
          <a:xfrm>
            <a:off x="341851" y="1039309"/>
            <a:ext cx="8659200" cy="4870800"/>
          </a:xfrm>
          <a:prstGeom prst="rect">
            <a:avLst/>
          </a:prstGeom>
          <a:noFill/>
          <a:ln>
            <a:noFill/>
          </a:ln>
        </p:spPr>
      </p:pic>
      <p:sp>
        <p:nvSpPr>
          <p:cNvPr id="907" name="Google Shape;907;p36"/>
          <p:cNvSpPr txBox="1"/>
          <p:nvPr/>
        </p:nvSpPr>
        <p:spPr>
          <a:xfrm>
            <a:off x="6661560" y="3395406"/>
            <a:ext cx="459386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3 is the right answer! </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Let’s discover them together…</a:t>
            </a:r>
            <a:endParaRPr sz="20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pic>
        <p:nvPicPr>
          <p:cNvPr descr="A large building with a tower and a body of water&#10;&#10;Description automatically generated" id="913" name="Google Shape;913;p37"/>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914" name="Google Shape;914;p37"/>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915" name="Google Shape;915;p37"/>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916" name="Google Shape;916;p37"/>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917" name="Google Shape;917;p37"/>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918" name="Google Shape;918;p37"/>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919" name="Google Shape;919;p37"/>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920" name="Google Shape;920;p37"/>
          <p:cNvSpPr txBox="1"/>
          <p:nvPr/>
        </p:nvSpPr>
        <p:spPr>
          <a:xfrm>
            <a:off x="237699" y="984608"/>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921" name="Google Shape;921;p37"/>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DSC_0021.jpg" id="922" name="Google Shape;922;p37"/>
          <p:cNvPicPr preferRelativeResize="0"/>
          <p:nvPr/>
        </p:nvPicPr>
        <p:blipFill rotWithShape="1">
          <a:blip r:embed="rId5">
            <a:alphaModFix/>
          </a:blip>
          <a:srcRect b="0" l="0" r="43177" t="0"/>
          <a:stretch/>
        </p:blipFill>
        <p:spPr>
          <a:xfrm>
            <a:off x="323517" y="1046536"/>
            <a:ext cx="5590830" cy="4870279"/>
          </a:xfrm>
          <a:prstGeom prst="rect">
            <a:avLst/>
          </a:prstGeom>
          <a:noFill/>
          <a:ln>
            <a:noFill/>
          </a:ln>
        </p:spPr>
      </p:pic>
      <p:sp>
        <p:nvSpPr>
          <p:cNvPr id="923" name="Google Shape;923;p37"/>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pic>
        <p:nvPicPr>
          <p:cNvPr descr="A black background with green text&#10;&#10;Description automatically generated" id="924" name="Google Shape;924;p37"/>
          <p:cNvPicPr preferRelativeResize="0"/>
          <p:nvPr/>
        </p:nvPicPr>
        <p:blipFill rotWithShape="1">
          <a:blip r:embed="rId6">
            <a:alphaModFix/>
          </a:blip>
          <a:srcRect b="0" l="0" r="0" t="0"/>
          <a:stretch/>
        </p:blipFill>
        <p:spPr>
          <a:xfrm>
            <a:off x="338882" y="1035087"/>
            <a:ext cx="8659200" cy="4870800"/>
          </a:xfrm>
          <a:prstGeom prst="rect">
            <a:avLst/>
          </a:prstGeom>
          <a:noFill/>
          <a:ln>
            <a:noFill/>
          </a:ln>
        </p:spPr>
      </p:pic>
      <p:sp>
        <p:nvSpPr>
          <p:cNvPr id="925" name="Google Shape;925;p37"/>
          <p:cNvSpPr txBox="1"/>
          <p:nvPr/>
        </p:nvSpPr>
        <p:spPr>
          <a:xfrm>
            <a:off x="6610121" y="1179922"/>
            <a:ext cx="4593866" cy="3847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400">
                <a:solidFill>
                  <a:srgbClr val="3A7D22"/>
                </a:solidFill>
                <a:latin typeface="Arial"/>
                <a:ea typeface="Arial"/>
                <a:cs typeface="Arial"/>
                <a:sym typeface="Arial"/>
              </a:rPr>
              <a:t>Biodeterioration</a:t>
            </a:r>
            <a:r>
              <a:rPr lang="en-CH" sz="20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In the areas more hit by the rain or where water percolates,  the microorganisms such as fungi and musses find their natural humid environment to proliferate.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The resultant damage is not extremely dangerous for stone preservation but can create unpleasant aesthetic drawbacks.  </a:t>
            </a:r>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pic>
        <p:nvPicPr>
          <p:cNvPr descr="A large building with a tower and a body of water&#10;&#10;Description automatically generated" id="931" name="Google Shape;931;p38"/>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932" name="Google Shape;932;p38"/>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933" name="Google Shape;933;p38"/>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934" name="Google Shape;934;p38"/>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935" name="Google Shape;935;p38"/>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936" name="Google Shape;936;p38"/>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937" name="Google Shape;937;p38"/>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938" name="Google Shape;938;p38"/>
          <p:cNvSpPr txBox="1"/>
          <p:nvPr/>
        </p:nvSpPr>
        <p:spPr>
          <a:xfrm>
            <a:off x="234396" y="1001947"/>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939" name="Google Shape;939;p38"/>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DSC_0021.jpg" id="940" name="Google Shape;940;p38"/>
          <p:cNvPicPr preferRelativeResize="0"/>
          <p:nvPr/>
        </p:nvPicPr>
        <p:blipFill rotWithShape="1">
          <a:blip r:embed="rId5">
            <a:alphaModFix/>
          </a:blip>
          <a:srcRect b="0" l="0" r="43177" t="0"/>
          <a:stretch/>
        </p:blipFill>
        <p:spPr>
          <a:xfrm>
            <a:off x="323517" y="1046536"/>
            <a:ext cx="5590830" cy="4870279"/>
          </a:xfrm>
          <a:prstGeom prst="rect">
            <a:avLst/>
          </a:prstGeom>
          <a:noFill/>
          <a:ln>
            <a:noFill/>
          </a:ln>
        </p:spPr>
      </p:pic>
      <p:sp>
        <p:nvSpPr>
          <p:cNvPr id="941" name="Google Shape;941;p38"/>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pic>
        <p:nvPicPr>
          <p:cNvPr id="942" name="Google Shape;942;p38"/>
          <p:cNvPicPr preferRelativeResize="0"/>
          <p:nvPr/>
        </p:nvPicPr>
        <p:blipFill rotWithShape="1">
          <a:blip r:embed="rId6">
            <a:alphaModFix/>
          </a:blip>
          <a:srcRect b="0" l="0" r="0" t="0"/>
          <a:stretch/>
        </p:blipFill>
        <p:spPr>
          <a:xfrm>
            <a:off x="338882" y="1035087"/>
            <a:ext cx="8659200" cy="4870800"/>
          </a:xfrm>
          <a:prstGeom prst="rect">
            <a:avLst/>
          </a:prstGeom>
          <a:noFill/>
          <a:ln>
            <a:noFill/>
          </a:ln>
        </p:spPr>
      </p:pic>
      <p:sp>
        <p:nvSpPr>
          <p:cNvPr id="943" name="Google Shape;943;p38"/>
          <p:cNvSpPr txBox="1"/>
          <p:nvPr/>
        </p:nvSpPr>
        <p:spPr>
          <a:xfrm>
            <a:off x="6610121" y="1179922"/>
            <a:ext cx="4593866" cy="38472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400">
                <a:solidFill>
                  <a:srgbClr val="990033"/>
                </a:solidFill>
                <a:latin typeface="Arial"/>
                <a:ea typeface="Arial"/>
                <a:cs typeface="Arial"/>
                <a:sym typeface="Arial"/>
              </a:rPr>
              <a:t>Black crusts</a:t>
            </a:r>
            <a:r>
              <a:rPr lang="en-CH" sz="2000">
                <a:solidFill>
                  <a:srgbClr val="990033"/>
                </a:solidFill>
                <a:latin typeface="Arial"/>
                <a:ea typeface="Arial"/>
                <a:cs typeface="Arial"/>
                <a:sym typeface="Arial"/>
              </a:rPr>
              <a:t>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Black crusts are classified as kind of crust developing generally on areas protected against direct rainfall or water runoff in urban environment. </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Black crusts usually adhere firmly to the substrate. They are composed mainly of particles from the atmosphere, trapped into a gypsum (CaSO4.2H2O) matrix.</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pic>
        <p:nvPicPr>
          <p:cNvPr descr="A large building with a tower and a body of water&#10;&#10;Description automatically generated" id="949" name="Google Shape;949;p39"/>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950" name="Google Shape;950;p39"/>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951" name="Google Shape;951;p39"/>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952" name="Google Shape;952;p39"/>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953" name="Google Shape;953;p39"/>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954" name="Google Shape;954;p39"/>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955" name="Google Shape;955;p39"/>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956" name="Google Shape;956;p39"/>
          <p:cNvSpPr txBox="1"/>
          <p:nvPr/>
        </p:nvSpPr>
        <p:spPr>
          <a:xfrm>
            <a:off x="249717" y="977497"/>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957" name="Google Shape;957;p39"/>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DSC_0021.jpg" id="958" name="Google Shape;958;p39"/>
          <p:cNvPicPr preferRelativeResize="0"/>
          <p:nvPr/>
        </p:nvPicPr>
        <p:blipFill rotWithShape="1">
          <a:blip r:embed="rId5">
            <a:alphaModFix/>
          </a:blip>
          <a:srcRect b="0" l="0" r="43177" t="0"/>
          <a:stretch/>
        </p:blipFill>
        <p:spPr>
          <a:xfrm>
            <a:off x="323517" y="1046536"/>
            <a:ext cx="5590830" cy="4870279"/>
          </a:xfrm>
          <a:prstGeom prst="rect">
            <a:avLst/>
          </a:prstGeom>
          <a:noFill/>
          <a:ln>
            <a:noFill/>
          </a:ln>
        </p:spPr>
      </p:pic>
      <p:sp>
        <p:nvSpPr>
          <p:cNvPr id="959" name="Google Shape;959;p39"/>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pic>
        <p:nvPicPr>
          <p:cNvPr id="960" name="Google Shape;960;p39"/>
          <p:cNvPicPr preferRelativeResize="0"/>
          <p:nvPr/>
        </p:nvPicPr>
        <p:blipFill rotWithShape="1">
          <a:blip r:embed="rId6">
            <a:alphaModFix/>
          </a:blip>
          <a:srcRect b="0" l="0" r="0" t="0"/>
          <a:stretch/>
        </p:blipFill>
        <p:spPr>
          <a:xfrm>
            <a:off x="338882" y="1035087"/>
            <a:ext cx="8659200" cy="4870800"/>
          </a:xfrm>
          <a:prstGeom prst="rect">
            <a:avLst/>
          </a:prstGeom>
          <a:noFill/>
          <a:ln>
            <a:noFill/>
          </a:ln>
        </p:spPr>
      </p:pic>
      <p:sp>
        <p:nvSpPr>
          <p:cNvPr id="961" name="Google Shape;961;p39"/>
          <p:cNvSpPr txBox="1"/>
          <p:nvPr/>
        </p:nvSpPr>
        <p:spPr>
          <a:xfrm>
            <a:off x="6610121" y="1179922"/>
            <a:ext cx="4593866" cy="4462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400">
                <a:solidFill>
                  <a:srgbClr val="3333CC"/>
                </a:solidFill>
                <a:latin typeface="Arial"/>
                <a:ea typeface="Arial"/>
                <a:cs typeface="Arial"/>
                <a:sym typeface="Arial"/>
              </a:rPr>
              <a:t>Scaling</a:t>
            </a:r>
            <a:r>
              <a:rPr b="1" lang="en-CH" sz="2400">
                <a:solidFill>
                  <a:srgbClr val="990033"/>
                </a:solidFill>
                <a:latin typeface="Arial"/>
                <a:ea typeface="Arial"/>
                <a:cs typeface="Arial"/>
                <a:sym typeface="Arial"/>
              </a:rPr>
              <a:t> </a:t>
            </a:r>
            <a:endParaRPr sz="2000">
              <a:solidFill>
                <a:srgbClr val="990033"/>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Detachment of stone as a scale or a stack of scales, not following any stone structure and detaching like fish scales or parallel to the stone surface. The thickness of a scale is generally of millimetric to centimetric scale.</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CH" sz="2000">
                <a:solidFill>
                  <a:schemeClr val="dk1"/>
                </a:solidFill>
                <a:latin typeface="Arial"/>
                <a:ea typeface="Arial"/>
                <a:cs typeface="Arial"/>
                <a:sym typeface="Arial"/>
              </a:rPr>
              <a:t>It can be observed in areas exposed both to rain and sun.</a:t>
            </a:r>
            <a:endParaRPr/>
          </a:p>
          <a:p>
            <a:pPr indent="0" lvl="0" marL="0" marR="0" rtl="0" algn="l">
              <a:spcBef>
                <a:spcPts val="0"/>
              </a:spcBef>
              <a:spcAft>
                <a:spcPts val="0"/>
              </a:spcAft>
              <a:buNone/>
            </a:pPr>
            <a:r>
              <a:rPr lang="en-CH" sz="2000">
                <a:solidFill>
                  <a:schemeClr val="dk1"/>
                </a:solidFill>
                <a:latin typeface="Arial"/>
                <a:ea typeface="Arial"/>
                <a:cs typeface="Arial"/>
                <a:sym typeface="Arial"/>
              </a:rPr>
              <a:t>It represents the most challenging degradation pattern to evaluate, understand and restore.</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descr="A large building with a tower and a body of water&#10;&#10;Description automatically generated" id="967" name="Google Shape;967;p40"/>
          <p:cNvPicPr preferRelativeResize="0"/>
          <p:nvPr/>
        </p:nvPicPr>
        <p:blipFill rotWithShape="1">
          <a:blip r:embed="rId3">
            <a:alphaModFix amt="50000"/>
          </a:blip>
          <a:srcRect b="0" l="0" r="0" t="0"/>
          <a:stretch/>
        </p:blipFill>
        <p:spPr>
          <a:xfrm>
            <a:off x="11268" y="0"/>
            <a:ext cx="12180732" cy="6864350"/>
          </a:xfrm>
          <a:prstGeom prst="rect">
            <a:avLst/>
          </a:prstGeom>
          <a:noFill/>
          <a:ln>
            <a:noFill/>
          </a:ln>
        </p:spPr>
      </p:pic>
      <p:sp>
        <p:nvSpPr>
          <p:cNvPr id="968" name="Google Shape;968;p40"/>
          <p:cNvSpPr txBox="1"/>
          <p:nvPr/>
        </p:nvSpPr>
        <p:spPr>
          <a:xfrm>
            <a:off x="249717" y="443110"/>
            <a:ext cx="891705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The Immersive Cathedral</a:t>
            </a:r>
            <a:endParaRPr/>
          </a:p>
          <a:p>
            <a:pPr indent="0" lvl="0" marL="0" marR="0" rtl="0" algn="l">
              <a:spcBef>
                <a:spcPts val="0"/>
              </a:spcBef>
              <a:spcAft>
                <a:spcPts val="0"/>
              </a:spcAft>
              <a:buNone/>
            </a:pPr>
            <a:r>
              <a:rPr lang="en-CH" sz="3200">
                <a:solidFill>
                  <a:schemeClr val="dk1"/>
                </a:solidFill>
                <a:latin typeface="Arial"/>
                <a:ea typeface="Arial"/>
                <a:cs typeface="Arial"/>
                <a:sym typeface="Arial"/>
              </a:rPr>
              <a:t>         Weathering of Molasse – types of degradation</a:t>
            </a:r>
            <a:endParaRPr sz="3200">
              <a:solidFill>
                <a:schemeClr val="dk1"/>
              </a:solidFill>
              <a:latin typeface="Arial"/>
              <a:ea typeface="Arial"/>
              <a:cs typeface="Arial"/>
              <a:sym typeface="Arial"/>
            </a:endParaRPr>
          </a:p>
        </p:txBody>
      </p:sp>
      <p:sp>
        <p:nvSpPr>
          <p:cNvPr id="969" name="Google Shape;969;p40"/>
          <p:cNvSpPr txBox="1"/>
          <p:nvPr/>
        </p:nvSpPr>
        <p:spPr>
          <a:xfrm>
            <a:off x="199599" y="6391905"/>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970" name="Google Shape;970;p40"/>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971" name="Google Shape;971;p40"/>
          <p:cNvSpPr txBox="1"/>
          <p:nvPr/>
        </p:nvSpPr>
        <p:spPr>
          <a:xfrm>
            <a:off x="744123" y="3010697"/>
            <a:ext cx="5590830" cy="2800767"/>
          </a:xfrm>
          <a:prstGeom prst="rect">
            <a:avLst/>
          </a:prstGeom>
          <a:solidFill>
            <a:schemeClr val="lt1">
              <a:alpha val="80000"/>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200">
                <a:solidFill>
                  <a:schemeClr val="dk1"/>
                </a:solidFill>
                <a:latin typeface="Arial"/>
                <a:ea typeface="Arial"/>
                <a:cs typeface="Arial"/>
                <a:sym typeface="Arial"/>
              </a:rPr>
              <a:t>The different weathering mechanisms do not always have an univocal correlation with the degradation pattern observed. </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rPr lang="en-CH" sz="2200">
                <a:solidFill>
                  <a:schemeClr val="dk1"/>
                </a:solidFill>
                <a:latin typeface="Arial"/>
                <a:ea typeface="Arial"/>
                <a:cs typeface="Arial"/>
                <a:sym typeface="Arial"/>
              </a:rPr>
              <a:t>These are strongly related to the micro-climate the stone is subjected to and in consequence their position in the building.</a:t>
            </a:r>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pic>
        <p:nvPicPr>
          <p:cNvPr descr="Weather icons" id="972" name="Google Shape;972;p40"/>
          <p:cNvPicPr preferRelativeResize="0"/>
          <p:nvPr/>
        </p:nvPicPr>
        <p:blipFill rotWithShape="1">
          <a:blip r:embed="rId4">
            <a:alphaModFix/>
          </a:blip>
          <a:srcRect b="0" l="0" r="0" t="0"/>
          <a:stretch/>
        </p:blipFill>
        <p:spPr>
          <a:xfrm>
            <a:off x="393700" y="989182"/>
            <a:ext cx="516190" cy="465883"/>
          </a:xfrm>
          <a:prstGeom prst="rect">
            <a:avLst/>
          </a:prstGeom>
          <a:noFill/>
          <a:ln>
            <a:noFill/>
          </a:ln>
        </p:spPr>
      </p:pic>
      <p:sp>
        <p:nvSpPr>
          <p:cNvPr id="973" name="Google Shape;973;p40"/>
          <p:cNvSpPr/>
          <p:nvPr/>
        </p:nvSpPr>
        <p:spPr>
          <a:xfrm>
            <a:off x="10677416" y="187012"/>
            <a:ext cx="1325695" cy="549800"/>
          </a:xfrm>
          <a:prstGeom prst="rect">
            <a:avLst/>
          </a:prstGeom>
          <a:solidFill>
            <a:schemeClr val="dk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lt1"/>
                </a:solidFill>
                <a:latin typeface="Arial"/>
                <a:ea typeface="Arial"/>
                <a:cs typeface="Arial"/>
                <a:sym typeface="Arial"/>
              </a:rPr>
              <a:t>English ▼</a:t>
            </a:r>
            <a:endParaRPr/>
          </a:p>
        </p:txBody>
      </p:sp>
      <p:sp>
        <p:nvSpPr>
          <p:cNvPr id="974" name="Google Shape;974;p40"/>
          <p:cNvSpPr txBox="1"/>
          <p:nvPr/>
        </p:nvSpPr>
        <p:spPr>
          <a:xfrm>
            <a:off x="249717" y="970093"/>
            <a:ext cx="11527514" cy="4985980"/>
          </a:xfrm>
          <a:prstGeom prst="rect">
            <a:avLst/>
          </a:prstGeom>
          <a:solidFill>
            <a:schemeClr val="lt1">
              <a:alpha val="89803"/>
            </a:schemeClr>
          </a:solidFill>
          <a:ln cap="flat" cmpd="sng" w="19050">
            <a:solidFill>
              <a:srgbClr val="12501B"/>
            </a:solidFill>
            <a:prstDash val="solid"/>
            <a:miter lim="800000"/>
            <a:headEnd len="sm" w="sm" type="none"/>
            <a:tailEnd len="sm" w="sm" type="none"/>
          </a:ln>
          <a:effectLst>
            <a:outerShdw blurRad="50800" rotWithShape="0" dir="162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250000"/>
              </a:lnSpc>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b="1" sz="28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a:p>
            <a:pPr indent="0" lvl="0" marL="0" marR="0" rtl="0" algn="l">
              <a:spcBef>
                <a:spcPts val="0"/>
              </a:spcBef>
              <a:spcAft>
                <a:spcPts val="0"/>
              </a:spcAft>
              <a:buNone/>
            </a:pPr>
            <a:r>
              <a:t/>
            </a:r>
            <a:endParaRPr sz="2200">
              <a:solidFill>
                <a:schemeClr val="dk1"/>
              </a:solidFill>
              <a:latin typeface="Arial"/>
              <a:ea typeface="Arial"/>
              <a:cs typeface="Arial"/>
              <a:sym typeface="Arial"/>
            </a:endParaRPr>
          </a:p>
        </p:txBody>
      </p:sp>
      <p:sp>
        <p:nvSpPr>
          <p:cNvPr id="975" name="Google Shape;975;p40"/>
          <p:cNvSpPr/>
          <p:nvPr/>
        </p:nvSpPr>
        <p:spPr>
          <a:xfrm>
            <a:off x="11356293" y="1076748"/>
            <a:ext cx="297143" cy="272499"/>
          </a:xfrm>
          <a:prstGeom prst="flowChartSummingJunction">
            <a:avLst/>
          </a:prstGeom>
          <a:noFill/>
          <a:ln cap="flat" cmpd="sng" w="95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DSC_0021.jpg" id="976" name="Google Shape;976;p40"/>
          <p:cNvPicPr preferRelativeResize="0"/>
          <p:nvPr/>
        </p:nvPicPr>
        <p:blipFill rotWithShape="1">
          <a:blip r:embed="rId5">
            <a:alphaModFix/>
          </a:blip>
          <a:srcRect b="0" l="0" r="43177" t="0"/>
          <a:stretch/>
        </p:blipFill>
        <p:spPr>
          <a:xfrm>
            <a:off x="323517" y="1046536"/>
            <a:ext cx="5590830" cy="4870279"/>
          </a:xfrm>
          <a:prstGeom prst="rect">
            <a:avLst/>
          </a:prstGeom>
          <a:noFill/>
          <a:ln>
            <a:noFill/>
          </a:ln>
        </p:spPr>
      </p:pic>
      <p:sp>
        <p:nvSpPr>
          <p:cNvPr id="977" name="Google Shape;977;p40"/>
          <p:cNvSpPr txBox="1"/>
          <p:nvPr/>
        </p:nvSpPr>
        <p:spPr>
          <a:xfrm>
            <a:off x="11277641" y="5444479"/>
            <a:ext cx="609783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800">
                <a:solidFill>
                  <a:schemeClr val="dk1"/>
                </a:solidFill>
                <a:latin typeface="Times New Roman"/>
                <a:ea typeface="Times New Roman"/>
                <a:cs typeface="Times New Roman"/>
                <a:sym typeface="Times New Roman"/>
              </a:rPr>
              <a:t>&gt;</a:t>
            </a:r>
            <a:endParaRPr/>
          </a:p>
        </p:txBody>
      </p:sp>
      <p:sp>
        <p:nvSpPr>
          <p:cNvPr id="978" name="Google Shape;978;p40"/>
          <p:cNvSpPr txBox="1"/>
          <p:nvPr/>
        </p:nvSpPr>
        <p:spPr>
          <a:xfrm>
            <a:off x="6610121" y="1179922"/>
            <a:ext cx="4593866"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2400">
                <a:solidFill>
                  <a:schemeClr val="dk1"/>
                </a:solidFill>
                <a:latin typeface="Arial"/>
                <a:ea typeface="Arial"/>
                <a:cs typeface="Arial"/>
                <a:sym typeface="Arial"/>
              </a:rPr>
              <a:t>You are now ready for the interactive tour.</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rPr b="1" lang="en-CH" sz="2400">
                <a:solidFill>
                  <a:schemeClr val="dk1"/>
                </a:solidFill>
                <a:latin typeface="Arial"/>
                <a:ea typeface="Arial"/>
                <a:cs typeface="Arial"/>
                <a:sym typeface="Arial"/>
              </a:rPr>
              <a:t>Go out and test your knowledge</a:t>
            </a:r>
            <a:endParaRPr/>
          </a:p>
          <a:p>
            <a:pPr indent="0" lvl="0" marL="0" marR="0" rtl="0" algn="l">
              <a:spcBef>
                <a:spcPts val="0"/>
              </a:spcBef>
              <a:spcAft>
                <a:spcPts val="0"/>
              </a:spcAft>
              <a:buNone/>
            </a:pPr>
            <a:r>
              <a:t/>
            </a:r>
            <a:endParaRPr b="1" sz="24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979" name="Google Shape;979;p40"/>
          <p:cNvGrpSpPr/>
          <p:nvPr/>
        </p:nvGrpSpPr>
        <p:grpSpPr>
          <a:xfrm>
            <a:off x="6584669" y="3463083"/>
            <a:ext cx="4500237" cy="922367"/>
            <a:chOff x="6493717" y="5148975"/>
            <a:chExt cx="4500237" cy="922367"/>
          </a:xfrm>
        </p:grpSpPr>
        <p:sp>
          <p:nvSpPr>
            <p:cNvPr id="980" name="Google Shape;980;p40"/>
            <p:cNvSpPr/>
            <p:nvPr/>
          </p:nvSpPr>
          <p:spPr>
            <a:xfrm>
              <a:off x="6493717" y="5148975"/>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1" name="Google Shape;981;p40"/>
            <p:cNvSpPr txBox="1"/>
            <p:nvPr/>
          </p:nvSpPr>
          <p:spPr>
            <a:xfrm>
              <a:off x="7597196" y="5418970"/>
              <a:ext cx="246125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Interactive discovery</a:t>
              </a:r>
              <a:endParaRPr/>
            </a:p>
          </p:txBody>
        </p:sp>
      </p:grpSp>
      <p:pic>
        <p:nvPicPr>
          <p:cNvPr descr="Online Virtual Tour Icon - Free Download Science &amp; Technology Icons |  IconScout" id="982" name="Google Shape;982;p40"/>
          <p:cNvPicPr preferRelativeResize="0"/>
          <p:nvPr/>
        </p:nvPicPr>
        <p:blipFill rotWithShape="1">
          <a:blip r:embed="rId6">
            <a:alphaModFix/>
          </a:blip>
          <a:srcRect b="0" l="0" r="0" t="0"/>
          <a:stretch/>
        </p:blipFill>
        <p:spPr>
          <a:xfrm>
            <a:off x="6932366" y="3623161"/>
            <a:ext cx="664265" cy="664265"/>
          </a:xfrm>
          <a:prstGeom prst="rect">
            <a:avLst/>
          </a:prstGeom>
          <a:noFill/>
          <a:ln>
            <a:noFill/>
          </a:ln>
        </p:spPr>
      </p:pic>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pic>
        <p:nvPicPr>
          <p:cNvPr id="988" name="Google Shape;988;p41"/>
          <p:cNvPicPr preferRelativeResize="0"/>
          <p:nvPr/>
        </p:nvPicPr>
        <p:blipFill rotWithShape="1">
          <a:blip r:embed="rId3">
            <a:alphaModFix/>
          </a:blip>
          <a:srcRect b="12290" l="-82" r="82" t="6703"/>
          <a:stretch/>
        </p:blipFill>
        <p:spPr>
          <a:xfrm>
            <a:off x="-10057" y="0"/>
            <a:ext cx="12202057" cy="6858000"/>
          </a:xfrm>
          <a:prstGeom prst="rect">
            <a:avLst/>
          </a:prstGeom>
          <a:noFill/>
          <a:ln>
            <a:noFill/>
          </a:ln>
        </p:spPr>
      </p:pic>
      <p:sp>
        <p:nvSpPr>
          <p:cNvPr id="989" name="Google Shape;989;p41"/>
          <p:cNvSpPr txBox="1"/>
          <p:nvPr/>
        </p:nvSpPr>
        <p:spPr>
          <a:xfrm>
            <a:off x="633112" y="443110"/>
            <a:ext cx="4669124" cy="1077218"/>
          </a:xfrm>
          <a:prstGeom prst="rect">
            <a:avLst/>
          </a:prstGeom>
          <a:solidFill>
            <a:schemeClr val="lt1">
              <a:alpha val="64705"/>
            </a:scheme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CH" sz="3200">
                <a:solidFill>
                  <a:schemeClr val="dk1"/>
                </a:solidFill>
                <a:latin typeface="Arial"/>
                <a:ea typeface="Arial"/>
                <a:cs typeface="Arial"/>
                <a:sym typeface="Arial"/>
              </a:rPr>
              <a:t>Molasse Sandstone</a:t>
            </a:r>
            <a:endParaRPr/>
          </a:p>
          <a:p>
            <a:pPr indent="0" lvl="0" marL="0" marR="0" rtl="0" algn="l">
              <a:spcBef>
                <a:spcPts val="0"/>
              </a:spcBef>
              <a:spcAft>
                <a:spcPts val="0"/>
              </a:spcAft>
              <a:buNone/>
            </a:pPr>
            <a:r>
              <a:rPr b="1" lang="en-CH" sz="3200">
                <a:solidFill>
                  <a:schemeClr val="dk1"/>
                </a:solidFill>
                <a:latin typeface="Arial"/>
                <a:ea typeface="Arial"/>
                <a:cs typeface="Arial"/>
                <a:sym typeface="Arial"/>
              </a:rPr>
              <a:t>	   </a:t>
            </a:r>
            <a:r>
              <a:rPr b="1" lang="en-CH" sz="2400">
                <a:solidFill>
                  <a:schemeClr val="dk1"/>
                </a:solidFill>
                <a:latin typeface="Arial"/>
                <a:ea typeface="Arial"/>
                <a:cs typeface="Arial"/>
                <a:sym typeface="Arial"/>
              </a:rPr>
              <a:t>Interactive Tour</a:t>
            </a:r>
            <a:endParaRPr b="1" sz="3200">
              <a:solidFill>
                <a:schemeClr val="dk1"/>
              </a:solidFill>
              <a:latin typeface="Arial"/>
              <a:ea typeface="Arial"/>
              <a:cs typeface="Arial"/>
              <a:sym typeface="Arial"/>
            </a:endParaRPr>
          </a:p>
        </p:txBody>
      </p:sp>
      <p:sp>
        <p:nvSpPr>
          <p:cNvPr id="990" name="Google Shape;990;p41"/>
          <p:cNvSpPr/>
          <p:nvPr/>
        </p:nvSpPr>
        <p:spPr>
          <a:xfrm>
            <a:off x="10773917" y="130828"/>
            <a:ext cx="1325695" cy="549800"/>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CH" sz="1800">
                <a:solidFill>
                  <a:schemeClr val="dk1"/>
                </a:solidFill>
                <a:latin typeface="Arial"/>
                <a:ea typeface="Arial"/>
                <a:cs typeface="Arial"/>
                <a:sym typeface="Arial"/>
              </a:rPr>
              <a:t>English ▼</a:t>
            </a:r>
            <a:endParaRPr/>
          </a:p>
        </p:txBody>
      </p:sp>
      <p:sp>
        <p:nvSpPr>
          <p:cNvPr id="991" name="Google Shape;991;p41"/>
          <p:cNvSpPr txBox="1"/>
          <p:nvPr/>
        </p:nvSpPr>
        <p:spPr>
          <a:xfrm>
            <a:off x="122527" y="6357252"/>
            <a:ext cx="14205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1800" u="sng">
                <a:solidFill>
                  <a:schemeClr val="lt1"/>
                </a:solidFill>
                <a:latin typeface="Arial"/>
                <a:ea typeface="Arial"/>
                <a:cs typeface="Arial"/>
                <a:sym typeface="Arial"/>
              </a:rPr>
              <a:t>Image credit</a:t>
            </a:r>
            <a:endParaRPr/>
          </a:p>
        </p:txBody>
      </p:sp>
      <p:sp>
        <p:nvSpPr>
          <p:cNvPr id="992" name="Google Shape;992;p41"/>
          <p:cNvSpPr/>
          <p:nvPr/>
        </p:nvSpPr>
        <p:spPr>
          <a:xfrm>
            <a:off x="10773917" y="6161314"/>
            <a:ext cx="1122088" cy="461183"/>
          </a:xfrm>
          <a:prstGeom prst="roundRect">
            <a:avLst>
              <a:gd fmla="val 50000" name="adj"/>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CH" sz="1800">
                <a:solidFill>
                  <a:schemeClr val="dk1"/>
                </a:solidFill>
                <a:latin typeface="Arial"/>
                <a:ea typeface="Arial"/>
                <a:cs typeface="Arial"/>
                <a:sym typeface="Arial"/>
              </a:rPr>
              <a:t>Back</a:t>
            </a:r>
            <a:endParaRPr/>
          </a:p>
        </p:txBody>
      </p:sp>
      <p:sp>
        <p:nvSpPr>
          <p:cNvPr id="993" name="Google Shape;993;p41"/>
          <p:cNvSpPr txBox="1"/>
          <p:nvPr/>
        </p:nvSpPr>
        <p:spPr>
          <a:xfrm>
            <a:off x="633112" y="2214728"/>
            <a:ext cx="5590830" cy="3170099"/>
          </a:xfrm>
          <a:prstGeom prst="rect">
            <a:avLst/>
          </a:prstGeom>
          <a:solidFill>
            <a:schemeClr val="lt1">
              <a:alpha val="80000"/>
            </a:schemeClr>
          </a:solidFill>
          <a:ln>
            <a:noFill/>
          </a:ln>
        </p:spPr>
        <p:txBody>
          <a:bodyPr anchorCtr="0" anchor="t" bIns="45700" lIns="91425" spcFirstLastPara="1" rIns="91425" wrap="square" tIns="45700">
            <a:spAutoFit/>
          </a:bodyPr>
          <a:lstStyle/>
          <a:p>
            <a:pPr indent="14288" lvl="0" marL="0" marR="0" rtl="0" algn="just">
              <a:spcBef>
                <a:spcPts val="0"/>
              </a:spcBef>
              <a:spcAft>
                <a:spcPts val="0"/>
              </a:spcAft>
              <a:buNone/>
            </a:pPr>
            <a:r>
              <a:rPr lang="en-CH" sz="2000">
                <a:solidFill>
                  <a:schemeClr val="dk1"/>
                </a:solidFill>
                <a:latin typeface="Arial"/>
                <a:ea typeface="Arial"/>
                <a:cs typeface="Arial"/>
                <a:sym typeface="Arial"/>
              </a:rPr>
              <a:t>Our App « Molasse @ Lausanne » allows you to:</a:t>
            </a:r>
            <a:endParaRPr/>
          </a:p>
          <a:p>
            <a:pPr indent="-285750" lvl="0" marL="285750" marR="0" rtl="0" algn="just">
              <a:spcBef>
                <a:spcPts val="1200"/>
              </a:spcBef>
              <a:spcAft>
                <a:spcPts val="0"/>
              </a:spcAft>
              <a:buClr>
                <a:schemeClr val="dk1"/>
              </a:buClr>
              <a:buSzPts val="2000"/>
              <a:buFont typeface="Arial"/>
              <a:buChar char="•"/>
            </a:pPr>
            <a:r>
              <a:rPr lang="en-CH" sz="2000">
                <a:solidFill>
                  <a:schemeClr val="dk1"/>
                </a:solidFill>
                <a:latin typeface="Arial"/>
                <a:ea typeface="Arial"/>
                <a:cs typeface="Arial"/>
                <a:sym typeface="Arial"/>
              </a:rPr>
              <a:t>Identify where different stones were used</a:t>
            </a:r>
            <a:endParaRPr/>
          </a:p>
          <a:p>
            <a:pPr indent="-285750" lvl="0" marL="285750" marR="0" rtl="0" algn="just">
              <a:spcBef>
                <a:spcPts val="1200"/>
              </a:spcBef>
              <a:spcAft>
                <a:spcPts val="0"/>
              </a:spcAft>
              <a:buClr>
                <a:schemeClr val="dk1"/>
              </a:buClr>
              <a:buSzPts val="2000"/>
              <a:buFont typeface="Arial"/>
              <a:buChar char="•"/>
            </a:pPr>
            <a:r>
              <a:rPr lang="en-CH" sz="2000">
                <a:solidFill>
                  <a:schemeClr val="dk1"/>
                </a:solidFill>
                <a:latin typeface="Arial"/>
                <a:ea typeface="Arial"/>
                <a:cs typeface="Arial"/>
                <a:sym typeface="Arial"/>
              </a:rPr>
              <a:t>Find out their type and age</a:t>
            </a:r>
            <a:endParaRPr/>
          </a:p>
          <a:p>
            <a:pPr indent="-285750" lvl="0" marL="285750" marR="0" rtl="0" algn="just">
              <a:spcBef>
                <a:spcPts val="1200"/>
              </a:spcBef>
              <a:spcAft>
                <a:spcPts val="0"/>
              </a:spcAft>
              <a:buClr>
                <a:schemeClr val="dk1"/>
              </a:buClr>
              <a:buSzPts val="2000"/>
              <a:buFont typeface="Arial"/>
              <a:buChar char="•"/>
            </a:pPr>
            <a:r>
              <a:rPr lang="en-CH" sz="2000">
                <a:solidFill>
                  <a:schemeClr val="dk1"/>
                </a:solidFill>
                <a:latin typeface="Arial"/>
                <a:ea typeface="Arial"/>
                <a:cs typeface="Arial"/>
                <a:sym typeface="Arial"/>
              </a:rPr>
              <a:t>Test your knowledge with an interactive game</a:t>
            </a:r>
            <a:endParaRPr/>
          </a:p>
          <a:p>
            <a:pPr indent="-158750" lvl="0" marL="285750" marR="0" rtl="0" algn="just">
              <a:spcBef>
                <a:spcPts val="120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just">
              <a:spcBef>
                <a:spcPts val="1200"/>
              </a:spcBef>
              <a:spcAft>
                <a:spcPts val="0"/>
              </a:spcAft>
              <a:buNone/>
            </a:pPr>
            <a:r>
              <a:rPr lang="en-CH" sz="2000">
                <a:solidFill>
                  <a:schemeClr val="dk1"/>
                </a:solidFill>
                <a:latin typeface="Arial"/>
                <a:ea typeface="Arial"/>
                <a:cs typeface="Arial"/>
                <a:sym typeface="Arial"/>
              </a:rPr>
              <a:t>For this, click on « Download the App »</a:t>
            </a:r>
            <a:endParaRPr/>
          </a:p>
          <a:p>
            <a:pPr indent="0" lvl="0" marL="0" marR="0" rtl="0" algn="just">
              <a:spcBef>
                <a:spcPts val="1200"/>
              </a:spcBef>
              <a:spcAft>
                <a:spcPts val="0"/>
              </a:spcAft>
              <a:buNone/>
            </a:pPr>
            <a:r>
              <a:rPr lang="en-CH" sz="2000">
                <a:solidFill>
                  <a:schemeClr val="dk1"/>
                </a:solidFill>
                <a:latin typeface="Arial"/>
                <a:ea typeface="Arial"/>
                <a:cs typeface="Arial"/>
                <a:sym typeface="Arial"/>
              </a:rPr>
              <a:t>To get instructions , Click on « Get instructions »</a:t>
            </a:r>
            <a:endParaRPr/>
          </a:p>
        </p:txBody>
      </p:sp>
      <p:grpSp>
        <p:nvGrpSpPr>
          <p:cNvPr id="994" name="Google Shape;994;p41"/>
          <p:cNvGrpSpPr/>
          <p:nvPr/>
        </p:nvGrpSpPr>
        <p:grpSpPr>
          <a:xfrm>
            <a:off x="7368946" y="2786815"/>
            <a:ext cx="4500237" cy="922367"/>
            <a:chOff x="6450180" y="687439"/>
            <a:chExt cx="4500237" cy="922367"/>
          </a:xfrm>
        </p:grpSpPr>
        <p:sp>
          <p:nvSpPr>
            <p:cNvPr id="995" name="Google Shape;995;p41"/>
            <p:cNvSpPr/>
            <p:nvPr/>
          </p:nvSpPr>
          <p:spPr>
            <a:xfrm>
              <a:off x="6450180" y="687439"/>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6" name="Google Shape;996;p41"/>
            <p:cNvSpPr txBox="1"/>
            <p:nvPr/>
          </p:nvSpPr>
          <p:spPr>
            <a:xfrm>
              <a:off x="7655258" y="957434"/>
              <a:ext cx="221797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Download the App</a:t>
              </a:r>
              <a:endParaRPr/>
            </a:p>
          </p:txBody>
        </p:sp>
      </p:grpSp>
      <p:grpSp>
        <p:nvGrpSpPr>
          <p:cNvPr id="997" name="Google Shape;997;p41"/>
          <p:cNvGrpSpPr/>
          <p:nvPr/>
        </p:nvGrpSpPr>
        <p:grpSpPr>
          <a:xfrm>
            <a:off x="7395768" y="3829445"/>
            <a:ext cx="4500237" cy="922367"/>
            <a:chOff x="6477002" y="1781585"/>
            <a:chExt cx="4500237" cy="922367"/>
          </a:xfrm>
        </p:grpSpPr>
        <p:sp>
          <p:nvSpPr>
            <p:cNvPr id="998" name="Google Shape;998;p41"/>
            <p:cNvSpPr/>
            <p:nvPr/>
          </p:nvSpPr>
          <p:spPr>
            <a:xfrm>
              <a:off x="6477002" y="1781585"/>
              <a:ext cx="4500237" cy="922367"/>
            </a:xfrm>
            <a:prstGeom prst="roundRect">
              <a:avLst>
                <a:gd fmla="val 50000" name="adj"/>
              </a:avLst>
            </a:prstGeom>
            <a:solidFill>
              <a:srgbClr val="D8D8D8">
                <a:alpha val="80000"/>
              </a:srgbClr>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9" name="Google Shape;999;p41"/>
            <p:cNvSpPr txBox="1"/>
            <p:nvPr/>
          </p:nvSpPr>
          <p:spPr>
            <a:xfrm>
              <a:off x="7682080" y="2051580"/>
              <a:ext cx="209345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CH" sz="2000">
                  <a:solidFill>
                    <a:schemeClr val="dk1"/>
                  </a:solidFill>
                  <a:latin typeface="Arial"/>
                  <a:ea typeface="Arial"/>
                  <a:cs typeface="Arial"/>
                  <a:sym typeface="Arial"/>
                </a:rPr>
                <a:t>Get instrucations</a:t>
              </a:r>
              <a:endParaRPr/>
            </a:p>
          </p:txBody>
        </p:sp>
      </p:grpSp>
      <p:pic>
        <p:nvPicPr>
          <p:cNvPr descr="Online Virtual Tour Icon - Free Download Science &amp; Technology Icons |  IconScout" id="1000" name="Google Shape;1000;p41"/>
          <p:cNvPicPr preferRelativeResize="0"/>
          <p:nvPr/>
        </p:nvPicPr>
        <p:blipFill rotWithShape="1">
          <a:blip r:embed="rId4">
            <a:alphaModFix/>
          </a:blip>
          <a:srcRect b="0" l="0" r="0" t="0"/>
          <a:stretch/>
        </p:blipFill>
        <p:spPr>
          <a:xfrm>
            <a:off x="721404" y="961727"/>
            <a:ext cx="495538" cy="495538"/>
          </a:xfrm>
          <a:prstGeom prst="rect">
            <a:avLst/>
          </a:prstGeom>
          <a:noFill/>
          <a:ln>
            <a:noFill/>
          </a:ln>
        </p:spPr>
      </p:pic>
      <p:pic>
        <p:nvPicPr>
          <p:cNvPr descr="Download Round icon PNG and SVG Vector Free Download" id="1001" name="Google Shape;1001;p41"/>
          <p:cNvPicPr preferRelativeResize="0"/>
          <p:nvPr/>
        </p:nvPicPr>
        <p:blipFill rotWithShape="1">
          <a:blip r:embed="rId5">
            <a:alphaModFix/>
          </a:blip>
          <a:srcRect b="0" l="0" r="0" t="0"/>
          <a:stretch/>
        </p:blipFill>
        <p:spPr>
          <a:xfrm>
            <a:off x="7783171" y="3014278"/>
            <a:ext cx="513323" cy="513323"/>
          </a:xfrm>
          <a:prstGeom prst="rect">
            <a:avLst/>
          </a:prstGeom>
          <a:noFill/>
          <a:ln>
            <a:noFill/>
          </a:ln>
        </p:spPr>
      </p:pic>
      <p:pic>
        <p:nvPicPr>
          <p:cNvPr descr="Instruction icon PNG and SVG Vector Free Download" id="1002" name="Google Shape;1002;p41"/>
          <p:cNvPicPr preferRelativeResize="0"/>
          <p:nvPr/>
        </p:nvPicPr>
        <p:blipFill rotWithShape="1">
          <a:blip r:embed="rId6">
            <a:alphaModFix/>
          </a:blip>
          <a:srcRect b="0" l="0" r="0" t="0"/>
          <a:stretch/>
        </p:blipFill>
        <p:spPr>
          <a:xfrm>
            <a:off x="7783171" y="4037442"/>
            <a:ext cx="545546" cy="5241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2024-08-23T16:27:38Z</dcterms:created>
  <dc:creator>Flatt  Robert J.</dc:creator>
</cp:coreProperties>
</file>